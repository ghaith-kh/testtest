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d'ouverture. Poser le sujet en 15 secondes : je vous présente une méthode de montée en compétence que j'ai mise au point en utilisant l'IA générative comme levier d'assimilation, appliquée à notre stack hybride Java / mainframe. L'objectif de cette présentation est double : partager le retour d'expérience et proposer un passage à l'échelle possible pour l'équipe.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Poser le décor sans dramatiser. Trois faits factuels à gauche : notre environnement est hybride, la doc IBM est dense, les formations coûtent cher. À droite : la question structurante. On ne remplace pas la formation, on l'augmente. Insister sur le mot « rigueur bancaire » : c'est le signal que la méthode est compatible avec nos exigences.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slide-clé de la présentation. Passer 90 secondes dessus. Insister sur trois points : (1) la source reste maîtresse, l'IA ne remplace pas la doc, elle la digère ; (2) le prompt structuré est le vrai savoir-faire — c'est là que se joue la qualité du résultat ; (3) le livrable est un artefact durable, pas une conversation jetable. C'est cette dernière partie qui change tout : on capitalise au lieu de reformer à chaque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quatre principes sont ce qui distingue notre méthode d'un simple « je demande à ChatGPT ». Le principe 3, anti-hallucination, est crucial en banque : on préfère un trou explicite dans la fiche à une invention plausible. Le principe 4, capitalisation, est celui qui parle au management : ce n'est pas de la productivité individuelle, c'est un actif d'équipe.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plus technique. Public tech : ils vont apprécier de voir un vrai prompt. Public management : ils retiennent qu'il y a une méthode, un savoir-faire, ce n'est pas du bricolage. Message clé : le prompt engineering est une compétence en soi, un actif transférable. On peut construire une bibliothèque de prompts par domaine (CICS, Kafka, Spring, VOP…) réutilisables par toute l'équipe.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slide impact. Chiffres à préciser selon ton propre retour d'expérience réel : ne pas gonfler. Si tu n'as pas encore les mesures exactes, dis-le honnêtement : « ordres de grandeur observés sur mes premières fiches ». La crédibilité vaut mieux que le wow-factor. Un manager expérimenté sentira tout de suite un chiffre gonflé.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Ancrer dans le concret : c'est mon propre parcours en cours, pas un cas théorique. Nommer les Redbooks précis rassure sur le sérieux de la démarche. Insister sur le fait que toutes les sources sont publiques et gratuites — l'IA fait le tri et la digestion, pas de contenu IBM piraté ou de formation contournée.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indispensable en banque. Le manager et surtout le comité élargi vont attendre ce point. Message : nous avons anticipé les risques, nous ne sommes pas naïfs. Le dernier point de la colonne conformité — validation avec la politique IA groupe — est un appel à collaboration, pas une case cochée. Cela montre qu'on veut faire les choses proprement, pas contourner. Si LCL a déjà une politique IA formalisée, la citer 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qui parle directement au management : ROI collectif, pas individuel. Trois piliers à mentionner brièvement. Insister sur l'onboarding : c'est un pain point classique des DSI bancaires, un nouvel arrivant met souvent 3 à 6 mois avant d'être productif sur une stack mainframe/Java. Réduire cela de moitié, c'est un chiffre qui parle. Ne pas s'engager sur des pourcentages précis sans expérimentation.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clôture. Ne pas relire — laisser la salle lire. Trois secondes de silence, puis : « Je suis preneur de vos retours et de vos questions ». Éviter de finir sur « Merci » seul, c'est faible. Le dernier mot doit être une invitation à l'échange. Si le comité pose la question du ROI chiffré, renvoyer honnêtement au retour d'expérience à 6 mois — c'est cohérent avec la roadmap présentée.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876"/>
        </a:solidFill>
      </p:bgPr>
    </p:bg>
    <p:spTree>
      <p:nvGrpSpPr>
        <p:cNvPr id="1" name=""/>
        <p:cNvGrpSpPr/>
        <p:nvPr/>
      </p:nvGrpSpPr>
      <p:grpSpPr>
        <a:xfrm>
          <a:off x="0" y="0"/>
          <a:ext cx="0" cy="0"/>
          <a:chOff x="0" y="0"/>
          <a:chExt cx="0" cy="0"/>
        </a:xfrm>
      </p:grpSpPr>
      <p:sp>
        <p:nvSpPr>
          <p:cNvPr id="2" name="Shape 0"/>
          <p:cNvSpPr/>
          <p:nvPr/>
        </p:nvSpPr>
        <p:spPr>
          <a:xfrm>
            <a:off x="457200" y="2194560"/>
            <a:ext cx="548640" cy="73152"/>
          </a:xfrm>
          <a:prstGeom prst="rect">
            <a:avLst/>
          </a:prstGeom>
          <a:solidFill>
            <a:srgbClr val="F5B700"/>
          </a:solidFill>
          <a:ln w="12700">
            <a:solidFill>
              <a:srgbClr val="F5B700"/>
            </a:solidFill>
            <a:prstDash val="solid"/>
          </a:ln>
        </p:spPr>
      </p:sp>
      <p:sp>
        <p:nvSpPr>
          <p:cNvPr id="3" name="Text 1"/>
          <p:cNvSpPr txBox="1"/>
          <p:nvPr/>
        </p:nvSpPr>
        <p:spPr>
          <a:xfrm>
            <a:off x="457200" y="2377440"/>
            <a:ext cx="10972800" cy="7315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Méthode d'apprentissage</a:t>
            </a:r>
            <a:endParaRPr lang="en-US" sz="4400" dirty="0"/>
          </a:p>
        </p:txBody>
      </p:sp>
      <p:sp>
        <p:nvSpPr>
          <p:cNvPr id="4" name="Text 2"/>
          <p:cNvSpPr txBox="1"/>
          <p:nvPr/>
        </p:nvSpPr>
        <p:spPr>
          <a:xfrm>
            <a:off x="457200" y="3154680"/>
            <a:ext cx="10972800" cy="7315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augmentée par IA générative</a:t>
            </a:r>
            <a:endParaRPr lang="en-US" sz="4400" dirty="0"/>
          </a:p>
        </p:txBody>
      </p:sp>
      <p:sp>
        <p:nvSpPr>
          <p:cNvPr id="5" name="Text 3"/>
          <p:cNvSpPr txBox="1"/>
          <p:nvPr/>
        </p:nvSpPr>
        <p:spPr>
          <a:xfrm>
            <a:off x="457200" y="4114800"/>
            <a:ext cx="10972800" cy="45720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Montée en compétence sur stack hybride Java / CICS-COBOL</a:t>
            </a:r>
            <a:endParaRPr lang="en-US" sz="1800" dirty="0"/>
          </a:p>
        </p:txBody>
      </p:sp>
      <p:sp>
        <p:nvSpPr>
          <p:cNvPr id="6" name="Text 4"/>
          <p:cNvSpPr txBox="1"/>
          <p:nvPr/>
        </p:nvSpPr>
        <p:spPr>
          <a:xfrm>
            <a:off x="457200" y="5852160"/>
            <a:ext cx="73152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LCL — Domaine Paiements</a:t>
            </a:r>
            <a:endParaRPr lang="en-US" sz="1200" dirty="0"/>
          </a:p>
        </p:txBody>
      </p:sp>
      <p:sp>
        <p:nvSpPr>
          <p:cNvPr id="7" name="Text 5"/>
          <p:cNvSpPr txBox="1"/>
          <p:nvPr/>
        </p:nvSpPr>
        <p:spPr>
          <a:xfrm>
            <a:off x="457200" y="6172200"/>
            <a:ext cx="7315200" cy="3200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Présentation interne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7160" cy="365760"/>
          </a:xfrm>
          <a:prstGeom prst="rect">
            <a:avLst/>
          </a:prstGeom>
          <a:solidFill>
            <a:srgbClr val="F5B700"/>
          </a:solidFill>
          <a:ln w="12700">
            <a:solidFill>
              <a:srgbClr val="F5B700"/>
            </a:solidFill>
            <a:prstDash val="solid"/>
          </a:ln>
        </p:spPr>
      </p:sp>
      <p:sp>
        <p:nvSpPr>
          <p:cNvPr id="3" name="Text 1"/>
          <p:cNvSpPr txBox="1"/>
          <p:nvPr/>
        </p:nvSpPr>
        <p:spPr>
          <a:xfrm>
            <a:off x="685800" y="457200"/>
            <a:ext cx="5486400" cy="365760"/>
          </a:xfrm>
          <a:prstGeom prst="rect">
            <a:avLst/>
          </a:prstGeom>
          <a:noFill/>
          <a:ln/>
        </p:spPr>
        <p:txBody>
          <a:bodyPr wrap="square" lIns="0" tIns="0" rIns="0" bIns="0" rtlCol="0" anchor="ctr"/>
          <a:lstStyle/>
          <a:p>
            <a:pPr indent="0" marL="0">
              <a:buNone/>
            </a:pPr>
            <a:r>
              <a:rPr lang="en-US" sz="1100" b="1" spc="400" kern="0" dirty="0">
                <a:solidFill>
                  <a:srgbClr val="003876"/>
                </a:solidFill>
                <a:latin typeface="Calibri" pitchFamily="34" charset="0"/>
                <a:ea typeface="Calibri" pitchFamily="34" charset="-122"/>
                <a:cs typeface="Calibri" pitchFamily="34" charset="-120"/>
              </a:rPr>
              <a:t>01  ·  CONTEXTE</a:t>
            </a:r>
            <a:endParaRPr lang="en-US" sz="1100" dirty="0"/>
          </a:p>
        </p:txBody>
      </p:sp>
      <p:sp>
        <p:nvSpPr>
          <p:cNvPr id="4" name="Text 2"/>
          <p:cNvSpPr txBox="1"/>
          <p:nvPr/>
        </p:nvSpPr>
        <p:spPr>
          <a:xfrm>
            <a:off x="457200" y="914400"/>
            <a:ext cx="11247120" cy="731520"/>
          </a:xfrm>
          <a:prstGeom prst="rect">
            <a:avLst/>
          </a:prstGeom>
          <a:noFill/>
          <a:ln/>
        </p:spPr>
        <p:txBody>
          <a:bodyPr wrap="square" lIns="0" tIns="0" rIns="0" bIns="0" rtlCol="0" anchor="ctr"/>
          <a:lstStyle/>
          <a:p>
            <a:pPr indent="0" marL="0">
              <a:buNone/>
            </a:pPr>
            <a:r>
              <a:rPr lang="en-US" sz="3200" b="1" dirty="0">
                <a:solidFill>
                  <a:srgbClr val="003876"/>
                </a:solidFill>
                <a:latin typeface="Cambria" pitchFamily="34" charset="0"/>
                <a:ea typeface="Cambria" pitchFamily="34" charset="-122"/>
                <a:cs typeface="Cambria" pitchFamily="34" charset="-120"/>
              </a:rPr>
              <a:t>Une stack hybride, un volume documentaire massif</a:t>
            </a:r>
            <a:endParaRPr lang="en-US" sz="3200" dirty="0"/>
          </a:p>
        </p:txBody>
      </p:sp>
      <p:sp>
        <p:nvSpPr>
          <p:cNvPr id="5" name="Text 3"/>
          <p:cNvSpPr txBox="1"/>
          <p:nvPr/>
        </p:nvSpPr>
        <p:spPr>
          <a:xfrm>
            <a:off x="457200" y="1828800"/>
            <a:ext cx="5303520" cy="320040"/>
          </a:xfrm>
          <a:prstGeom prst="rect">
            <a:avLst/>
          </a:prstGeom>
          <a:noFill/>
          <a:ln/>
        </p:spPr>
        <p:txBody>
          <a:bodyPr wrap="square" lIns="0" tIns="0" rIns="0" bIns="0" rtlCol="0" anchor="ctr"/>
          <a:lstStyle/>
          <a:p>
            <a:pPr indent="0" marL="0">
              <a:buNone/>
            </a:pPr>
            <a:r>
              <a:rPr lang="en-US" sz="1200" b="1" spc="300" kern="0" dirty="0">
                <a:solidFill>
                  <a:srgbClr val="F5B700"/>
                </a:solidFill>
                <a:latin typeface="Calibri" pitchFamily="34" charset="0"/>
                <a:ea typeface="Calibri" pitchFamily="34" charset="-122"/>
                <a:cs typeface="Calibri" pitchFamily="34" charset="-120"/>
              </a:rPr>
              <a:t>LE CONSTAT</a:t>
            </a:r>
            <a:endParaRPr lang="en-US" sz="1200" dirty="0"/>
          </a:p>
        </p:txBody>
      </p:sp>
      <p:sp>
        <p:nvSpPr>
          <p:cNvPr id="6" name="Shape 4"/>
          <p:cNvSpPr/>
          <p:nvPr/>
        </p:nvSpPr>
        <p:spPr>
          <a:xfrm>
            <a:off x="457200" y="2331720"/>
            <a:ext cx="73152" cy="228600"/>
          </a:xfrm>
          <a:prstGeom prst="rect">
            <a:avLst/>
          </a:prstGeom>
          <a:solidFill>
            <a:srgbClr val="003876"/>
          </a:solidFill>
          <a:ln w="12700">
            <a:solidFill>
              <a:srgbClr val="003876"/>
            </a:solidFill>
            <a:prstDash val="solid"/>
          </a:ln>
        </p:spPr>
      </p:sp>
      <p:sp>
        <p:nvSpPr>
          <p:cNvPr id="7" name="Text 5"/>
          <p:cNvSpPr txBox="1"/>
          <p:nvPr/>
        </p:nvSpPr>
        <p:spPr>
          <a:xfrm>
            <a:off x="640080" y="2286000"/>
            <a:ext cx="5120640" cy="274320"/>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Stack hybride en modernisation</a:t>
            </a:r>
            <a:endParaRPr lang="en-US" sz="1400" dirty="0"/>
          </a:p>
        </p:txBody>
      </p:sp>
      <p:sp>
        <p:nvSpPr>
          <p:cNvPr id="8" name="Text 6"/>
          <p:cNvSpPr txBox="1"/>
          <p:nvPr/>
        </p:nvSpPr>
        <p:spPr>
          <a:xfrm>
            <a:off x="640080" y="2578608"/>
            <a:ext cx="5120640" cy="82296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Java Spring Boot moderne côté nouveaux services, CICS/COBOL sur le cœur de paiement. Intégration croissante via CTG.</a:t>
            </a:r>
            <a:endParaRPr lang="en-US" sz="1200" dirty="0"/>
          </a:p>
        </p:txBody>
      </p:sp>
      <p:sp>
        <p:nvSpPr>
          <p:cNvPr id="9" name="Shape 7"/>
          <p:cNvSpPr/>
          <p:nvPr/>
        </p:nvSpPr>
        <p:spPr>
          <a:xfrm>
            <a:off x="457200" y="3566160"/>
            <a:ext cx="73152" cy="228600"/>
          </a:xfrm>
          <a:prstGeom prst="rect">
            <a:avLst/>
          </a:prstGeom>
          <a:solidFill>
            <a:srgbClr val="003876"/>
          </a:solidFill>
          <a:ln w="12700">
            <a:solidFill>
              <a:srgbClr val="003876"/>
            </a:solidFill>
            <a:prstDash val="solid"/>
          </a:ln>
        </p:spPr>
      </p:sp>
      <p:sp>
        <p:nvSpPr>
          <p:cNvPr id="10" name="Text 8"/>
          <p:cNvSpPr txBox="1"/>
          <p:nvPr/>
        </p:nvSpPr>
        <p:spPr>
          <a:xfrm>
            <a:off x="640080" y="3520440"/>
            <a:ext cx="5120640" cy="274320"/>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Volume documentaire IBM énorme</a:t>
            </a:r>
            <a:endParaRPr lang="en-US" sz="1400" dirty="0"/>
          </a:p>
        </p:txBody>
      </p:sp>
      <p:sp>
        <p:nvSpPr>
          <p:cNvPr id="11" name="Text 9"/>
          <p:cNvSpPr txBox="1"/>
          <p:nvPr/>
        </p:nvSpPr>
        <p:spPr>
          <a:xfrm>
            <a:off x="640080" y="3813048"/>
            <a:ext cx="5120640" cy="82296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Redbooks de 200 à 500 pages, formations IBM Training, documentation officielle CICS TS et z/OS.</a:t>
            </a:r>
            <a:endParaRPr lang="en-US" sz="1200" dirty="0"/>
          </a:p>
        </p:txBody>
      </p:sp>
      <p:sp>
        <p:nvSpPr>
          <p:cNvPr id="12" name="Shape 10"/>
          <p:cNvSpPr/>
          <p:nvPr/>
        </p:nvSpPr>
        <p:spPr>
          <a:xfrm>
            <a:off x="457200" y="4800600"/>
            <a:ext cx="73152" cy="228600"/>
          </a:xfrm>
          <a:prstGeom prst="rect">
            <a:avLst/>
          </a:prstGeom>
          <a:solidFill>
            <a:srgbClr val="003876"/>
          </a:solidFill>
          <a:ln w="12700">
            <a:solidFill>
              <a:srgbClr val="003876"/>
            </a:solidFill>
            <a:prstDash val="solid"/>
          </a:ln>
        </p:spPr>
      </p:sp>
      <p:sp>
        <p:nvSpPr>
          <p:cNvPr id="13" name="Text 11"/>
          <p:cNvSpPr txBox="1"/>
          <p:nvPr/>
        </p:nvSpPr>
        <p:spPr>
          <a:xfrm>
            <a:off x="640080" y="4754880"/>
            <a:ext cx="5120640" cy="274320"/>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Temps de formation coûteux</a:t>
            </a:r>
            <a:endParaRPr lang="en-US" sz="1400" dirty="0"/>
          </a:p>
        </p:txBody>
      </p:sp>
      <p:sp>
        <p:nvSpPr>
          <p:cNvPr id="14" name="Text 12"/>
          <p:cNvSpPr txBox="1"/>
          <p:nvPr/>
        </p:nvSpPr>
        <p:spPr>
          <a:xfrm>
            <a:off x="640080" y="5047488"/>
            <a:ext cx="5120640" cy="82296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Lecture linéaire, faible rétention, formations payantes à plusieurs milliers d'euros.</a:t>
            </a:r>
            <a:endParaRPr lang="en-US" sz="1200" dirty="0"/>
          </a:p>
        </p:txBody>
      </p:sp>
      <p:sp>
        <p:nvSpPr>
          <p:cNvPr id="15" name="Shape 13"/>
          <p:cNvSpPr/>
          <p:nvPr/>
        </p:nvSpPr>
        <p:spPr>
          <a:xfrm>
            <a:off x="6400800" y="1828800"/>
            <a:ext cx="5303520" cy="4114800"/>
          </a:xfrm>
          <a:prstGeom prst="rect">
            <a:avLst/>
          </a:prstGeom>
          <a:solidFill>
            <a:srgbClr val="003876"/>
          </a:solidFill>
          <a:ln w="12700">
            <a:solidFill>
              <a:srgbClr val="003876"/>
            </a:solidFill>
            <a:prstDash val="solid"/>
          </a:ln>
        </p:spPr>
      </p:sp>
      <p:sp>
        <p:nvSpPr>
          <p:cNvPr id="16" name="Text 14"/>
          <p:cNvSpPr txBox="1"/>
          <p:nvPr/>
        </p:nvSpPr>
        <p:spPr>
          <a:xfrm>
            <a:off x="6675120" y="2103120"/>
            <a:ext cx="4937760" cy="320040"/>
          </a:xfrm>
          <a:prstGeom prst="rect">
            <a:avLst/>
          </a:prstGeom>
          <a:noFill/>
          <a:ln/>
        </p:spPr>
        <p:txBody>
          <a:bodyPr wrap="square" lIns="0" tIns="0" rIns="0" bIns="0" rtlCol="0" anchor="ctr"/>
          <a:lstStyle/>
          <a:p>
            <a:pPr indent="0" marL="0">
              <a:buNone/>
            </a:pPr>
            <a:r>
              <a:rPr lang="en-US" sz="1200" b="1" spc="300" kern="0" dirty="0">
                <a:solidFill>
                  <a:srgbClr val="F5B700"/>
                </a:solidFill>
                <a:latin typeface="Calibri" pitchFamily="34" charset="0"/>
                <a:ea typeface="Calibri" pitchFamily="34" charset="-122"/>
                <a:cs typeface="Calibri" pitchFamily="34" charset="-120"/>
              </a:rPr>
              <a:t>LA QUESTION</a:t>
            </a:r>
            <a:endParaRPr lang="en-US" sz="1200" dirty="0"/>
          </a:p>
        </p:txBody>
      </p:sp>
      <p:sp>
        <p:nvSpPr>
          <p:cNvPr id="17" name="Text 15"/>
          <p:cNvSpPr txBox="1"/>
          <p:nvPr/>
        </p:nvSpPr>
        <p:spPr>
          <a:xfrm>
            <a:off x="6675120" y="2651760"/>
            <a:ext cx="4754880" cy="2011680"/>
          </a:xfrm>
          <a:prstGeom prst="rect">
            <a:avLst/>
          </a:prstGeom>
          <a:noFill/>
          <a:ln/>
        </p:spPr>
        <p:txBody>
          <a:bodyPr wrap="square" lIns="0" tIns="0" rIns="0" bIns="0"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Comment monter en compétence rapidement</a:t>
            </a:r>
            <a:endParaRPr lang="en-US" sz="2200" dirty="0"/>
          </a:p>
          <a:p>
            <a:pPr indent="0" marL="0">
              <a:buNone/>
            </a:pPr>
            <a:r>
              <a:rPr lang="en-US" sz="2200" i="1" dirty="0">
                <a:solidFill>
                  <a:srgbClr val="FFFFFF"/>
                </a:solidFill>
                <a:latin typeface="Cambria" pitchFamily="34" charset="0"/>
                <a:ea typeface="Cambria" pitchFamily="34" charset="-122"/>
                <a:cs typeface="Cambria" pitchFamily="34" charset="-120"/>
              </a:rPr>
              <a:t>sur cette stack sans sacrifier la profondeur</a:t>
            </a:r>
            <a:endParaRPr lang="en-US" sz="2200" dirty="0"/>
          </a:p>
          <a:p>
            <a:pPr indent="0" marL="0">
              <a:buNone/>
            </a:pPr>
            <a:r>
              <a:rPr lang="en-US" sz="2200" i="1" dirty="0">
                <a:solidFill>
                  <a:srgbClr val="FFFFFF"/>
                </a:solidFill>
                <a:latin typeface="Cambria" pitchFamily="34" charset="0"/>
                <a:ea typeface="Cambria" pitchFamily="34" charset="-122"/>
                <a:cs typeface="Cambria" pitchFamily="34" charset="-120"/>
              </a:rPr>
              <a:t>technique nécessaire au rôle d'architecte ?</a:t>
            </a:r>
            <a:endParaRPr lang="en-US" sz="2200" dirty="0"/>
          </a:p>
        </p:txBody>
      </p:sp>
      <p:sp>
        <p:nvSpPr>
          <p:cNvPr id="18" name="Shape 16"/>
          <p:cNvSpPr/>
          <p:nvPr/>
        </p:nvSpPr>
        <p:spPr>
          <a:xfrm>
            <a:off x="6675120" y="4846320"/>
            <a:ext cx="457200" cy="54864"/>
          </a:xfrm>
          <a:prstGeom prst="rect">
            <a:avLst/>
          </a:prstGeom>
          <a:solidFill>
            <a:srgbClr val="F5B700"/>
          </a:solidFill>
          <a:ln w="12700">
            <a:solidFill>
              <a:srgbClr val="F5B700"/>
            </a:solidFill>
            <a:prstDash val="solid"/>
          </a:ln>
        </p:spPr>
      </p:sp>
      <p:sp>
        <p:nvSpPr>
          <p:cNvPr id="19" name="Text 17"/>
          <p:cNvSpPr txBox="1"/>
          <p:nvPr/>
        </p:nvSpPr>
        <p:spPr>
          <a:xfrm>
            <a:off x="6675120" y="5029200"/>
            <a:ext cx="4754880" cy="73152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Réponse : structurer l'assimilation via l'IA générative,</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en conservant la rigueur bancaire.</a:t>
            </a:r>
            <a:endParaRPr lang="en-US" sz="1300" dirty="0"/>
          </a:p>
        </p:txBody>
      </p:sp>
      <p:sp>
        <p:nvSpPr>
          <p:cNvPr id="20" name="Shape 18"/>
          <p:cNvSpPr/>
          <p:nvPr/>
        </p:nvSpPr>
        <p:spPr>
          <a:xfrm>
            <a:off x="0" y="6629400"/>
            <a:ext cx="12161520" cy="18288"/>
          </a:xfrm>
          <a:prstGeom prst="rect">
            <a:avLst/>
          </a:prstGeom>
          <a:solidFill>
            <a:srgbClr val="E5E8EC"/>
          </a:solidFill>
          <a:ln w="12700">
            <a:solidFill>
              <a:srgbClr val="E5E8EC"/>
            </a:solidFill>
            <a:prstDash val="solid"/>
          </a:ln>
        </p:spPr>
      </p:sp>
      <p:sp>
        <p:nvSpPr>
          <p:cNvPr id="21" name="Text 19"/>
          <p:cNvSpPr txBox="1"/>
          <p:nvPr/>
        </p:nvSpPr>
        <p:spPr>
          <a:xfrm>
            <a:off x="457200" y="6656832"/>
            <a:ext cx="8229600" cy="228600"/>
          </a:xfrm>
          <a:prstGeom prst="rect">
            <a:avLst/>
          </a:prstGeom>
          <a:noFill/>
          <a:ln/>
        </p:spPr>
        <p:txBody>
          <a:bodyPr wrap="square" lIns="0" tIns="0" rIns="0" bIns="0" rtlCol="0" anchor="ctr"/>
          <a:lstStyle/>
          <a:p>
            <a:pPr indent="0" marL="0">
              <a:buNone/>
            </a:pPr>
            <a:r>
              <a:rPr lang="en-US" sz="900" dirty="0">
                <a:solidFill>
                  <a:srgbClr val="6B7683"/>
                </a:solidFill>
                <a:latin typeface="Calibri" pitchFamily="34" charset="0"/>
                <a:ea typeface="Calibri" pitchFamily="34" charset="-122"/>
                <a:cs typeface="Calibri" pitchFamily="34" charset="-120"/>
              </a:rPr>
              <a:t>LCL — Paiements  •  Méthode d'apprentissage augmentée par IA</a:t>
            </a:r>
            <a:endParaRPr lang="en-US" sz="900" dirty="0"/>
          </a:p>
        </p:txBody>
      </p:sp>
      <p:sp>
        <p:nvSpPr>
          <p:cNvPr id="22" name="Text 20"/>
          <p:cNvSpPr txBox="1"/>
          <p:nvPr/>
        </p:nvSpPr>
        <p:spPr>
          <a:xfrm>
            <a:off x="11247120" y="6656832"/>
            <a:ext cx="548640" cy="228600"/>
          </a:xfrm>
          <a:prstGeom prst="rect">
            <a:avLst/>
          </a:prstGeom>
          <a:noFill/>
          <a:ln/>
        </p:spPr>
        <p:txBody>
          <a:bodyPr wrap="square" lIns="0" tIns="0" rIns="0" bIns="0" rtlCol="0" anchor="ctr"/>
          <a:lstStyle/>
          <a:p>
            <a:pPr algn="r" indent="0" marL="0">
              <a:buNone/>
            </a:pPr>
            <a:r>
              <a:rPr lang="en-US" sz="900" dirty="0">
                <a:solidFill>
                  <a:srgbClr val="6B7683"/>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7160" cy="365760"/>
          </a:xfrm>
          <a:prstGeom prst="rect">
            <a:avLst/>
          </a:prstGeom>
          <a:solidFill>
            <a:srgbClr val="F5B700"/>
          </a:solidFill>
          <a:ln w="12700">
            <a:solidFill>
              <a:srgbClr val="F5B700"/>
            </a:solidFill>
            <a:prstDash val="solid"/>
          </a:ln>
        </p:spPr>
      </p:sp>
      <p:sp>
        <p:nvSpPr>
          <p:cNvPr id="3" name="Text 1"/>
          <p:cNvSpPr txBox="1"/>
          <p:nvPr/>
        </p:nvSpPr>
        <p:spPr>
          <a:xfrm>
            <a:off x="685800" y="457200"/>
            <a:ext cx="5486400" cy="365760"/>
          </a:xfrm>
          <a:prstGeom prst="rect">
            <a:avLst/>
          </a:prstGeom>
          <a:noFill/>
          <a:ln/>
        </p:spPr>
        <p:txBody>
          <a:bodyPr wrap="square" lIns="0" tIns="0" rIns="0" bIns="0" rtlCol="0" anchor="ctr"/>
          <a:lstStyle/>
          <a:p>
            <a:pPr indent="0" marL="0">
              <a:buNone/>
            </a:pPr>
            <a:r>
              <a:rPr lang="en-US" sz="1100" b="1" spc="400" kern="0" dirty="0">
                <a:solidFill>
                  <a:srgbClr val="003876"/>
                </a:solidFill>
                <a:latin typeface="Calibri" pitchFamily="34" charset="0"/>
                <a:ea typeface="Calibri" pitchFamily="34" charset="-122"/>
                <a:cs typeface="Calibri" pitchFamily="34" charset="-120"/>
              </a:rPr>
              <a:t>02  ·  MÉTHODE</a:t>
            </a:r>
            <a:endParaRPr lang="en-US" sz="1100" dirty="0"/>
          </a:p>
        </p:txBody>
      </p:sp>
      <p:sp>
        <p:nvSpPr>
          <p:cNvPr id="4" name="Text 2"/>
          <p:cNvSpPr txBox="1"/>
          <p:nvPr/>
        </p:nvSpPr>
        <p:spPr>
          <a:xfrm>
            <a:off x="457200" y="914400"/>
            <a:ext cx="11247120" cy="731520"/>
          </a:xfrm>
          <a:prstGeom prst="rect">
            <a:avLst/>
          </a:prstGeom>
          <a:noFill/>
          <a:ln/>
        </p:spPr>
        <p:txBody>
          <a:bodyPr wrap="square" lIns="0" tIns="0" rIns="0" bIns="0" rtlCol="0" anchor="ctr"/>
          <a:lstStyle/>
          <a:p>
            <a:pPr indent="0" marL="0">
              <a:buNone/>
            </a:pPr>
            <a:r>
              <a:rPr lang="en-US" sz="3200" b="1" dirty="0">
                <a:solidFill>
                  <a:srgbClr val="003876"/>
                </a:solidFill>
                <a:latin typeface="Cambria" pitchFamily="34" charset="0"/>
                <a:ea typeface="Cambria" pitchFamily="34" charset="-122"/>
                <a:cs typeface="Cambria" pitchFamily="34" charset="-120"/>
              </a:rPr>
              <a:t>Quatre étapes, un livrable réutilisable</a:t>
            </a:r>
            <a:endParaRPr lang="en-US" sz="3200" dirty="0"/>
          </a:p>
        </p:txBody>
      </p:sp>
      <p:sp>
        <p:nvSpPr>
          <p:cNvPr id="5" name="Shape 3"/>
          <p:cNvSpPr/>
          <p:nvPr/>
        </p:nvSpPr>
        <p:spPr>
          <a:xfrm>
            <a:off x="457200" y="2286000"/>
            <a:ext cx="2788920" cy="3017520"/>
          </a:xfrm>
          <a:prstGeom prst="rect">
            <a:avLst/>
          </a:prstGeom>
          <a:solidFill>
            <a:srgbClr val="FFFFFF"/>
          </a:solidFill>
          <a:ln w="12700">
            <a:solidFill>
              <a:srgbClr val="E5E8EC"/>
            </a:solidFill>
            <a:prstDash val="solid"/>
          </a:ln>
        </p:spPr>
      </p:sp>
      <p:sp>
        <p:nvSpPr>
          <p:cNvPr id="6" name="Shape 4"/>
          <p:cNvSpPr/>
          <p:nvPr/>
        </p:nvSpPr>
        <p:spPr>
          <a:xfrm>
            <a:off x="457200" y="2286000"/>
            <a:ext cx="2788920" cy="640080"/>
          </a:xfrm>
          <a:prstGeom prst="rect">
            <a:avLst/>
          </a:prstGeom>
          <a:solidFill>
            <a:srgbClr val="003876"/>
          </a:solidFill>
          <a:ln w="12700">
            <a:solidFill>
              <a:srgbClr val="003876"/>
            </a:solidFill>
            <a:prstDash val="solid"/>
          </a:ln>
        </p:spPr>
      </p:sp>
      <p:sp>
        <p:nvSpPr>
          <p:cNvPr id="7" name="Text 5"/>
          <p:cNvSpPr txBox="1"/>
          <p:nvPr/>
        </p:nvSpPr>
        <p:spPr>
          <a:xfrm>
            <a:off x="640080" y="2423160"/>
            <a:ext cx="2377440" cy="365760"/>
          </a:xfrm>
          <a:prstGeom prst="rect">
            <a:avLst/>
          </a:prstGeom>
          <a:noFill/>
          <a:ln/>
        </p:spPr>
        <p:txBody>
          <a:bodyPr wrap="square" lIns="0" tIns="0" rIns="0" bIns="0" rtlCol="0" anchor="ctr"/>
          <a:lstStyle/>
          <a:p>
            <a:pPr indent="0" marL="0">
              <a:buNone/>
            </a:pPr>
            <a:r>
              <a:rPr lang="en-US" sz="2200" b="1" dirty="0">
                <a:solidFill>
                  <a:srgbClr val="F5B700"/>
                </a:solidFill>
                <a:latin typeface="Cambria" pitchFamily="34" charset="0"/>
                <a:ea typeface="Cambria" pitchFamily="34" charset="-122"/>
                <a:cs typeface="Cambria" pitchFamily="34" charset="-120"/>
              </a:rPr>
              <a:t>01</a:t>
            </a:r>
            <a:endParaRPr lang="en-US" sz="2200" dirty="0"/>
          </a:p>
        </p:txBody>
      </p:sp>
      <p:sp>
        <p:nvSpPr>
          <p:cNvPr id="8" name="Text 6"/>
          <p:cNvSpPr txBox="1"/>
          <p:nvPr/>
        </p:nvSpPr>
        <p:spPr>
          <a:xfrm>
            <a:off x="640080" y="3108960"/>
            <a:ext cx="2423160" cy="457200"/>
          </a:xfrm>
          <a:prstGeom prst="rect">
            <a:avLst/>
          </a:prstGeom>
          <a:noFill/>
          <a:ln/>
        </p:spPr>
        <p:txBody>
          <a:bodyPr wrap="square" lIns="0" tIns="0" rIns="0" bIns="0" rtlCol="0" anchor="ctr"/>
          <a:lstStyle/>
          <a:p>
            <a:pPr indent="0" marL="0">
              <a:buNone/>
            </a:pPr>
            <a:r>
              <a:rPr lang="en-US" sz="2000" b="1" dirty="0">
                <a:solidFill>
                  <a:srgbClr val="003876"/>
                </a:solidFill>
                <a:latin typeface="Cambria" pitchFamily="34" charset="0"/>
                <a:ea typeface="Cambria" pitchFamily="34" charset="-122"/>
                <a:cs typeface="Cambria" pitchFamily="34" charset="-120"/>
              </a:rPr>
              <a:t>Source</a:t>
            </a:r>
            <a:endParaRPr lang="en-US" sz="2000" dirty="0"/>
          </a:p>
        </p:txBody>
      </p:sp>
      <p:sp>
        <p:nvSpPr>
          <p:cNvPr id="9" name="Text 7"/>
          <p:cNvSpPr txBox="1"/>
          <p:nvPr/>
        </p:nvSpPr>
        <p:spPr>
          <a:xfrm>
            <a:off x="640080" y="3703320"/>
            <a:ext cx="2423160" cy="155448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Redbook IBM, formation, doc officielle, transcript. Sources publiques et vérifiables uniquement.</a:t>
            </a:r>
            <a:endParaRPr lang="en-US" sz="1200" dirty="0"/>
          </a:p>
        </p:txBody>
      </p:sp>
      <p:sp>
        <p:nvSpPr>
          <p:cNvPr id="10" name="Text 8"/>
          <p:cNvSpPr txBox="1"/>
          <p:nvPr/>
        </p:nvSpPr>
        <p:spPr>
          <a:xfrm>
            <a:off x="3136392" y="3474720"/>
            <a:ext cx="320040" cy="640080"/>
          </a:xfrm>
          <a:prstGeom prst="rect">
            <a:avLst/>
          </a:prstGeom>
          <a:noFill/>
          <a:ln/>
        </p:spPr>
        <p:txBody>
          <a:bodyPr wrap="square" lIns="0" tIns="0" rIns="0" bIns="0" rtlCol="0" anchor="ctr"/>
          <a:lstStyle/>
          <a:p>
            <a:pPr algn="ctr" indent="0" marL="0">
              <a:buNone/>
            </a:pPr>
            <a:r>
              <a:rPr lang="en-US" sz="4000" b="1" dirty="0">
                <a:solidFill>
                  <a:srgbClr val="F5B700"/>
                </a:solidFill>
                <a:latin typeface="Arial" pitchFamily="34" charset="0"/>
                <a:ea typeface="Arial" pitchFamily="34" charset="-122"/>
                <a:cs typeface="Arial" pitchFamily="34" charset="-120"/>
              </a:rPr>
              <a:t>›</a:t>
            </a:r>
            <a:endParaRPr lang="en-US" sz="4000" dirty="0"/>
          </a:p>
        </p:txBody>
      </p:sp>
      <p:sp>
        <p:nvSpPr>
          <p:cNvPr id="11" name="Shape 9"/>
          <p:cNvSpPr/>
          <p:nvPr/>
        </p:nvSpPr>
        <p:spPr>
          <a:xfrm>
            <a:off x="3246120" y="2286000"/>
            <a:ext cx="2788920" cy="3017520"/>
          </a:xfrm>
          <a:prstGeom prst="rect">
            <a:avLst/>
          </a:prstGeom>
          <a:solidFill>
            <a:srgbClr val="FFFFFF"/>
          </a:solidFill>
          <a:ln w="12700">
            <a:solidFill>
              <a:srgbClr val="E5E8EC"/>
            </a:solidFill>
            <a:prstDash val="solid"/>
          </a:ln>
        </p:spPr>
      </p:sp>
      <p:sp>
        <p:nvSpPr>
          <p:cNvPr id="12" name="Shape 10"/>
          <p:cNvSpPr/>
          <p:nvPr/>
        </p:nvSpPr>
        <p:spPr>
          <a:xfrm>
            <a:off x="3246120" y="2286000"/>
            <a:ext cx="2788920" cy="640080"/>
          </a:xfrm>
          <a:prstGeom prst="rect">
            <a:avLst/>
          </a:prstGeom>
          <a:solidFill>
            <a:srgbClr val="003876"/>
          </a:solidFill>
          <a:ln w="12700">
            <a:solidFill>
              <a:srgbClr val="003876"/>
            </a:solidFill>
            <a:prstDash val="solid"/>
          </a:ln>
        </p:spPr>
      </p:sp>
      <p:sp>
        <p:nvSpPr>
          <p:cNvPr id="13" name="Text 11"/>
          <p:cNvSpPr txBox="1"/>
          <p:nvPr/>
        </p:nvSpPr>
        <p:spPr>
          <a:xfrm>
            <a:off x="3429000" y="2423160"/>
            <a:ext cx="2377440" cy="365760"/>
          </a:xfrm>
          <a:prstGeom prst="rect">
            <a:avLst/>
          </a:prstGeom>
          <a:noFill/>
          <a:ln/>
        </p:spPr>
        <p:txBody>
          <a:bodyPr wrap="square" lIns="0" tIns="0" rIns="0" bIns="0" rtlCol="0" anchor="ctr"/>
          <a:lstStyle/>
          <a:p>
            <a:pPr indent="0" marL="0">
              <a:buNone/>
            </a:pPr>
            <a:r>
              <a:rPr lang="en-US" sz="2200" b="1" dirty="0">
                <a:solidFill>
                  <a:srgbClr val="F5B700"/>
                </a:solidFill>
                <a:latin typeface="Cambria" pitchFamily="34" charset="0"/>
                <a:ea typeface="Cambria" pitchFamily="34" charset="-122"/>
                <a:cs typeface="Cambria" pitchFamily="34" charset="-120"/>
              </a:rPr>
              <a:t>02</a:t>
            </a:r>
            <a:endParaRPr lang="en-US" sz="2200" dirty="0"/>
          </a:p>
        </p:txBody>
      </p:sp>
      <p:sp>
        <p:nvSpPr>
          <p:cNvPr id="14" name="Text 12"/>
          <p:cNvSpPr txBox="1"/>
          <p:nvPr/>
        </p:nvSpPr>
        <p:spPr>
          <a:xfrm>
            <a:off x="3429000" y="3108960"/>
            <a:ext cx="2423160" cy="457200"/>
          </a:xfrm>
          <a:prstGeom prst="rect">
            <a:avLst/>
          </a:prstGeom>
          <a:noFill/>
          <a:ln/>
        </p:spPr>
        <p:txBody>
          <a:bodyPr wrap="square" lIns="0" tIns="0" rIns="0" bIns="0" rtlCol="0" anchor="ctr"/>
          <a:lstStyle/>
          <a:p>
            <a:pPr indent="0" marL="0">
              <a:buNone/>
            </a:pPr>
            <a:r>
              <a:rPr lang="en-US" sz="2000" b="1" dirty="0">
                <a:solidFill>
                  <a:srgbClr val="003876"/>
                </a:solidFill>
                <a:latin typeface="Cambria" pitchFamily="34" charset="0"/>
                <a:ea typeface="Cambria" pitchFamily="34" charset="-122"/>
                <a:cs typeface="Cambria" pitchFamily="34" charset="-120"/>
              </a:rPr>
              <a:t>Prompt structuré</a:t>
            </a:r>
            <a:endParaRPr lang="en-US" sz="2000" dirty="0"/>
          </a:p>
        </p:txBody>
      </p:sp>
      <p:sp>
        <p:nvSpPr>
          <p:cNvPr id="15" name="Text 13"/>
          <p:cNvSpPr txBox="1"/>
          <p:nvPr/>
        </p:nvSpPr>
        <p:spPr>
          <a:xfrm>
            <a:off x="3429000" y="3703320"/>
            <a:ext cx="2423160" cy="155448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Rôle expert, contexte métier, règles anti-hallucination, format de sortie imposé.</a:t>
            </a:r>
            <a:endParaRPr lang="en-US" sz="1200" dirty="0"/>
          </a:p>
        </p:txBody>
      </p:sp>
      <p:sp>
        <p:nvSpPr>
          <p:cNvPr id="16" name="Text 14"/>
          <p:cNvSpPr txBox="1"/>
          <p:nvPr/>
        </p:nvSpPr>
        <p:spPr>
          <a:xfrm>
            <a:off x="5925312" y="3474720"/>
            <a:ext cx="320040" cy="640080"/>
          </a:xfrm>
          <a:prstGeom prst="rect">
            <a:avLst/>
          </a:prstGeom>
          <a:noFill/>
          <a:ln/>
        </p:spPr>
        <p:txBody>
          <a:bodyPr wrap="square" lIns="0" tIns="0" rIns="0" bIns="0" rtlCol="0" anchor="ctr"/>
          <a:lstStyle/>
          <a:p>
            <a:pPr algn="ctr" indent="0" marL="0">
              <a:buNone/>
            </a:pPr>
            <a:r>
              <a:rPr lang="en-US" sz="4000" b="1" dirty="0">
                <a:solidFill>
                  <a:srgbClr val="F5B700"/>
                </a:solidFill>
                <a:latin typeface="Arial" pitchFamily="34" charset="0"/>
                <a:ea typeface="Arial" pitchFamily="34" charset="-122"/>
                <a:cs typeface="Arial" pitchFamily="34" charset="-120"/>
              </a:rPr>
              <a:t>›</a:t>
            </a:r>
            <a:endParaRPr lang="en-US" sz="4000" dirty="0"/>
          </a:p>
        </p:txBody>
      </p:sp>
      <p:sp>
        <p:nvSpPr>
          <p:cNvPr id="17" name="Shape 15"/>
          <p:cNvSpPr/>
          <p:nvPr/>
        </p:nvSpPr>
        <p:spPr>
          <a:xfrm>
            <a:off x="6035040" y="2286000"/>
            <a:ext cx="2788920" cy="3017520"/>
          </a:xfrm>
          <a:prstGeom prst="rect">
            <a:avLst/>
          </a:prstGeom>
          <a:solidFill>
            <a:srgbClr val="FFFFFF"/>
          </a:solidFill>
          <a:ln w="12700">
            <a:solidFill>
              <a:srgbClr val="E5E8EC"/>
            </a:solidFill>
            <a:prstDash val="solid"/>
          </a:ln>
        </p:spPr>
      </p:sp>
      <p:sp>
        <p:nvSpPr>
          <p:cNvPr id="18" name="Shape 16"/>
          <p:cNvSpPr/>
          <p:nvPr/>
        </p:nvSpPr>
        <p:spPr>
          <a:xfrm>
            <a:off x="6035040" y="2286000"/>
            <a:ext cx="2788920" cy="640080"/>
          </a:xfrm>
          <a:prstGeom prst="rect">
            <a:avLst/>
          </a:prstGeom>
          <a:solidFill>
            <a:srgbClr val="003876"/>
          </a:solidFill>
          <a:ln w="12700">
            <a:solidFill>
              <a:srgbClr val="003876"/>
            </a:solidFill>
            <a:prstDash val="solid"/>
          </a:ln>
        </p:spPr>
      </p:sp>
      <p:sp>
        <p:nvSpPr>
          <p:cNvPr id="19" name="Text 17"/>
          <p:cNvSpPr txBox="1"/>
          <p:nvPr/>
        </p:nvSpPr>
        <p:spPr>
          <a:xfrm>
            <a:off x="6217920" y="2423160"/>
            <a:ext cx="2377440" cy="365760"/>
          </a:xfrm>
          <a:prstGeom prst="rect">
            <a:avLst/>
          </a:prstGeom>
          <a:noFill/>
          <a:ln/>
        </p:spPr>
        <p:txBody>
          <a:bodyPr wrap="square" lIns="0" tIns="0" rIns="0" bIns="0" rtlCol="0" anchor="ctr"/>
          <a:lstStyle/>
          <a:p>
            <a:pPr indent="0" marL="0">
              <a:buNone/>
            </a:pPr>
            <a:r>
              <a:rPr lang="en-US" sz="2200" b="1" dirty="0">
                <a:solidFill>
                  <a:srgbClr val="F5B700"/>
                </a:solidFill>
                <a:latin typeface="Cambria" pitchFamily="34" charset="0"/>
                <a:ea typeface="Cambria" pitchFamily="34" charset="-122"/>
                <a:cs typeface="Cambria" pitchFamily="34" charset="-120"/>
              </a:rPr>
              <a:t>03</a:t>
            </a:r>
            <a:endParaRPr lang="en-US" sz="2200" dirty="0"/>
          </a:p>
        </p:txBody>
      </p:sp>
      <p:sp>
        <p:nvSpPr>
          <p:cNvPr id="20" name="Text 18"/>
          <p:cNvSpPr txBox="1"/>
          <p:nvPr/>
        </p:nvSpPr>
        <p:spPr>
          <a:xfrm>
            <a:off x="6217920" y="3108960"/>
            <a:ext cx="2423160" cy="457200"/>
          </a:xfrm>
          <a:prstGeom prst="rect">
            <a:avLst/>
          </a:prstGeom>
          <a:noFill/>
          <a:ln/>
        </p:spPr>
        <p:txBody>
          <a:bodyPr wrap="square" lIns="0" tIns="0" rIns="0" bIns="0" rtlCol="0" anchor="ctr"/>
          <a:lstStyle/>
          <a:p>
            <a:pPr indent="0" marL="0">
              <a:buNone/>
            </a:pPr>
            <a:r>
              <a:rPr lang="en-US" sz="2000" b="1" dirty="0">
                <a:solidFill>
                  <a:srgbClr val="003876"/>
                </a:solidFill>
                <a:latin typeface="Cambria" pitchFamily="34" charset="0"/>
                <a:ea typeface="Cambria" pitchFamily="34" charset="-122"/>
                <a:cs typeface="Cambria" pitchFamily="34" charset="-120"/>
              </a:rPr>
              <a:t>IA générative</a:t>
            </a:r>
            <a:endParaRPr lang="en-US" sz="2000" dirty="0"/>
          </a:p>
        </p:txBody>
      </p:sp>
      <p:sp>
        <p:nvSpPr>
          <p:cNvPr id="21" name="Text 19"/>
          <p:cNvSpPr txBox="1"/>
          <p:nvPr/>
        </p:nvSpPr>
        <p:spPr>
          <a:xfrm>
            <a:off x="6217920" y="3703320"/>
            <a:ext cx="2423160" cy="155448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Lecture, filtrage, réorganisation, mise en évidence des points critiques.</a:t>
            </a:r>
            <a:endParaRPr lang="en-US" sz="1200" dirty="0"/>
          </a:p>
        </p:txBody>
      </p:sp>
      <p:sp>
        <p:nvSpPr>
          <p:cNvPr id="22" name="Text 20"/>
          <p:cNvSpPr txBox="1"/>
          <p:nvPr/>
        </p:nvSpPr>
        <p:spPr>
          <a:xfrm>
            <a:off x="8714232" y="3474720"/>
            <a:ext cx="320040" cy="640080"/>
          </a:xfrm>
          <a:prstGeom prst="rect">
            <a:avLst/>
          </a:prstGeom>
          <a:noFill/>
          <a:ln/>
        </p:spPr>
        <p:txBody>
          <a:bodyPr wrap="square" lIns="0" tIns="0" rIns="0" bIns="0" rtlCol="0" anchor="ctr"/>
          <a:lstStyle/>
          <a:p>
            <a:pPr algn="ctr" indent="0" marL="0">
              <a:buNone/>
            </a:pPr>
            <a:r>
              <a:rPr lang="en-US" sz="4000" b="1" dirty="0">
                <a:solidFill>
                  <a:srgbClr val="F5B700"/>
                </a:solidFill>
                <a:latin typeface="Arial" pitchFamily="34" charset="0"/>
                <a:ea typeface="Arial" pitchFamily="34" charset="-122"/>
                <a:cs typeface="Arial" pitchFamily="34" charset="-120"/>
              </a:rPr>
              <a:t>›</a:t>
            </a:r>
            <a:endParaRPr lang="en-US" sz="4000" dirty="0"/>
          </a:p>
        </p:txBody>
      </p:sp>
      <p:sp>
        <p:nvSpPr>
          <p:cNvPr id="23" name="Shape 21"/>
          <p:cNvSpPr/>
          <p:nvPr/>
        </p:nvSpPr>
        <p:spPr>
          <a:xfrm>
            <a:off x="8823960" y="2286000"/>
            <a:ext cx="2788920" cy="3017520"/>
          </a:xfrm>
          <a:prstGeom prst="rect">
            <a:avLst/>
          </a:prstGeom>
          <a:solidFill>
            <a:srgbClr val="FFFFFF"/>
          </a:solidFill>
          <a:ln w="12700">
            <a:solidFill>
              <a:srgbClr val="E5E8EC"/>
            </a:solidFill>
            <a:prstDash val="solid"/>
          </a:ln>
        </p:spPr>
      </p:sp>
      <p:sp>
        <p:nvSpPr>
          <p:cNvPr id="24" name="Shape 22"/>
          <p:cNvSpPr/>
          <p:nvPr/>
        </p:nvSpPr>
        <p:spPr>
          <a:xfrm>
            <a:off x="8823960" y="2286000"/>
            <a:ext cx="2788920" cy="640080"/>
          </a:xfrm>
          <a:prstGeom prst="rect">
            <a:avLst/>
          </a:prstGeom>
          <a:solidFill>
            <a:srgbClr val="003876"/>
          </a:solidFill>
          <a:ln w="12700">
            <a:solidFill>
              <a:srgbClr val="003876"/>
            </a:solidFill>
            <a:prstDash val="solid"/>
          </a:ln>
        </p:spPr>
      </p:sp>
      <p:sp>
        <p:nvSpPr>
          <p:cNvPr id="25" name="Text 23"/>
          <p:cNvSpPr txBox="1"/>
          <p:nvPr/>
        </p:nvSpPr>
        <p:spPr>
          <a:xfrm>
            <a:off x="9006840" y="2423160"/>
            <a:ext cx="2377440" cy="365760"/>
          </a:xfrm>
          <a:prstGeom prst="rect">
            <a:avLst/>
          </a:prstGeom>
          <a:noFill/>
          <a:ln/>
        </p:spPr>
        <p:txBody>
          <a:bodyPr wrap="square" lIns="0" tIns="0" rIns="0" bIns="0" rtlCol="0" anchor="ctr"/>
          <a:lstStyle/>
          <a:p>
            <a:pPr indent="0" marL="0">
              <a:buNone/>
            </a:pPr>
            <a:r>
              <a:rPr lang="en-US" sz="2200" b="1" dirty="0">
                <a:solidFill>
                  <a:srgbClr val="F5B700"/>
                </a:solidFill>
                <a:latin typeface="Cambria" pitchFamily="34" charset="0"/>
                <a:ea typeface="Cambria" pitchFamily="34" charset="-122"/>
                <a:cs typeface="Cambria" pitchFamily="34" charset="-120"/>
              </a:rPr>
              <a:t>04</a:t>
            </a:r>
            <a:endParaRPr lang="en-US" sz="2200" dirty="0"/>
          </a:p>
        </p:txBody>
      </p:sp>
      <p:sp>
        <p:nvSpPr>
          <p:cNvPr id="26" name="Text 24"/>
          <p:cNvSpPr txBox="1"/>
          <p:nvPr/>
        </p:nvSpPr>
        <p:spPr>
          <a:xfrm>
            <a:off x="9006840" y="3108960"/>
            <a:ext cx="2423160" cy="457200"/>
          </a:xfrm>
          <a:prstGeom prst="rect">
            <a:avLst/>
          </a:prstGeom>
          <a:noFill/>
          <a:ln/>
        </p:spPr>
        <p:txBody>
          <a:bodyPr wrap="square" lIns="0" tIns="0" rIns="0" bIns="0" rtlCol="0" anchor="ctr"/>
          <a:lstStyle/>
          <a:p>
            <a:pPr indent="0" marL="0">
              <a:buNone/>
            </a:pPr>
            <a:r>
              <a:rPr lang="en-US" sz="2000" b="1" dirty="0">
                <a:solidFill>
                  <a:srgbClr val="003876"/>
                </a:solidFill>
                <a:latin typeface="Cambria" pitchFamily="34" charset="0"/>
                <a:ea typeface="Cambria" pitchFamily="34" charset="-122"/>
                <a:cs typeface="Cambria" pitchFamily="34" charset="-120"/>
              </a:rPr>
              <a:t>Fiche technique</a:t>
            </a:r>
            <a:endParaRPr lang="en-US" sz="2000" dirty="0"/>
          </a:p>
        </p:txBody>
      </p:sp>
      <p:sp>
        <p:nvSpPr>
          <p:cNvPr id="27" name="Text 25"/>
          <p:cNvSpPr txBox="1"/>
          <p:nvPr/>
        </p:nvSpPr>
        <p:spPr>
          <a:xfrm>
            <a:off x="9006840" y="3703320"/>
            <a:ext cx="2423160" cy="155448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Markdown structuré, cheat-sheet, questions ouvertes. Versionnable et partageable.</a:t>
            </a:r>
            <a:endParaRPr lang="en-US" sz="1200" dirty="0"/>
          </a:p>
        </p:txBody>
      </p:sp>
      <p:sp>
        <p:nvSpPr>
          <p:cNvPr id="28" name="Shape 26"/>
          <p:cNvSpPr/>
          <p:nvPr/>
        </p:nvSpPr>
        <p:spPr>
          <a:xfrm>
            <a:off x="457200" y="5623560"/>
            <a:ext cx="11247120" cy="777240"/>
          </a:xfrm>
          <a:prstGeom prst="rect">
            <a:avLst/>
          </a:prstGeom>
          <a:solidFill>
            <a:srgbClr val="E5E8EC"/>
          </a:solidFill>
          <a:ln w="12700">
            <a:solidFill>
              <a:srgbClr val="E5E8EC"/>
            </a:solidFill>
            <a:prstDash val="solid"/>
          </a:ln>
        </p:spPr>
      </p:sp>
      <p:sp>
        <p:nvSpPr>
          <p:cNvPr id="29" name="Text 27"/>
          <p:cNvSpPr txBox="1"/>
          <p:nvPr/>
        </p:nvSpPr>
        <p:spPr>
          <a:xfrm>
            <a:off x="731520" y="5806440"/>
            <a:ext cx="1097280" cy="365760"/>
          </a:xfrm>
          <a:prstGeom prst="rect">
            <a:avLst/>
          </a:prstGeom>
          <a:noFill/>
          <a:ln/>
        </p:spPr>
        <p:txBody>
          <a:bodyPr wrap="square" lIns="0" tIns="0" rIns="0" bIns="0" rtlCol="0" anchor="ctr"/>
          <a:lstStyle/>
          <a:p>
            <a:pPr indent="0" marL="0">
              <a:buNone/>
            </a:pPr>
            <a:r>
              <a:rPr lang="en-US" sz="1300" b="1" dirty="0">
                <a:solidFill>
                  <a:srgbClr val="003876"/>
                </a:solidFill>
                <a:latin typeface="Calibri" pitchFamily="34" charset="0"/>
                <a:ea typeface="Calibri" pitchFamily="34" charset="-122"/>
                <a:cs typeface="Calibri" pitchFamily="34" charset="-120"/>
              </a:rPr>
              <a:t>Livrable :</a:t>
            </a:r>
            <a:endParaRPr lang="en-US" sz="1300" dirty="0"/>
          </a:p>
        </p:txBody>
      </p:sp>
      <p:sp>
        <p:nvSpPr>
          <p:cNvPr id="30" name="Text 28"/>
          <p:cNvSpPr txBox="1"/>
          <p:nvPr/>
        </p:nvSpPr>
        <p:spPr>
          <a:xfrm>
            <a:off x="1737360" y="5806440"/>
            <a:ext cx="9875520" cy="365760"/>
          </a:xfrm>
          <a:prstGeom prst="rect">
            <a:avLst/>
          </a:prstGeom>
          <a:noFill/>
          <a:ln/>
        </p:spPr>
        <p:txBody>
          <a:bodyPr wrap="square" lIns="0" tIns="0" rIns="0" bIns="0" rtlCol="0" anchor="ctr"/>
          <a:lstStyle/>
          <a:p>
            <a:pPr indent="0" marL="0">
              <a:buNone/>
            </a:pPr>
            <a:r>
              <a:rPr lang="en-US" sz="1300" dirty="0">
                <a:solidFill>
                  <a:srgbClr val="1A1F2B"/>
                </a:solidFill>
                <a:latin typeface="Calibri" pitchFamily="34" charset="0"/>
                <a:ea typeface="Calibri" pitchFamily="34" charset="-122"/>
                <a:cs typeface="Calibri" pitchFamily="34" charset="-120"/>
              </a:rPr>
              <a:t>une fiche Markdown dense, structurée à l'identique d'une source à l'autre — capitalisable dans un corpus personnel ou d'équipe.</a:t>
            </a:r>
            <a:endParaRPr lang="en-US" sz="1300" dirty="0"/>
          </a:p>
        </p:txBody>
      </p:sp>
      <p:sp>
        <p:nvSpPr>
          <p:cNvPr id="31" name="Shape 29"/>
          <p:cNvSpPr/>
          <p:nvPr/>
        </p:nvSpPr>
        <p:spPr>
          <a:xfrm>
            <a:off x="0" y="6629400"/>
            <a:ext cx="12161520" cy="18288"/>
          </a:xfrm>
          <a:prstGeom prst="rect">
            <a:avLst/>
          </a:prstGeom>
          <a:solidFill>
            <a:srgbClr val="E5E8EC"/>
          </a:solidFill>
          <a:ln w="12700">
            <a:solidFill>
              <a:srgbClr val="E5E8EC"/>
            </a:solidFill>
            <a:prstDash val="solid"/>
          </a:ln>
        </p:spPr>
      </p:sp>
      <p:sp>
        <p:nvSpPr>
          <p:cNvPr id="32" name="Text 30"/>
          <p:cNvSpPr txBox="1"/>
          <p:nvPr/>
        </p:nvSpPr>
        <p:spPr>
          <a:xfrm>
            <a:off x="457200" y="6656832"/>
            <a:ext cx="8229600" cy="228600"/>
          </a:xfrm>
          <a:prstGeom prst="rect">
            <a:avLst/>
          </a:prstGeom>
          <a:noFill/>
          <a:ln/>
        </p:spPr>
        <p:txBody>
          <a:bodyPr wrap="square" lIns="0" tIns="0" rIns="0" bIns="0" rtlCol="0" anchor="ctr"/>
          <a:lstStyle/>
          <a:p>
            <a:pPr indent="0" marL="0">
              <a:buNone/>
            </a:pPr>
            <a:r>
              <a:rPr lang="en-US" sz="900" dirty="0">
                <a:solidFill>
                  <a:srgbClr val="6B7683"/>
                </a:solidFill>
                <a:latin typeface="Calibri" pitchFamily="34" charset="0"/>
                <a:ea typeface="Calibri" pitchFamily="34" charset="-122"/>
                <a:cs typeface="Calibri" pitchFamily="34" charset="-120"/>
              </a:rPr>
              <a:t>LCL — Paiements  •  Méthode d'apprentissage augmentée par IA</a:t>
            </a:r>
            <a:endParaRPr lang="en-US" sz="900" dirty="0"/>
          </a:p>
        </p:txBody>
      </p:sp>
      <p:sp>
        <p:nvSpPr>
          <p:cNvPr id="33" name="Text 31"/>
          <p:cNvSpPr txBox="1"/>
          <p:nvPr/>
        </p:nvSpPr>
        <p:spPr>
          <a:xfrm>
            <a:off x="11247120" y="6656832"/>
            <a:ext cx="548640" cy="228600"/>
          </a:xfrm>
          <a:prstGeom prst="rect">
            <a:avLst/>
          </a:prstGeom>
          <a:noFill/>
          <a:ln/>
        </p:spPr>
        <p:txBody>
          <a:bodyPr wrap="square" lIns="0" tIns="0" rIns="0" bIns="0" rtlCol="0" anchor="ctr"/>
          <a:lstStyle/>
          <a:p>
            <a:pPr algn="r" indent="0" marL="0">
              <a:buNone/>
            </a:pPr>
            <a:r>
              <a:rPr lang="en-US" sz="900" dirty="0">
                <a:solidFill>
                  <a:srgbClr val="6B7683"/>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7160" cy="365760"/>
          </a:xfrm>
          <a:prstGeom prst="rect">
            <a:avLst/>
          </a:prstGeom>
          <a:solidFill>
            <a:srgbClr val="F5B700"/>
          </a:solidFill>
          <a:ln w="12700">
            <a:solidFill>
              <a:srgbClr val="F5B700"/>
            </a:solidFill>
            <a:prstDash val="solid"/>
          </a:ln>
        </p:spPr>
      </p:sp>
      <p:sp>
        <p:nvSpPr>
          <p:cNvPr id="3" name="Text 1"/>
          <p:cNvSpPr txBox="1"/>
          <p:nvPr/>
        </p:nvSpPr>
        <p:spPr>
          <a:xfrm>
            <a:off x="685800" y="457200"/>
            <a:ext cx="5486400" cy="365760"/>
          </a:xfrm>
          <a:prstGeom prst="rect">
            <a:avLst/>
          </a:prstGeom>
          <a:noFill/>
          <a:ln/>
        </p:spPr>
        <p:txBody>
          <a:bodyPr wrap="square" lIns="0" tIns="0" rIns="0" bIns="0" rtlCol="0" anchor="ctr"/>
          <a:lstStyle/>
          <a:p>
            <a:pPr indent="0" marL="0">
              <a:buNone/>
            </a:pPr>
            <a:r>
              <a:rPr lang="en-US" sz="1100" b="1" spc="400" kern="0" dirty="0">
                <a:solidFill>
                  <a:srgbClr val="003876"/>
                </a:solidFill>
                <a:latin typeface="Calibri" pitchFamily="34" charset="0"/>
                <a:ea typeface="Calibri" pitchFamily="34" charset="-122"/>
                <a:cs typeface="Calibri" pitchFamily="34" charset="-120"/>
              </a:rPr>
              <a:t>03  ·  PRINCIPES</a:t>
            </a:r>
            <a:endParaRPr lang="en-US" sz="1100" dirty="0"/>
          </a:p>
        </p:txBody>
      </p:sp>
      <p:sp>
        <p:nvSpPr>
          <p:cNvPr id="4" name="Text 2"/>
          <p:cNvSpPr txBox="1"/>
          <p:nvPr/>
        </p:nvSpPr>
        <p:spPr>
          <a:xfrm>
            <a:off x="457200" y="914400"/>
            <a:ext cx="11247120" cy="731520"/>
          </a:xfrm>
          <a:prstGeom prst="rect">
            <a:avLst/>
          </a:prstGeom>
          <a:noFill/>
          <a:ln/>
        </p:spPr>
        <p:txBody>
          <a:bodyPr wrap="square" lIns="0" tIns="0" rIns="0" bIns="0" rtlCol="0" anchor="ctr"/>
          <a:lstStyle/>
          <a:p>
            <a:pPr indent="0" marL="0">
              <a:buNone/>
            </a:pPr>
            <a:r>
              <a:rPr lang="en-US" sz="3200" b="1" dirty="0">
                <a:solidFill>
                  <a:srgbClr val="003876"/>
                </a:solidFill>
                <a:latin typeface="Cambria" pitchFamily="34" charset="0"/>
                <a:ea typeface="Cambria" pitchFamily="34" charset="-122"/>
                <a:cs typeface="Cambria" pitchFamily="34" charset="-120"/>
              </a:rPr>
              <a:t>Quatre garde-fous qui rendent la méthode fiable</a:t>
            </a:r>
            <a:endParaRPr lang="en-US" sz="3200" dirty="0"/>
          </a:p>
        </p:txBody>
      </p:sp>
      <p:sp>
        <p:nvSpPr>
          <p:cNvPr id="5" name="Shape 3"/>
          <p:cNvSpPr/>
          <p:nvPr/>
        </p:nvSpPr>
        <p:spPr>
          <a:xfrm>
            <a:off x="457200" y="1920240"/>
            <a:ext cx="5394960" cy="2194560"/>
          </a:xfrm>
          <a:prstGeom prst="rect">
            <a:avLst/>
          </a:prstGeom>
          <a:solidFill>
            <a:srgbClr val="FFFFFF"/>
          </a:solidFill>
          <a:ln w="12700">
            <a:solidFill>
              <a:srgbClr val="E5E8EC"/>
            </a:solidFill>
            <a:prstDash val="solid"/>
          </a:ln>
        </p:spPr>
      </p:sp>
      <p:sp>
        <p:nvSpPr>
          <p:cNvPr id="6" name="Shape 4"/>
          <p:cNvSpPr/>
          <p:nvPr/>
        </p:nvSpPr>
        <p:spPr>
          <a:xfrm>
            <a:off x="731520" y="2194560"/>
            <a:ext cx="640080" cy="640080"/>
          </a:xfrm>
          <a:prstGeom prst="ellipse">
            <a:avLst/>
          </a:prstGeom>
          <a:solidFill>
            <a:srgbClr val="003876"/>
          </a:solidFill>
          <a:ln w="12700">
            <a:solidFill>
              <a:srgbClr val="003876"/>
            </a:solidFill>
            <a:prstDash val="solid"/>
          </a:ln>
        </p:spPr>
      </p:sp>
      <p:sp>
        <p:nvSpPr>
          <p:cNvPr id="7" name="Text 5"/>
          <p:cNvSpPr txBox="1"/>
          <p:nvPr/>
        </p:nvSpPr>
        <p:spPr>
          <a:xfrm>
            <a:off x="731520" y="2194560"/>
            <a:ext cx="640080" cy="640080"/>
          </a:xfrm>
          <a:prstGeom prst="rect">
            <a:avLst/>
          </a:prstGeom>
          <a:noFill/>
          <a:ln/>
        </p:spPr>
        <p:txBody>
          <a:bodyPr wrap="square" lIns="0" tIns="0" rIns="0" bIns="0" rtlCol="0" anchor="ctr"/>
          <a:lstStyle/>
          <a:p>
            <a:pPr algn="ctr" indent="0" marL="0">
              <a:buNone/>
            </a:pPr>
            <a:r>
              <a:rPr lang="en-US" sz="2200" b="1" dirty="0">
                <a:solidFill>
                  <a:srgbClr val="F5B700"/>
                </a:solidFill>
                <a:latin typeface="Cambria" pitchFamily="34" charset="0"/>
                <a:ea typeface="Cambria" pitchFamily="34" charset="-122"/>
                <a:cs typeface="Cambria" pitchFamily="34" charset="-120"/>
              </a:rPr>
              <a:t>①</a:t>
            </a:r>
            <a:endParaRPr lang="en-US" sz="2200" dirty="0"/>
          </a:p>
        </p:txBody>
      </p:sp>
      <p:sp>
        <p:nvSpPr>
          <p:cNvPr id="8" name="Text 6"/>
          <p:cNvSpPr txBox="1"/>
          <p:nvPr/>
        </p:nvSpPr>
        <p:spPr>
          <a:xfrm>
            <a:off x="1508760" y="2240280"/>
            <a:ext cx="4114800" cy="548640"/>
          </a:xfrm>
          <a:prstGeom prst="rect">
            <a:avLst/>
          </a:prstGeom>
          <a:noFill/>
          <a:ln/>
        </p:spPr>
        <p:txBody>
          <a:bodyPr wrap="square" lIns="0" tIns="0" rIns="0" bIns="0" rtlCol="0" anchor="ctr"/>
          <a:lstStyle/>
          <a:p>
            <a:pPr indent="0" marL="0">
              <a:buNone/>
            </a:pPr>
            <a:r>
              <a:rPr lang="en-US" sz="1800" b="1" dirty="0">
                <a:solidFill>
                  <a:srgbClr val="003876"/>
                </a:solidFill>
                <a:latin typeface="Cambria" pitchFamily="34" charset="0"/>
                <a:ea typeface="Cambria" pitchFamily="34" charset="-122"/>
                <a:cs typeface="Cambria" pitchFamily="34" charset="-120"/>
              </a:rPr>
              <a:t>Fidélité aux sources</a:t>
            </a:r>
            <a:endParaRPr lang="en-US" sz="1800" dirty="0"/>
          </a:p>
        </p:txBody>
      </p:sp>
      <p:sp>
        <p:nvSpPr>
          <p:cNvPr id="9" name="Text 7"/>
          <p:cNvSpPr txBox="1"/>
          <p:nvPr/>
        </p:nvSpPr>
        <p:spPr>
          <a:xfrm>
            <a:off x="1508760" y="2834640"/>
            <a:ext cx="4114800" cy="1188720"/>
          </a:xfrm>
          <a:prstGeom prst="rect">
            <a:avLst/>
          </a:prstGeom>
          <a:noFill/>
          <a:ln/>
        </p:spPr>
        <p:txBody>
          <a:bodyPr wrap="square" lIns="0" tIns="0" rIns="0" bIns="0" rtlCol="0" anchor="ctr"/>
          <a:lstStyle/>
          <a:p>
            <a:pPr indent="0" marL="0">
              <a:buNone/>
            </a:pPr>
            <a:r>
              <a:rPr lang="en-US" sz="1300" dirty="0">
                <a:solidFill>
                  <a:srgbClr val="3A4552"/>
                </a:solidFill>
                <a:latin typeface="Calibri" pitchFamily="34" charset="0"/>
                <a:ea typeface="Calibri" pitchFamily="34" charset="-122"/>
                <a:cs typeface="Calibri" pitchFamily="34" charset="-120"/>
              </a:rPr>
              <a:t>L'IA cite les sections d'origine et signale toute divergence entre slides et transcript.</a:t>
            </a:r>
            <a:endParaRPr lang="en-US" sz="1300" dirty="0"/>
          </a:p>
        </p:txBody>
      </p:sp>
      <p:sp>
        <p:nvSpPr>
          <p:cNvPr id="10" name="Shape 8"/>
          <p:cNvSpPr/>
          <p:nvPr/>
        </p:nvSpPr>
        <p:spPr>
          <a:xfrm>
            <a:off x="6309360" y="1920240"/>
            <a:ext cx="5394960" cy="2194560"/>
          </a:xfrm>
          <a:prstGeom prst="rect">
            <a:avLst/>
          </a:prstGeom>
          <a:solidFill>
            <a:srgbClr val="FFFFFF"/>
          </a:solidFill>
          <a:ln w="12700">
            <a:solidFill>
              <a:srgbClr val="E5E8EC"/>
            </a:solidFill>
            <a:prstDash val="solid"/>
          </a:ln>
        </p:spPr>
      </p:sp>
      <p:sp>
        <p:nvSpPr>
          <p:cNvPr id="11" name="Shape 9"/>
          <p:cNvSpPr/>
          <p:nvPr/>
        </p:nvSpPr>
        <p:spPr>
          <a:xfrm>
            <a:off x="6583680" y="2194560"/>
            <a:ext cx="640080" cy="640080"/>
          </a:xfrm>
          <a:prstGeom prst="ellipse">
            <a:avLst/>
          </a:prstGeom>
          <a:solidFill>
            <a:srgbClr val="003876"/>
          </a:solidFill>
          <a:ln w="12700">
            <a:solidFill>
              <a:srgbClr val="003876"/>
            </a:solidFill>
            <a:prstDash val="solid"/>
          </a:ln>
        </p:spPr>
      </p:sp>
      <p:sp>
        <p:nvSpPr>
          <p:cNvPr id="12" name="Text 10"/>
          <p:cNvSpPr txBox="1"/>
          <p:nvPr/>
        </p:nvSpPr>
        <p:spPr>
          <a:xfrm>
            <a:off x="6583680" y="2194560"/>
            <a:ext cx="640080" cy="640080"/>
          </a:xfrm>
          <a:prstGeom prst="rect">
            <a:avLst/>
          </a:prstGeom>
          <a:noFill/>
          <a:ln/>
        </p:spPr>
        <p:txBody>
          <a:bodyPr wrap="square" lIns="0" tIns="0" rIns="0" bIns="0" rtlCol="0" anchor="ctr"/>
          <a:lstStyle/>
          <a:p>
            <a:pPr algn="ctr" indent="0" marL="0">
              <a:buNone/>
            </a:pPr>
            <a:r>
              <a:rPr lang="en-US" sz="2200" b="1" dirty="0">
                <a:solidFill>
                  <a:srgbClr val="F5B700"/>
                </a:solidFill>
                <a:latin typeface="Cambria" pitchFamily="34" charset="0"/>
                <a:ea typeface="Cambria" pitchFamily="34" charset="-122"/>
                <a:cs typeface="Cambria" pitchFamily="34" charset="-120"/>
              </a:rPr>
              <a:t>②</a:t>
            </a:r>
            <a:endParaRPr lang="en-US" sz="2200" dirty="0"/>
          </a:p>
        </p:txBody>
      </p:sp>
      <p:sp>
        <p:nvSpPr>
          <p:cNvPr id="13" name="Text 11"/>
          <p:cNvSpPr txBox="1"/>
          <p:nvPr/>
        </p:nvSpPr>
        <p:spPr>
          <a:xfrm>
            <a:off x="7360920" y="2240280"/>
            <a:ext cx="4114800" cy="548640"/>
          </a:xfrm>
          <a:prstGeom prst="rect">
            <a:avLst/>
          </a:prstGeom>
          <a:noFill/>
          <a:ln/>
        </p:spPr>
        <p:txBody>
          <a:bodyPr wrap="square" lIns="0" tIns="0" rIns="0" bIns="0" rtlCol="0" anchor="ctr"/>
          <a:lstStyle/>
          <a:p>
            <a:pPr indent="0" marL="0">
              <a:buNone/>
            </a:pPr>
            <a:r>
              <a:rPr lang="en-US" sz="1800" b="1" dirty="0">
                <a:solidFill>
                  <a:srgbClr val="003876"/>
                </a:solidFill>
                <a:latin typeface="Cambria" pitchFamily="34" charset="0"/>
                <a:ea typeface="Cambria" pitchFamily="34" charset="-122"/>
                <a:cs typeface="Cambria" pitchFamily="34" charset="-120"/>
              </a:rPr>
              <a:t>Structure imposée</a:t>
            </a:r>
            <a:endParaRPr lang="en-US" sz="1800" dirty="0"/>
          </a:p>
        </p:txBody>
      </p:sp>
      <p:sp>
        <p:nvSpPr>
          <p:cNvPr id="14" name="Text 12"/>
          <p:cNvSpPr txBox="1"/>
          <p:nvPr/>
        </p:nvSpPr>
        <p:spPr>
          <a:xfrm>
            <a:off x="7360920" y="2834640"/>
            <a:ext cx="4114800" cy="1188720"/>
          </a:xfrm>
          <a:prstGeom prst="rect">
            <a:avLst/>
          </a:prstGeom>
          <a:noFill/>
          <a:ln/>
        </p:spPr>
        <p:txBody>
          <a:bodyPr wrap="square" lIns="0" tIns="0" rIns="0" bIns="0" rtlCol="0" anchor="ctr"/>
          <a:lstStyle/>
          <a:p>
            <a:pPr indent="0" marL="0">
              <a:buNone/>
            </a:pPr>
            <a:r>
              <a:rPr lang="en-US" sz="1300" dirty="0">
                <a:solidFill>
                  <a:srgbClr val="3A4552"/>
                </a:solidFill>
                <a:latin typeface="Calibri" pitchFamily="34" charset="0"/>
                <a:ea typeface="Calibri" pitchFamily="34" charset="-122"/>
                <a:cs typeface="Calibri" pitchFamily="34" charset="-120"/>
              </a:rPr>
              <a:t>Format Markdown standardisé, reproductible d'une fiche à l'autre, comparable dans le temps.</a:t>
            </a:r>
            <a:endParaRPr lang="en-US" sz="1300" dirty="0"/>
          </a:p>
        </p:txBody>
      </p:sp>
      <p:sp>
        <p:nvSpPr>
          <p:cNvPr id="15" name="Shape 13"/>
          <p:cNvSpPr/>
          <p:nvPr/>
        </p:nvSpPr>
        <p:spPr>
          <a:xfrm>
            <a:off x="457200" y="4297680"/>
            <a:ext cx="5394960" cy="2194560"/>
          </a:xfrm>
          <a:prstGeom prst="rect">
            <a:avLst/>
          </a:prstGeom>
          <a:solidFill>
            <a:srgbClr val="FFFFFF"/>
          </a:solidFill>
          <a:ln w="12700">
            <a:solidFill>
              <a:srgbClr val="E5E8EC"/>
            </a:solidFill>
            <a:prstDash val="solid"/>
          </a:ln>
        </p:spPr>
      </p:sp>
      <p:sp>
        <p:nvSpPr>
          <p:cNvPr id="16" name="Shape 14"/>
          <p:cNvSpPr/>
          <p:nvPr/>
        </p:nvSpPr>
        <p:spPr>
          <a:xfrm>
            <a:off x="731520" y="4572000"/>
            <a:ext cx="640080" cy="640080"/>
          </a:xfrm>
          <a:prstGeom prst="ellipse">
            <a:avLst/>
          </a:prstGeom>
          <a:solidFill>
            <a:srgbClr val="003876"/>
          </a:solidFill>
          <a:ln w="12700">
            <a:solidFill>
              <a:srgbClr val="003876"/>
            </a:solidFill>
            <a:prstDash val="solid"/>
          </a:ln>
        </p:spPr>
      </p:sp>
      <p:sp>
        <p:nvSpPr>
          <p:cNvPr id="17" name="Text 15"/>
          <p:cNvSpPr txBox="1"/>
          <p:nvPr/>
        </p:nvSpPr>
        <p:spPr>
          <a:xfrm>
            <a:off x="731520" y="4572000"/>
            <a:ext cx="640080" cy="640080"/>
          </a:xfrm>
          <a:prstGeom prst="rect">
            <a:avLst/>
          </a:prstGeom>
          <a:noFill/>
          <a:ln/>
        </p:spPr>
        <p:txBody>
          <a:bodyPr wrap="square" lIns="0" tIns="0" rIns="0" bIns="0" rtlCol="0" anchor="ctr"/>
          <a:lstStyle/>
          <a:p>
            <a:pPr algn="ctr" indent="0" marL="0">
              <a:buNone/>
            </a:pPr>
            <a:r>
              <a:rPr lang="en-US" sz="2200" b="1" dirty="0">
                <a:solidFill>
                  <a:srgbClr val="F5B700"/>
                </a:solidFill>
                <a:latin typeface="Cambria" pitchFamily="34" charset="0"/>
                <a:ea typeface="Cambria" pitchFamily="34" charset="-122"/>
                <a:cs typeface="Cambria" pitchFamily="34" charset="-120"/>
              </a:rPr>
              <a:t>③</a:t>
            </a:r>
            <a:endParaRPr lang="en-US" sz="2200" dirty="0"/>
          </a:p>
        </p:txBody>
      </p:sp>
      <p:sp>
        <p:nvSpPr>
          <p:cNvPr id="18" name="Text 16"/>
          <p:cNvSpPr txBox="1"/>
          <p:nvPr/>
        </p:nvSpPr>
        <p:spPr>
          <a:xfrm>
            <a:off x="1508760" y="4617720"/>
            <a:ext cx="4114800" cy="548640"/>
          </a:xfrm>
          <a:prstGeom prst="rect">
            <a:avLst/>
          </a:prstGeom>
          <a:noFill/>
          <a:ln/>
        </p:spPr>
        <p:txBody>
          <a:bodyPr wrap="square" lIns="0" tIns="0" rIns="0" bIns="0" rtlCol="0" anchor="ctr"/>
          <a:lstStyle/>
          <a:p>
            <a:pPr indent="0" marL="0">
              <a:buNone/>
            </a:pPr>
            <a:r>
              <a:rPr lang="en-US" sz="1800" b="1" dirty="0">
                <a:solidFill>
                  <a:srgbClr val="003876"/>
                </a:solidFill>
                <a:latin typeface="Cambria" pitchFamily="34" charset="0"/>
                <a:ea typeface="Cambria" pitchFamily="34" charset="-122"/>
                <a:cs typeface="Cambria" pitchFamily="34" charset="-120"/>
              </a:rPr>
              <a:t>Anti-hallucination</a:t>
            </a:r>
            <a:endParaRPr lang="en-US" sz="1800" dirty="0"/>
          </a:p>
        </p:txBody>
      </p:sp>
      <p:sp>
        <p:nvSpPr>
          <p:cNvPr id="19" name="Text 17"/>
          <p:cNvSpPr txBox="1"/>
          <p:nvPr/>
        </p:nvSpPr>
        <p:spPr>
          <a:xfrm>
            <a:off x="1508760" y="5212080"/>
            <a:ext cx="4114800" cy="1188720"/>
          </a:xfrm>
          <a:prstGeom prst="rect">
            <a:avLst/>
          </a:prstGeom>
          <a:noFill/>
          <a:ln/>
        </p:spPr>
        <p:txBody>
          <a:bodyPr wrap="square" lIns="0" tIns="0" rIns="0" bIns="0" rtlCol="0" anchor="ctr"/>
          <a:lstStyle/>
          <a:p>
            <a:pPr indent="0" marL="0">
              <a:buNone/>
            </a:pPr>
            <a:r>
              <a:rPr lang="en-US" sz="1300" dirty="0">
                <a:solidFill>
                  <a:srgbClr val="3A4552"/>
                </a:solidFill>
                <a:latin typeface="Calibri" pitchFamily="34" charset="0"/>
                <a:ea typeface="Calibri" pitchFamily="34" charset="-122"/>
                <a:cs typeface="Calibri" pitchFamily="34" charset="-120"/>
              </a:rPr>
              <a:t>Règles explicites dans le prompt : « [Non précisé dans le document] » plutôt que d'inventer.</a:t>
            </a:r>
            <a:endParaRPr lang="en-US" sz="1300" dirty="0"/>
          </a:p>
        </p:txBody>
      </p:sp>
      <p:sp>
        <p:nvSpPr>
          <p:cNvPr id="20" name="Shape 18"/>
          <p:cNvSpPr/>
          <p:nvPr/>
        </p:nvSpPr>
        <p:spPr>
          <a:xfrm>
            <a:off x="6309360" y="4297680"/>
            <a:ext cx="5394960" cy="2194560"/>
          </a:xfrm>
          <a:prstGeom prst="rect">
            <a:avLst/>
          </a:prstGeom>
          <a:solidFill>
            <a:srgbClr val="FFFFFF"/>
          </a:solidFill>
          <a:ln w="12700">
            <a:solidFill>
              <a:srgbClr val="E5E8EC"/>
            </a:solidFill>
            <a:prstDash val="solid"/>
          </a:ln>
        </p:spPr>
      </p:sp>
      <p:sp>
        <p:nvSpPr>
          <p:cNvPr id="21" name="Shape 19"/>
          <p:cNvSpPr/>
          <p:nvPr/>
        </p:nvSpPr>
        <p:spPr>
          <a:xfrm>
            <a:off x="6583680" y="4572000"/>
            <a:ext cx="640080" cy="640080"/>
          </a:xfrm>
          <a:prstGeom prst="ellipse">
            <a:avLst/>
          </a:prstGeom>
          <a:solidFill>
            <a:srgbClr val="003876"/>
          </a:solidFill>
          <a:ln w="12700">
            <a:solidFill>
              <a:srgbClr val="003876"/>
            </a:solidFill>
            <a:prstDash val="solid"/>
          </a:ln>
        </p:spPr>
      </p:sp>
      <p:sp>
        <p:nvSpPr>
          <p:cNvPr id="22" name="Text 20"/>
          <p:cNvSpPr txBox="1"/>
          <p:nvPr/>
        </p:nvSpPr>
        <p:spPr>
          <a:xfrm>
            <a:off x="6583680" y="4572000"/>
            <a:ext cx="640080" cy="640080"/>
          </a:xfrm>
          <a:prstGeom prst="rect">
            <a:avLst/>
          </a:prstGeom>
          <a:noFill/>
          <a:ln/>
        </p:spPr>
        <p:txBody>
          <a:bodyPr wrap="square" lIns="0" tIns="0" rIns="0" bIns="0" rtlCol="0" anchor="ctr"/>
          <a:lstStyle/>
          <a:p>
            <a:pPr algn="ctr" indent="0" marL="0">
              <a:buNone/>
            </a:pPr>
            <a:r>
              <a:rPr lang="en-US" sz="2200" b="1" dirty="0">
                <a:solidFill>
                  <a:srgbClr val="F5B700"/>
                </a:solidFill>
                <a:latin typeface="Cambria" pitchFamily="34" charset="0"/>
                <a:ea typeface="Cambria" pitchFamily="34" charset="-122"/>
                <a:cs typeface="Cambria" pitchFamily="34" charset="-120"/>
              </a:rPr>
              <a:t>④</a:t>
            </a:r>
            <a:endParaRPr lang="en-US" sz="2200" dirty="0"/>
          </a:p>
        </p:txBody>
      </p:sp>
      <p:sp>
        <p:nvSpPr>
          <p:cNvPr id="23" name="Text 21"/>
          <p:cNvSpPr txBox="1"/>
          <p:nvPr/>
        </p:nvSpPr>
        <p:spPr>
          <a:xfrm>
            <a:off x="7360920" y="4617720"/>
            <a:ext cx="4114800" cy="548640"/>
          </a:xfrm>
          <a:prstGeom prst="rect">
            <a:avLst/>
          </a:prstGeom>
          <a:noFill/>
          <a:ln/>
        </p:spPr>
        <p:txBody>
          <a:bodyPr wrap="square" lIns="0" tIns="0" rIns="0" bIns="0" rtlCol="0" anchor="ctr"/>
          <a:lstStyle/>
          <a:p>
            <a:pPr indent="0" marL="0">
              <a:buNone/>
            </a:pPr>
            <a:r>
              <a:rPr lang="en-US" sz="1800" b="1" dirty="0">
                <a:solidFill>
                  <a:srgbClr val="003876"/>
                </a:solidFill>
                <a:latin typeface="Cambria" pitchFamily="34" charset="0"/>
                <a:ea typeface="Cambria" pitchFamily="34" charset="-122"/>
                <a:cs typeface="Cambria" pitchFamily="34" charset="-120"/>
              </a:rPr>
              <a:t>Capitalisation</a:t>
            </a:r>
            <a:endParaRPr lang="en-US" sz="1800" dirty="0"/>
          </a:p>
        </p:txBody>
      </p:sp>
      <p:sp>
        <p:nvSpPr>
          <p:cNvPr id="24" name="Text 22"/>
          <p:cNvSpPr txBox="1"/>
          <p:nvPr/>
        </p:nvSpPr>
        <p:spPr>
          <a:xfrm>
            <a:off x="7360920" y="5212080"/>
            <a:ext cx="4114800" cy="1188720"/>
          </a:xfrm>
          <a:prstGeom prst="rect">
            <a:avLst/>
          </a:prstGeom>
          <a:noFill/>
          <a:ln/>
        </p:spPr>
        <p:txBody>
          <a:bodyPr wrap="square" lIns="0" tIns="0" rIns="0" bIns="0" rtlCol="0" anchor="ctr"/>
          <a:lstStyle/>
          <a:p>
            <a:pPr indent="0" marL="0">
              <a:buNone/>
            </a:pPr>
            <a:r>
              <a:rPr lang="en-US" sz="1300" dirty="0">
                <a:solidFill>
                  <a:srgbClr val="3A4552"/>
                </a:solidFill>
                <a:latin typeface="Calibri" pitchFamily="34" charset="0"/>
                <a:ea typeface="Calibri" pitchFamily="34" charset="-122"/>
                <a:cs typeface="Calibri" pitchFamily="34" charset="-120"/>
              </a:rPr>
              <a:t>Chaque fiche alimente un corpus versionné, réutilisable par soi et par l'équipe.</a:t>
            </a:r>
            <a:endParaRPr lang="en-US" sz="1300" dirty="0"/>
          </a:p>
        </p:txBody>
      </p:sp>
      <p:sp>
        <p:nvSpPr>
          <p:cNvPr id="25" name="Shape 23"/>
          <p:cNvSpPr/>
          <p:nvPr/>
        </p:nvSpPr>
        <p:spPr>
          <a:xfrm>
            <a:off x="0" y="6629400"/>
            <a:ext cx="12161520" cy="18288"/>
          </a:xfrm>
          <a:prstGeom prst="rect">
            <a:avLst/>
          </a:prstGeom>
          <a:solidFill>
            <a:srgbClr val="E5E8EC"/>
          </a:solidFill>
          <a:ln w="12700">
            <a:solidFill>
              <a:srgbClr val="E5E8EC"/>
            </a:solidFill>
            <a:prstDash val="solid"/>
          </a:ln>
        </p:spPr>
      </p:sp>
      <p:sp>
        <p:nvSpPr>
          <p:cNvPr id="26" name="Text 24"/>
          <p:cNvSpPr txBox="1"/>
          <p:nvPr/>
        </p:nvSpPr>
        <p:spPr>
          <a:xfrm>
            <a:off x="457200" y="6656832"/>
            <a:ext cx="8229600" cy="228600"/>
          </a:xfrm>
          <a:prstGeom prst="rect">
            <a:avLst/>
          </a:prstGeom>
          <a:noFill/>
          <a:ln/>
        </p:spPr>
        <p:txBody>
          <a:bodyPr wrap="square" lIns="0" tIns="0" rIns="0" bIns="0" rtlCol="0" anchor="ctr"/>
          <a:lstStyle/>
          <a:p>
            <a:pPr indent="0" marL="0">
              <a:buNone/>
            </a:pPr>
            <a:r>
              <a:rPr lang="en-US" sz="900" dirty="0">
                <a:solidFill>
                  <a:srgbClr val="6B7683"/>
                </a:solidFill>
                <a:latin typeface="Calibri" pitchFamily="34" charset="0"/>
                <a:ea typeface="Calibri" pitchFamily="34" charset="-122"/>
                <a:cs typeface="Calibri" pitchFamily="34" charset="-120"/>
              </a:rPr>
              <a:t>LCL — Paiements  •  Méthode d'apprentissage augmentée par IA</a:t>
            </a:r>
            <a:endParaRPr lang="en-US" sz="900" dirty="0"/>
          </a:p>
        </p:txBody>
      </p:sp>
      <p:sp>
        <p:nvSpPr>
          <p:cNvPr id="27" name="Text 25"/>
          <p:cNvSpPr txBox="1"/>
          <p:nvPr/>
        </p:nvSpPr>
        <p:spPr>
          <a:xfrm>
            <a:off x="11247120" y="6656832"/>
            <a:ext cx="548640" cy="228600"/>
          </a:xfrm>
          <a:prstGeom prst="rect">
            <a:avLst/>
          </a:prstGeom>
          <a:noFill/>
          <a:ln/>
        </p:spPr>
        <p:txBody>
          <a:bodyPr wrap="square" lIns="0" tIns="0" rIns="0" bIns="0" rtlCol="0" anchor="ctr"/>
          <a:lstStyle/>
          <a:p>
            <a:pPr algn="r" indent="0" marL="0">
              <a:buNone/>
            </a:pPr>
            <a:r>
              <a:rPr lang="en-US" sz="900" dirty="0">
                <a:solidFill>
                  <a:srgbClr val="6B7683"/>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7160" cy="365760"/>
          </a:xfrm>
          <a:prstGeom prst="rect">
            <a:avLst/>
          </a:prstGeom>
          <a:solidFill>
            <a:srgbClr val="F5B700"/>
          </a:solidFill>
          <a:ln w="12700">
            <a:solidFill>
              <a:srgbClr val="F5B700"/>
            </a:solidFill>
            <a:prstDash val="solid"/>
          </a:ln>
        </p:spPr>
      </p:sp>
      <p:sp>
        <p:nvSpPr>
          <p:cNvPr id="3" name="Text 1"/>
          <p:cNvSpPr txBox="1"/>
          <p:nvPr/>
        </p:nvSpPr>
        <p:spPr>
          <a:xfrm>
            <a:off x="685800" y="457200"/>
            <a:ext cx="5486400" cy="365760"/>
          </a:xfrm>
          <a:prstGeom prst="rect">
            <a:avLst/>
          </a:prstGeom>
          <a:noFill/>
          <a:ln/>
        </p:spPr>
        <p:txBody>
          <a:bodyPr wrap="square" lIns="0" tIns="0" rIns="0" bIns="0" rtlCol="0" anchor="ctr"/>
          <a:lstStyle/>
          <a:p>
            <a:pPr indent="0" marL="0">
              <a:buNone/>
            </a:pPr>
            <a:r>
              <a:rPr lang="en-US" sz="1100" b="1" spc="400" kern="0" dirty="0">
                <a:solidFill>
                  <a:srgbClr val="003876"/>
                </a:solidFill>
                <a:latin typeface="Calibri" pitchFamily="34" charset="0"/>
                <a:ea typeface="Calibri" pitchFamily="34" charset="-122"/>
                <a:cs typeface="Calibri" pitchFamily="34" charset="-120"/>
              </a:rPr>
              <a:t>04  ·  PROMPT</a:t>
            </a:r>
            <a:endParaRPr lang="en-US" sz="1100" dirty="0"/>
          </a:p>
        </p:txBody>
      </p:sp>
      <p:sp>
        <p:nvSpPr>
          <p:cNvPr id="4" name="Text 2"/>
          <p:cNvSpPr txBox="1"/>
          <p:nvPr/>
        </p:nvSpPr>
        <p:spPr>
          <a:xfrm>
            <a:off x="457200" y="914400"/>
            <a:ext cx="11247120" cy="731520"/>
          </a:xfrm>
          <a:prstGeom prst="rect">
            <a:avLst/>
          </a:prstGeom>
          <a:noFill/>
          <a:ln/>
        </p:spPr>
        <p:txBody>
          <a:bodyPr wrap="square" lIns="0" tIns="0" rIns="0" bIns="0" rtlCol="0" anchor="ctr"/>
          <a:lstStyle/>
          <a:p>
            <a:pPr indent="0" marL="0">
              <a:buNone/>
            </a:pPr>
            <a:r>
              <a:rPr lang="en-US" sz="3200" b="1" dirty="0">
                <a:solidFill>
                  <a:srgbClr val="003876"/>
                </a:solidFill>
                <a:latin typeface="Cambria" pitchFamily="34" charset="0"/>
                <a:ea typeface="Cambria" pitchFamily="34" charset="-122"/>
                <a:cs typeface="Cambria" pitchFamily="34" charset="-120"/>
              </a:rPr>
              <a:t>Anatomie d'un prompt qui produit une fiche exploitable</a:t>
            </a:r>
            <a:endParaRPr lang="en-US" sz="3200" dirty="0"/>
          </a:p>
        </p:txBody>
      </p:sp>
      <p:sp>
        <p:nvSpPr>
          <p:cNvPr id="5" name="Shape 3"/>
          <p:cNvSpPr/>
          <p:nvPr/>
        </p:nvSpPr>
        <p:spPr>
          <a:xfrm>
            <a:off x="457200" y="1920240"/>
            <a:ext cx="109728" cy="731520"/>
          </a:xfrm>
          <a:prstGeom prst="rect">
            <a:avLst/>
          </a:prstGeom>
          <a:solidFill>
            <a:srgbClr val="F5B700"/>
          </a:solidFill>
          <a:ln w="12700">
            <a:solidFill>
              <a:srgbClr val="F5B700"/>
            </a:solidFill>
            <a:prstDash val="solid"/>
          </a:ln>
        </p:spPr>
      </p:sp>
      <p:sp>
        <p:nvSpPr>
          <p:cNvPr id="6" name="Text 4"/>
          <p:cNvSpPr txBox="1"/>
          <p:nvPr/>
        </p:nvSpPr>
        <p:spPr>
          <a:xfrm>
            <a:off x="685800" y="1920240"/>
            <a:ext cx="5029200" cy="320040"/>
          </a:xfrm>
          <a:prstGeom prst="rect">
            <a:avLst/>
          </a:prstGeom>
          <a:noFill/>
          <a:ln/>
        </p:spPr>
        <p:txBody>
          <a:bodyPr wrap="square" lIns="0" tIns="0" rIns="0" bIns="0" rtlCol="0" anchor="ctr"/>
          <a:lstStyle/>
          <a:p>
            <a:pPr indent="0" marL="0">
              <a:buNone/>
            </a:pPr>
            <a:r>
              <a:rPr lang="en-US" sz="1200" b="1" spc="300" kern="0" dirty="0">
                <a:solidFill>
                  <a:srgbClr val="003876"/>
                </a:solidFill>
                <a:latin typeface="Calibri" pitchFamily="34" charset="0"/>
                <a:ea typeface="Calibri" pitchFamily="34" charset="-122"/>
                <a:cs typeface="Calibri" pitchFamily="34" charset="-120"/>
              </a:rPr>
              <a:t>RÔLE</a:t>
            </a:r>
            <a:endParaRPr lang="en-US" sz="1200" dirty="0"/>
          </a:p>
        </p:txBody>
      </p:sp>
      <p:sp>
        <p:nvSpPr>
          <p:cNvPr id="7" name="Text 5"/>
          <p:cNvSpPr txBox="1"/>
          <p:nvPr/>
        </p:nvSpPr>
        <p:spPr>
          <a:xfrm>
            <a:off x="685800" y="2212848"/>
            <a:ext cx="5029200" cy="45720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Expert senior ciblé et contextualisé (ex. architecte CICS/Java en banque FR).</a:t>
            </a:r>
            <a:endParaRPr lang="en-US" sz="1200" dirty="0"/>
          </a:p>
        </p:txBody>
      </p:sp>
      <p:sp>
        <p:nvSpPr>
          <p:cNvPr id="8" name="Shape 6"/>
          <p:cNvSpPr/>
          <p:nvPr/>
        </p:nvSpPr>
        <p:spPr>
          <a:xfrm>
            <a:off x="457200" y="2788920"/>
            <a:ext cx="109728" cy="731520"/>
          </a:xfrm>
          <a:prstGeom prst="rect">
            <a:avLst/>
          </a:prstGeom>
          <a:solidFill>
            <a:srgbClr val="F5B700"/>
          </a:solidFill>
          <a:ln w="12700">
            <a:solidFill>
              <a:srgbClr val="F5B700"/>
            </a:solidFill>
            <a:prstDash val="solid"/>
          </a:ln>
        </p:spPr>
      </p:sp>
      <p:sp>
        <p:nvSpPr>
          <p:cNvPr id="9" name="Text 7"/>
          <p:cNvSpPr txBox="1"/>
          <p:nvPr/>
        </p:nvSpPr>
        <p:spPr>
          <a:xfrm>
            <a:off x="685800" y="2788920"/>
            <a:ext cx="5029200" cy="320040"/>
          </a:xfrm>
          <a:prstGeom prst="rect">
            <a:avLst/>
          </a:prstGeom>
          <a:noFill/>
          <a:ln/>
        </p:spPr>
        <p:txBody>
          <a:bodyPr wrap="square" lIns="0" tIns="0" rIns="0" bIns="0" rtlCol="0" anchor="ctr"/>
          <a:lstStyle/>
          <a:p>
            <a:pPr indent="0" marL="0">
              <a:buNone/>
            </a:pPr>
            <a:r>
              <a:rPr lang="en-US" sz="1200" b="1" spc="300" kern="0" dirty="0">
                <a:solidFill>
                  <a:srgbClr val="003876"/>
                </a:solidFill>
                <a:latin typeface="Calibri" pitchFamily="34" charset="0"/>
                <a:ea typeface="Calibri" pitchFamily="34" charset="-122"/>
                <a:cs typeface="Calibri" pitchFamily="34" charset="-120"/>
              </a:rPr>
              <a:t>CONTEXTE</a:t>
            </a:r>
            <a:endParaRPr lang="en-US" sz="1200" dirty="0"/>
          </a:p>
        </p:txBody>
      </p:sp>
      <p:sp>
        <p:nvSpPr>
          <p:cNvPr id="10" name="Text 8"/>
          <p:cNvSpPr txBox="1"/>
          <p:nvPr/>
        </p:nvSpPr>
        <p:spPr>
          <a:xfrm>
            <a:off x="685800" y="3081528"/>
            <a:ext cx="5029200" cy="45720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Environnement métier, contraintes réglementaires, stack existante.</a:t>
            </a:r>
            <a:endParaRPr lang="en-US" sz="1200" dirty="0"/>
          </a:p>
        </p:txBody>
      </p:sp>
      <p:sp>
        <p:nvSpPr>
          <p:cNvPr id="11" name="Shape 9"/>
          <p:cNvSpPr/>
          <p:nvPr/>
        </p:nvSpPr>
        <p:spPr>
          <a:xfrm>
            <a:off x="457200" y="3657600"/>
            <a:ext cx="109728" cy="731520"/>
          </a:xfrm>
          <a:prstGeom prst="rect">
            <a:avLst/>
          </a:prstGeom>
          <a:solidFill>
            <a:srgbClr val="F5B700"/>
          </a:solidFill>
          <a:ln w="12700">
            <a:solidFill>
              <a:srgbClr val="F5B700"/>
            </a:solidFill>
            <a:prstDash val="solid"/>
          </a:ln>
        </p:spPr>
      </p:sp>
      <p:sp>
        <p:nvSpPr>
          <p:cNvPr id="12" name="Text 10"/>
          <p:cNvSpPr txBox="1"/>
          <p:nvPr/>
        </p:nvSpPr>
        <p:spPr>
          <a:xfrm>
            <a:off x="685800" y="3657600"/>
            <a:ext cx="5029200" cy="320040"/>
          </a:xfrm>
          <a:prstGeom prst="rect">
            <a:avLst/>
          </a:prstGeom>
          <a:noFill/>
          <a:ln/>
        </p:spPr>
        <p:txBody>
          <a:bodyPr wrap="square" lIns="0" tIns="0" rIns="0" bIns="0" rtlCol="0" anchor="ctr"/>
          <a:lstStyle/>
          <a:p>
            <a:pPr indent="0" marL="0">
              <a:buNone/>
            </a:pPr>
            <a:r>
              <a:rPr lang="en-US" sz="1200" b="1" spc="300" kern="0" dirty="0">
                <a:solidFill>
                  <a:srgbClr val="003876"/>
                </a:solidFill>
                <a:latin typeface="Calibri" pitchFamily="34" charset="0"/>
                <a:ea typeface="Calibri" pitchFamily="34" charset="-122"/>
                <a:cs typeface="Calibri" pitchFamily="34" charset="-120"/>
              </a:rPr>
              <a:t>RÈGLES DE FIDÉLITÉ</a:t>
            </a:r>
            <a:endParaRPr lang="en-US" sz="1200" dirty="0"/>
          </a:p>
        </p:txBody>
      </p:sp>
      <p:sp>
        <p:nvSpPr>
          <p:cNvPr id="13" name="Text 11"/>
          <p:cNvSpPr txBox="1"/>
          <p:nvPr/>
        </p:nvSpPr>
        <p:spPr>
          <a:xfrm>
            <a:off x="685800" y="3950208"/>
            <a:ext cx="5029200" cy="45720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Interdiction d'inventer, citations obligatoires, gestion des sources contradictoires.</a:t>
            </a:r>
            <a:endParaRPr lang="en-US" sz="1200" dirty="0"/>
          </a:p>
        </p:txBody>
      </p:sp>
      <p:sp>
        <p:nvSpPr>
          <p:cNvPr id="14" name="Shape 12"/>
          <p:cNvSpPr/>
          <p:nvPr/>
        </p:nvSpPr>
        <p:spPr>
          <a:xfrm>
            <a:off x="457200" y="4526280"/>
            <a:ext cx="109728" cy="731520"/>
          </a:xfrm>
          <a:prstGeom prst="rect">
            <a:avLst/>
          </a:prstGeom>
          <a:solidFill>
            <a:srgbClr val="F5B700"/>
          </a:solidFill>
          <a:ln w="12700">
            <a:solidFill>
              <a:srgbClr val="F5B700"/>
            </a:solidFill>
            <a:prstDash val="solid"/>
          </a:ln>
        </p:spPr>
      </p:sp>
      <p:sp>
        <p:nvSpPr>
          <p:cNvPr id="15" name="Text 13"/>
          <p:cNvSpPr txBox="1"/>
          <p:nvPr/>
        </p:nvSpPr>
        <p:spPr>
          <a:xfrm>
            <a:off x="685800" y="4526280"/>
            <a:ext cx="5029200" cy="320040"/>
          </a:xfrm>
          <a:prstGeom prst="rect">
            <a:avLst/>
          </a:prstGeom>
          <a:noFill/>
          <a:ln/>
        </p:spPr>
        <p:txBody>
          <a:bodyPr wrap="square" lIns="0" tIns="0" rIns="0" bIns="0" rtlCol="0" anchor="ctr"/>
          <a:lstStyle/>
          <a:p>
            <a:pPr indent="0" marL="0">
              <a:buNone/>
            </a:pPr>
            <a:r>
              <a:rPr lang="en-US" sz="1200" b="1" spc="300" kern="0" dirty="0">
                <a:solidFill>
                  <a:srgbClr val="003876"/>
                </a:solidFill>
                <a:latin typeface="Calibri" pitchFamily="34" charset="0"/>
                <a:ea typeface="Calibri" pitchFamily="34" charset="-122"/>
                <a:cs typeface="Calibri" pitchFamily="34" charset="-120"/>
              </a:rPr>
              <a:t>STRUCTURE DE SORTIE</a:t>
            </a:r>
            <a:endParaRPr lang="en-US" sz="1200" dirty="0"/>
          </a:p>
        </p:txBody>
      </p:sp>
      <p:sp>
        <p:nvSpPr>
          <p:cNvPr id="16" name="Text 14"/>
          <p:cNvSpPr txBox="1"/>
          <p:nvPr/>
        </p:nvSpPr>
        <p:spPr>
          <a:xfrm>
            <a:off x="685800" y="4818888"/>
            <a:ext cx="5029200" cy="45720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Sections imposées en Markdown : synthèse, concepts, pièges, cheat-sheet.</a:t>
            </a:r>
            <a:endParaRPr lang="en-US" sz="1200" dirty="0"/>
          </a:p>
        </p:txBody>
      </p:sp>
      <p:sp>
        <p:nvSpPr>
          <p:cNvPr id="17" name="Shape 15"/>
          <p:cNvSpPr/>
          <p:nvPr/>
        </p:nvSpPr>
        <p:spPr>
          <a:xfrm>
            <a:off x="457200" y="5394960"/>
            <a:ext cx="109728" cy="731520"/>
          </a:xfrm>
          <a:prstGeom prst="rect">
            <a:avLst/>
          </a:prstGeom>
          <a:solidFill>
            <a:srgbClr val="F5B700"/>
          </a:solidFill>
          <a:ln w="12700">
            <a:solidFill>
              <a:srgbClr val="F5B700"/>
            </a:solidFill>
            <a:prstDash val="solid"/>
          </a:ln>
        </p:spPr>
      </p:sp>
      <p:sp>
        <p:nvSpPr>
          <p:cNvPr id="18" name="Text 16"/>
          <p:cNvSpPr txBox="1"/>
          <p:nvPr/>
        </p:nvSpPr>
        <p:spPr>
          <a:xfrm>
            <a:off x="685800" y="5394960"/>
            <a:ext cx="5029200" cy="320040"/>
          </a:xfrm>
          <a:prstGeom prst="rect">
            <a:avLst/>
          </a:prstGeom>
          <a:noFill/>
          <a:ln/>
        </p:spPr>
        <p:txBody>
          <a:bodyPr wrap="square" lIns="0" tIns="0" rIns="0" bIns="0" rtlCol="0" anchor="ctr"/>
          <a:lstStyle/>
          <a:p>
            <a:pPr indent="0" marL="0">
              <a:buNone/>
            </a:pPr>
            <a:r>
              <a:rPr lang="en-US" sz="1200" b="1" spc="300" kern="0" dirty="0">
                <a:solidFill>
                  <a:srgbClr val="003876"/>
                </a:solidFill>
                <a:latin typeface="Calibri" pitchFamily="34" charset="0"/>
                <a:ea typeface="Calibri" pitchFamily="34" charset="-122"/>
                <a:cs typeface="Calibri" pitchFamily="34" charset="-120"/>
              </a:rPr>
              <a:t>CONTRAINTES DE STYLE</a:t>
            </a:r>
            <a:endParaRPr lang="en-US" sz="1200" dirty="0"/>
          </a:p>
        </p:txBody>
      </p:sp>
      <p:sp>
        <p:nvSpPr>
          <p:cNvPr id="19" name="Text 17"/>
          <p:cNvSpPr txBox="1"/>
          <p:nvPr/>
        </p:nvSpPr>
        <p:spPr>
          <a:xfrm>
            <a:off x="685800" y="5687568"/>
            <a:ext cx="5029200" cy="45720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Densité, français technique, code en blocs, acronymes développés une fois.</a:t>
            </a:r>
            <a:endParaRPr lang="en-US" sz="1200" dirty="0"/>
          </a:p>
        </p:txBody>
      </p:sp>
      <p:sp>
        <p:nvSpPr>
          <p:cNvPr id="20" name="Shape 18"/>
          <p:cNvSpPr/>
          <p:nvPr/>
        </p:nvSpPr>
        <p:spPr>
          <a:xfrm>
            <a:off x="6400800" y="1920240"/>
            <a:ext cx="5303520" cy="4480560"/>
          </a:xfrm>
          <a:prstGeom prst="rect">
            <a:avLst/>
          </a:prstGeom>
          <a:solidFill>
            <a:srgbClr val="002456"/>
          </a:solidFill>
          <a:ln w="12700">
            <a:solidFill>
              <a:srgbClr val="002456"/>
            </a:solidFill>
            <a:prstDash val="solid"/>
          </a:ln>
        </p:spPr>
      </p:sp>
      <p:sp>
        <p:nvSpPr>
          <p:cNvPr id="21" name="Text 19"/>
          <p:cNvSpPr txBox="1"/>
          <p:nvPr/>
        </p:nvSpPr>
        <p:spPr>
          <a:xfrm>
            <a:off x="6675120" y="2057400"/>
            <a:ext cx="4754880" cy="274320"/>
          </a:xfrm>
          <a:prstGeom prst="rect">
            <a:avLst/>
          </a:prstGeom>
          <a:noFill/>
          <a:ln/>
        </p:spPr>
        <p:txBody>
          <a:bodyPr wrap="square" lIns="0" tIns="0" rIns="0" bIns="0" rtlCol="0" anchor="ctr"/>
          <a:lstStyle/>
          <a:p>
            <a:pPr indent="0" marL="0">
              <a:buNone/>
            </a:pPr>
            <a:r>
              <a:rPr lang="en-US" sz="1000" b="1" spc="300" kern="0" dirty="0">
                <a:solidFill>
                  <a:srgbClr val="F5B700"/>
                </a:solidFill>
                <a:latin typeface="Calibri" pitchFamily="34" charset="0"/>
                <a:ea typeface="Calibri" pitchFamily="34" charset="-122"/>
                <a:cs typeface="Calibri" pitchFamily="34" charset="-120"/>
              </a:rPr>
              <a:t>EXTRAIT — prompt réel</a:t>
            </a:r>
            <a:endParaRPr lang="en-US" sz="1000" dirty="0"/>
          </a:p>
        </p:txBody>
      </p:sp>
      <p:sp>
        <p:nvSpPr>
          <p:cNvPr id="22" name="Text 20"/>
          <p:cNvSpPr txBox="1"/>
          <p:nvPr/>
        </p:nvSpPr>
        <p:spPr>
          <a:xfrm>
            <a:off x="6675120" y="2423160"/>
            <a:ext cx="4754880" cy="3886200"/>
          </a:xfrm>
          <a:prstGeom prst="rect">
            <a:avLst/>
          </a:prstGeom>
          <a:noFill/>
          <a:ln/>
        </p:spPr>
        <p:txBody>
          <a:bodyPr wrap="square" lIns="0" tIns="0" rIns="0" bIns="0" rtlCol="0" anchor="t"/>
          <a:lstStyle/>
          <a:p>
            <a:pPr indent="0" marL="0">
              <a:buNone/>
            </a:pPr>
            <a:r>
              <a:rPr lang="en-US" sz="1100" dirty="0">
                <a:solidFill>
                  <a:srgbClr val="CADCFC"/>
                </a:solidFill>
                <a:latin typeface="Courier New" pitchFamily="34" charset="0"/>
                <a:ea typeface="Courier New" pitchFamily="34" charset="-122"/>
                <a:cs typeface="Courier New" pitchFamily="34" charset="-120"/>
              </a:rPr>
              <a:t># RÔLE</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Tu es un architecte senior CICS/Java</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en banque française.</a:t>
            </a:r>
            <a:endParaRPr lang="en-US" sz="1100" dirty="0"/>
          </a:p>
          <a:p>
            <a:pPr indent="0" marL="0">
              <a:buNone/>
            </a:pP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 MISSION</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Lis le Redpaper via web_fetch.</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Produis une fiche technique en</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français, dense, exploitable.</a:t>
            </a:r>
            <a:endParaRPr lang="en-US" sz="1100" dirty="0"/>
          </a:p>
          <a:p>
            <a:pPr indent="0" marL="0">
              <a:buNone/>
            </a:pP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 RÈGLES DE FIDÉLITÉ</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1. Aucune invention. Si une info</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   manque : "[Non précisé]".</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2. Cite les sections (§ 3.2).</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3. Signale les divergences</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   slide / transcript.</a:t>
            </a:r>
            <a:endParaRPr lang="en-US" sz="1100" dirty="0"/>
          </a:p>
          <a:p>
            <a:pPr indent="0" marL="0">
              <a:buNone/>
            </a:pP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 STRUCTURE</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 Synthèse exécutive</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 Concepts fondamentaux</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 Pièges et non-dits</a:t>
            </a:r>
            <a:endParaRPr lang="en-US" sz="1100" dirty="0"/>
          </a:p>
          <a:p>
            <a:pPr indent="0" marL="0">
              <a:buNone/>
            </a:pPr>
            <a:r>
              <a:rPr lang="en-US" sz="1100" dirty="0">
                <a:solidFill>
                  <a:srgbClr val="CADCFC"/>
                </a:solidFill>
                <a:latin typeface="Courier New" pitchFamily="34" charset="0"/>
                <a:ea typeface="Courier New" pitchFamily="34" charset="-122"/>
                <a:cs typeface="Courier New" pitchFamily="34" charset="-120"/>
              </a:rPr>
              <a:t>## Cheat-sheet finale</a:t>
            </a:r>
            <a:endParaRPr lang="en-US" sz="1100" dirty="0"/>
          </a:p>
        </p:txBody>
      </p:sp>
      <p:sp>
        <p:nvSpPr>
          <p:cNvPr id="23" name="Shape 21"/>
          <p:cNvSpPr/>
          <p:nvPr/>
        </p:nvSpPr>
        <p:spPr>
          <a:xfrm>
            <a:off x="0" y="6629400"/>
            <a:ext cx="12161520" cy="18288"/>
          </a:xfrm>
          <a:prstGeom prst="rect">
            <a:avLst/>
          </a:prstGeom>
          <a:solidFill>
            <a:srgbClr val="E5E8EC"/>
          </a:solidFill>
          <a:ln w="12700">
            <a:solidFill>
              <a:srgbClr val="E5E8EC"/>
            </a:solidFill>
            <a:prstDash val="solid"/>
          </a:ln>
        </p:spPr>
      </p:sp>
      <p:sp>
        <p:nvSpPr>
          <p:cNvPr id="24" name="Text 22"/>
          <p:cNvSpPr txBox="1"/>
          <p:nvPr/>
        </p:nvSpPr>
        <p:spPr>
          <a:xfrm>
            <a:off x="457200" y="6656832"/>
            <a:ext cx="8229600" cy="228600"/>
          </a:xfrm>
          <a:prstGeom prst="rect">
            <a:avLst/>
          </a:prstGeom>
          <a:noFill/>
          <a:ln/>
        </p:spPr>
        <p:txBody>
          <a:bodyPr wrap="square" lIns="0" tIns="0" rIns="0" bIns="0" rtlCol="0" anchor="ctr"/>
          <a:lstStyle/>
          <a:p>
            <a:pPr indent="0" marL="0">
              <a:buNone/>
            </a:pPr>
            <a:r>
              <a:rPr lang="en-US" sz="900" dirty="0">
                <a:solidFill>
                  <a:srgbClr val="6B7683"/>
                </a:solidFill>
                <a:latin typeface="Calibri" pitchFamily="34" charset="0"/>
                <a:ea typeface="Calibri" pitchFamily="34" charset="-122"/>
                <a:cs typeface="Calibri" pitchFamily="34" charset="-120"/>
              </a:rPr>
              <a:t>LCL — Paiements  •  Méthode d'apprentissage augmentée par IA</a:t>
            </a:r>
            <a:endParaRPr lang="en-US" sz="900" dirty="0"/>
          </a:p>
        </p:txBody>
      </p:sp>
      <p:sp>
        <p:nvSpPr>
          <p:cNvPr id="25" name="Text 23"/>
          <p:cNvSpPr txBox="1"/>
          <p:nvPr/>
        </p:nvSpPr>
        <p:spPr>
          <a:xfrm>
            <a:off x="11247120" y="6656832"/>
            <a:ext cx="548640" cy="228600"/>
          </a:xfrm>
          <a:prstGeom prst="rect">
            <a:avLst/>
          </a:prstGeom>
          <a:noFill/>
          <a:ln/>
        </p:spPr>
        <p:txBody>
          <a:bodyPr wrap="square" lIns="0" tIns="0" rIns="0" bIns="0" rtlCol="0" anchor="ctr"/>
          <a:lstStyle/>
          <a:p>
            <a:pPr algn="r" indent="0" marL="0">
              <a:buNone/>
            </a:pPr>
            <a:r>
              <a:rPr lang="en-US" sz="900" dirty="0">
                <a:solidFill>
                  <a:srgbClr val="6B7683"/>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7160" cy="365760"/>
          </a:xfrm>
          <a:prstGeom prst="rect">
            <a:avLst/>
          </a:prstGeom>
          <a:solidFill>
            <a:srgbClr val="F5B700"/>
          </a:solidFill>
          <a:ln w="12700">
            <a:solidFill>
              <a:srgbClr val="F5B700"/>
            </a:solidFill>
            <a:prstDash val="solid"/>
          </a:ln>
        </p:spPr>
      </p:sp>
      <p:sp>
        <p:nvSpPr>
          <p:cNvPr id="3" name="Text 1"/>
          <p:cNvSpPr txBox="1"/>
          <p:nvPr/>
        </p:nvSpPr>
        <p:spPr>
          <a:xfrm>
            <a:off x="685800" y="457200"/>
            <a:ext cx="5486400" cy="365760"/>
          </a:xfrm>
          <a:prstGeom prst="rect">
            <a:avLst/>
          </a:prstGeom>
          <a:noFill/>
          <a:ln/>
        </p:spPr>
        <p:txBody>
          <a:bodyPr wrap="square" lIns="0" tIns="0" rIns="0" bIns="0" rtlCol="0" anchor="ctr"/>
          <a:lstStyle/>
          <a:p>
            <a:pPr indent="0" marL="0">
              <a:buNone/>
            </a:pPr>
            <a:r>
              <a:rPr lang="en-US" sz="1100" b="1" spc="400" kern="0" dirty="0">
                <a:solidFill>
                  <a:srgbClr val="003876"/>
                </a:solidFill>
                <a:latin typeface="Calibri" pitchFamily="34" charset="0"/>
                <a:ea typeface="Calibri" pitchFamily="34" charset="-122"/>
                <a:cs typeface="Calibri" pitchFamily="34" charset="-120"/>
              </a:rPr>
              <a:t>05  ·  DÉMONSTRATION</a:t>
            </a:r>
            <a:endParaRPr lang="en-US" sz="1100" dirty="0"/>
          </a:p>
        </p:txBody>
      </p:sp>
      <p:sp>
        <p:nvSpPr>
          <p:cNvPr id="4" name="Text 2"/>
          <p:cNvSpPr txBox="1"/>
          <p:nvPr/>
        </p:nvSpPr>
        <p:spPr>
          <a:xfrm>
            <a:off x="457200" y="914400"/>
            <a:ext cx="11247120" cy="731520"/>
          </a:xfrm>
          <a:prstGeom prst="rect">
            <a:avLst/>
          </a:prstGeom>
          <a:noFill/>
          <a:ln/>
        </p:spPr>
        <p:txBody>
          <a:bodyPr wrap="square" lIns="0" tIns="0" rIns="0" bIns="0" rtlCol="0" anchor="ctr"/>
          <a:lstStyle/>
          <a:p>
            <a:pPr indent="0" marL="0">
              <a:buNone/>
            </a:pPr>
            <a:r>
              <a:rPr lang="en-US" sz="3200" b="1" dirty="0">
                <a:solidFill>
                  <a:srgbClr val="003876"/>
                </a:solidFill>
                <a:latin typeface="Cambria" pitchFamily="34" charset="0"/>
                <a:ea typeface="Cambria" pitchFamily="34" charset="-122"/>
                <a:cs typeface="Cambria" pitchFamily="34" charset="-120"/>
              </a:rPr>
              <a:t>Avant / après : le même Redbook, deux expériences</a:t>
            </a:r>
            <a:endParaRPr lang="en-US" sz="3200" dirty="0"/>
          </a:p>
        </p:txBody>
      </p:sp>
      <p:sp>
        <p:nvSpPr>
          <p:cNvPr id="5" name="Shape 3"/>
          <p:cNvSpPr/>
          <p:nvPr/>
        </p:nvSpPr>
        <p:spPr>
          <a:xfrm>
            <a:off x="457200" y="1920240"/>
            <a:ext cx="5486400" cy="4480560"/>
          </a:xfrm>
          <a:prstGeom prst="rect">
            <a:avLst/>
          </a:prstGeom>
          <a:solidFill>
            <a:srgbClr val="F5F5F5"/>
          </a:solidFill>
          <a:ln w="12700">
            <a:solidFill>
              <a:srgbClr val="E5E8EC"/>
            </a:solidFill>
            <a:prstDash val="solid"/>
          </a:ln>
        </p:spPr>
      </p:sp>
      <p:sp>
        <p:nvSpPr>
          <p:cNvPr id="6" name="Text 4"/>
          <p:cNvSpPr txBox="1"/>
          <p:nvPr/>
        </p:nvSpPr>
        <p:spPr>
          <a:xfrm>
            <a:off x="731520" y="2103120"/>
            <a:ext cx="2743200" cy="365760"/>
          </a:xfrm>
          <a:prstGeom prst="rect">
            <a:avLst/>
          </a:prstGeom>
          <a:noFill/>
          <a:ln/>
        </p:spPr>
        <p:txBody>
          <a:bodyPr wrap="square" lIns="0" tIns="0" rIns="0" bIns="0" rtlCol="0" anchor="ctr"/>
          <a:lstStyle/>
          <a:p>
            <a:pPr indent="0" marL="0">
              <a:buNone/>
            </a:pPr>
            <a:r>
              <a:rPr lang="en-US" sz="1200" b="1" spc="400" kern="0" dirty="0">
                <a:solidFill>
                  <a:srgbClr val="6B7683"/>
                </a:solidFill>
                <a:latin typeface="Calibri" pitchFamily="34" charset="0"/>
                <a:ea typeface="Calibri" pitchFamily="34" charset="-122"/>
                <a:cs typeface="Calibri" pitchFamily="34" charset="-120"/>
              </a:rPr>
              <a:t>AVANT</a:t>
            </a:r>
            <a:endParaRPr lang="en-US" sz="1200" dirty="0"/>
          </a:p>
        </p:txBody>
      </p:sp>
      <p:sp>
        <p:nvSpPr>
          <p:cNvPr id="7" name="Text 5"/>
          <p:cNvSpPr txBox="1"/>
          <p:nvPr/>
        </p:nvSpPr>
        <p:spPr>
          <a:xfrm>
            <a:off x="731520" y="2468880"/>
            <a:ext cx="4937760" cy="457200"/>
          </a:xfrm>
          <a:prstGeom prst="rect">
            <a:avLst/>
          </a:prstGeom>
          <a:noFill/>
          <a:ln/>
        </p:spPr>
        <p:txBody>
          <a:bodyPr wrap="square" lIns="0" tIns="0" rIns="0" bIns="0" rtlCol="0" anchor="ctr"/>
          <a:lstStyle/>
          <a:p>
            <a:pPr indent="0" marL="0">
              <a:buNone/>
            </a:pPr>
            <a:r>
              <a:rPr lang="en-US" sz="2200" b="1" dirty="0">
                <a:solidFill>
                  <a:srgbClr val="3A4552"/>
                </a:solidFill>
                <a:latin typeface="Cambria" pitchFamily="34" charset="0"/>
                <a:ea typeface="Cambria" pitchFamily="34" charset="-122"/>
                <a:cs typeface="Cambria" pitchFamily="34" charset="-120"/>
              </a:rPr>
              <a:t>Lecture linéaire</a:t>
            </a:r>
            <a:endParaRPr lang="en-US" sz="2200" dirty="0"/>
          </a:p>
        </p:txBody>
      </p:sp>
      <p:sp>
        <p:nvSpPr>
          <p:cNvPr id="8" name="Text 6"/>
          <p:cNvSpPr txBox="1"/>
          <p:nvPr/>
        </p:nvSpPr>
        <p:spPr>
          <a:xfrm>
            <a:off x="731520" y="3200400"/>
            <a:ext cx="2011680" cy="320040"/>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Volume</a:t>
            </a:r>
            <a:endParaRPr lang="en-US" sz="1200" dirty="0"/>
          </a:p>
        </p:txBody>
      </p:sp>
      <p:sp>
        <p:nvSpPr>
          <p:cNvPr id="9" name="Text 7"/>
          <p:cNvSpPr txBox="1"/>
          <p:nvPr/>
        </p:nvSpPr>
        <p:spPr>
          <a:xfrm>
            <a:off x="2743200" y="3200400"/>
            <a:ext cx="3017520" cy="320040"/>
          </a:xfrm>
          <a:prstGeom prst="rect">
            <a:avLst/>
          </a:prstGeom>
          <a:noFill/>
          <a:ln/>
        </p:spPr>
        <p:txBody>
          <a:bodyPr wrap="square" lIns="0" tIns="0" rIns="0" bIns="0" rtlCol="0" anchor="ctr"/>
          <a:lstStyle/>
          <a:p>
            <a:pPr indent="0" marL="0">
              <a:buNone/>
            </a:pPr>
            <a:r>
              <a:rPr lang="en-US" sz="1200" b="1" dirty="0">
                <a:solidFill>
                  <a:srgbClr val="3A4552"/>
                </a:solidFill>
                <a:latin typeface="Calibri" pitchFamily="34" charset="0"/>
                <a:ea typeface="Calibri" pitchFamily="34" charset="-122"/>
                <a:cs typeface="Calibri" pitchFamily="34" charset="-120"/>
              </a:rPr>
              <a:t>~250 pages PDF</a:t>
            </a:r>
            <a:endParaRPr lang="en-US" sz="1200" dirty="0"/>
          </a:p>
        </p:txBody>
      </p:sp>
      <p:sp>
        <p:nvSpPr>
          <p:cNvPr id="10" name="Text 8"/>
          <p:cNvSpPr txBox="1"/>
          <p:nvPr/>
        </p:nvSpPr>
        <p:spPr>
          <a:xfrm>
            <a:off x="731520" y="3703320"/>
            <a:ext cx="2011680" cy="320040"/>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Temps investi</a:t>
            </a:r>
            <a:endParaRPr lang="en-US" sz="1200" dirty="0"/>
          </a:p>
        </p:txBody>
      </p:sp>
      <p:sp>
        <p:nvSpPr>
          <p:cNvPr id="11" name="Text 9"/>
          <p:cNvSpPr txBox="1"/>
          <p:nvPr/>
        </p:nvSpPr>
        <p:spPr>
          <a:xfrm>
            <a:off x="2743200" y="3703320"/>
            <a:ext cx="3017520" cy="320040"/>
          </a:xfrm>
          <a:prstGeom prst="rect">
            <a:avLst/>
          </a:prstGeom>
          <a:noFill/>
          <a:ln/>
        </p:spPr>
        <p:txBody>
          <a:bodyPr wrap="square" lIns="0" tIns="0" rIns="0" bIns="0" rtlCol="0" anchor="ctr"/>
          <a:lstStyle/>
          <a:p>
            <a:pPr indent="0" marL="0">
              <a:buNone/>
            </a:pPr>
            <a:r>
              <a:rPr lang="en-US" sz="1200" b="1" dirty="0">
                <a:solidFill>
                  <a:srgbClr val="3A4552"/>
                </a:solidFill>
                <a:latin typeface="Calibri" pitchFamily="34" charset="0"/>
                <a:ea typeface="Calibri" pitchFamily="34" charset="-122"/>
                <a:cs typeface="Calibri" pitchFamily="34" charset="-120"/>
              </a:rPr>
              <a:t>6 à 8 heures</a:t>
            </a:r>
            <a:endParaRPr lang="en-US" sz="1200" dirty="0"/>
          </a:p>
        </p:txBody>
      </p:sp>
      <p:sp>
        <p:nvSpPr>
          <p:cNvPr id="12" name="Text 10"/>
          <p:cNvSpPr txBox="1"/>
          <p:nvPr/>
        </p:nvSpPr>
        <p:spPr>
          <a:xfrm>
            <a:off x="731520" y="4206240"/>
            <a:ext cx="2011680" cy="320040"/>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Rétention</a:t>
            </a:r>
            <a:endParaRPr lang="en-US" sz="1200" dirty="0"/>
          </a:p>
        </p:txBody>
      </p:sp>
      <p:sp>
        <p:nvSpPr>
          <p:cNvPr id="13" name="Text 11"/>
          <p:cNvSpPr txBox="1"/>
          <p:nvPr/>
        </p:nvSpPr>
        <p:spPr>
          <a:xfrm>
            <a:off x="2743200" y="4206240"/>
            <a:ext cx="3017520" cy="320040"/>
          </a:xfrm>
          <a:prstGeom prst="rect">
            <a:avLst/>
          </a:prstGeom>
          <a:noFill/>
          <a:ln/>
        </p:spPr>
        <p:txBody>
          <a:bodyPr wrap="square" lIns="0" tIns="0" rIns="0" bIns="0" rtlCol="0" anchor="ctr"/>
          <a:lstStyle/>
          <a:p>
            <a:pPr indent="0" marL="0">
              <a:buNone/>
            </a:pPr>
            <a:r>
              <a:rPr lang="en-US" sz="1200" b="1" dirty="0">
                <a:solidFill>
                  <a:srgbClr val="3A4552"/>
                </a:solidFill>
                <a:latin typeface="Calibri" pitchFamily="34" charset="0"/>
                <a:ea typeface="Calibri" pitchFamily="34" charset="-122"/>
                <a:cs typeface="Calibri" pitchFamily="34" charset="-120"/>
              </a:rPr>
              <a:t>Faible sans prise de notes</a:t>
            </a:r>
            <a:endParaRPr lang="en-US" sz="1200" dirty="0"/>
          </a:p>
        </p:txBody>
      </p:sp>
      <p:sp>
        <p:nvSpPr>
          <p:cNvPr id="14" name="Text 12"/>
          <p:cNvSpPr txBox="1"/>
          <p:nvPr/>
        </p:nvSpPr>
        <p:spPr>
          <a:xfrm>
            <a:off x="731520" y="4709160"/>
            <a:ext cx="2011680" cy="320040"/>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Réutilisabilité</a:t>
            </a:r>
            <a:endParaRPr lang="en-US" sz="1200" dirty="0"/>
          </a:p>
        </p:txBody>
      </p:sp>
      <p:sp>
        <p:nvSpPr>
          <p:cNvPr id="15" name="Text 13"/>
          <p:cNvSpPr txBox="1"/>
          <p:nvPr/>
        </p:nvSpPr>
        <p:spPr>
          <a:xfrm>
            <a:off x="2743200" y="4709160"/>
            <a:ext cx="3017520" cy="320040"/>
          </a:xfrm>
          <a:prstGeom prst="rect">
            <a:avLst/>
          </a:prstGeom>
          <a:noFill/>
          <a:ln/>
        </p:spPr>
        <p:txBody>
          <a:bodyPr wrap="square" lIns="0" tIns="0" rIns="0" bIns="0" rtlCol="0" anchor="ctr"/>
          <a:lstStyle/>
          <a:p>
            <a:pPr indent="0" marL="0">
              <a:buNone/>
            </a:pPr>
            <a:r>
              <a:rPr lang="en-US" sz="1200" b="1" dirty="0">
                <a:solidFill>
                  <a:srgbClr val="3A4552"/>
                </a:solidFill>
                <a:latin typeface="Calibri" pitchFamily="34" charset="0"/>
                <a:ea typeface="Calibri" pitchFamily="34" charset="-122"/>
                <a:cs typeface="Calibri" pitchFamily="34" charset="-120"/>
              </a:rPr>
              <a:t>Notes personnelles éparses</a:t>
            </a:r>
            <a:endParaRPr lang="en-US" sz="1200" dirty="0"/>
          </a:p>
        </p:txBody>
      </p:sp>
      <p:sp>
        <p:nvSpPr>
          <p:cNvPr id="16" name="Text 14"/>
          <p:cNvSpPr txBox="1"/>
          <p:nvPr/>
        </p:nvSpPr>
        <p:spPr>
          <a:xfrm>
            <a:off x="731520" y="5212080"/>
            <a:ext cx="2011680" cy="320040"/>
          </a:xfrm>
          <a:prstGeom prst="rect">
            <a:avLst/>
          </a:prstGeom>
          <a:noFill/>
          <a:ln/>
        </p:spPr>
        <p:txBody>
          <a:bodyPr wrap="square" lIns="0" tIns="0" rIns="0" bIns="0" rtlCol="0" anchor="ctr"/>
          <a:lstStyle/>
          <a:p>
            <a:pPr indent="0" marL="0">
              <a:buNone/>
            </a:pPr>
            <a:r>
              <a:rPr lang="en-US" sz="1200" dirty="0">
                <a:solidFill>
                  <a:srgbClr val="6B7683"/>
                </a:solidFill>
                <a:latin typeface="Calibri" pitchFamily="34" charset="0"/>
                <a:ea typeface="Calibri" pitchFamily="34" charset="-122"/>
                <a:cs typeface="Calibri" pitchFamily="34" charset="-120"/>
              </a:rPr>
              <a:t>Partage équipe</a:t>
            </a:r>
            <a:endParaRPr lang="en-US" sz="1200" dirty="0"/>
          </a:p>
        </p:txBody>
      </p:sp>
      <p:sp>
        <p:nvSpPr>
          <p:cNvPr id="17" name="Text 15"/>
          <p:cNvSpPr txBox="1"/>
          <p:nvPr/>
        </p:nvSpPr>
        <p:spPr>
          <a:xfrm>
            <a:off x="2743200" y="5212080"/>
            <a:ext cx="3017520" cy="320040"/>
          </a:xfrm>
          <a:prstGeom prst="rect">
            <a:avLst/>
          </a:prstGeom>
          <a:noFill/>
          <a:ln/>
        </p:spPr>
        <p:txBody>
          <a:bodyPr wrap="square" lIns="0" tIns="0" rIns="0" bIns="0" rtlCol="0" anchor="ctr"/>
          <a:lstStyle/>
          <a:p>
            <a:pPr indent="0" marL="0">
              <a:buNone/>
            </a:pPr>
            <a:r>
              <a:rPr lang="en-US" sz="1200" b="1" dirty="0">
                <a:solidFill>
                  <a:srgbClr val="3A4552"/>
                </a:solidFill>
                <a:latin typeface="Calibri" pitchFamily="34" charset="0"/>
                <a:ea typeface="Calibri" pitchFamily="34" charset="-122"/>
                <a:cs typeface="Calibri" pitchFamily="34" charset="-120"/>
              </a:rPr>
              <a:t>Difficile</a:t>
            </a:r>
            <a:endParaRPr lang="en-US" sz="1200" dirty="0"/>
          </a:p>
        </p:txBody>
      </p:sp>
      <p:sp>
        <p:nvSpPr>
          <p:cNvPr id="18" name="Text 16"/>
          <p:cNvSpPr txBox="1"/>
          <p:nvPr/>
        </p:nvSpPr>
        <p:spPr>
          <a:xfrm>
            <a:off x="5943600" y="3794760"/>
            <a:ext cx="457200" cy="731520"/>
          </a:xfrm>
          <a:prstGeom prst="rect">
            <a:avLst/>
          </a:prstGeom>
          <a:noFill/>
          <a:ln/>
        </p:spPr>
        <p:txBody>
          <a:bodyPr wrap="square" lIns="0" tIns="0" rIns="0" bIns="0" rtlCol="0" anchor="ctr"/>
          <a:lstStyle/>
          <a:p>
            <a:pPr algn="ctr" indent="0" marL="0">
              <a:buNone/>
            </a:pPr>
            <a:r>
              <a:rPr lang="en-US" sz="5400" b="1" dirty="0">
                <a:solidFill>
                  <a:srgbClr val="F5B700"/>
                </a:solidFill>
                <a:latin typeface="Arial" pitchFamily="34" charset="0"/>
                <a:ea typeface="Arial" pitchFamily="34" charset="-122"/>
                <a:cs typeface="Arial" pitchFamily="34" charset="-120"/>
              </a:rPr>
              <a:t>›</a:t>
            </a:r>
            <a:endParaRPr lang="en-US" sz="5400" dirty="0"/>
          </a:p>
        </p:txBody>
      </p:sp>
      <p:sp>
        <p:nvSpPr>
          <p:cNvPr id="19" name="Shape 17"/>
          <p:cNvSpPr/>
          <p:nvPr/>
        </p:nvSpPr>
        <p:spPr>
          <a:xfrm>
            <a:off x="6217920" y="1920240"/>
            <a:ext cx="5486400" cy="4480560"/>
          </a:xfrm>
          <a:prstGeom prst="rect">
            <a:avLst/>
          </a:prstGeom>
          <a:solidFill>
            <a:srgbClr val="003876"/>
          </a:solidFill>
          <a:ln w="12700">
            <a:solidFill>
              <a:srgbClr val="003876"/>
            </a:solidFill>
            <a:prstDash val="solid"/>
          </a:ln>
        </p:spPr>
      </p:sp>
      <p:sp>
        <p:nvSpPr>
          <p:cNvPr id="20" name="Text 18"/>
          <p:cNvSpPr txBox="1"/>
          <p:nvPr/>
        </p:nvSpPr>
        <p:spPr>
          <a:xfrm>
            <a:off x="6492240" y="2103120"/>
            <a:ext cx="2743200" cy="365760"/>
          </a:xfrm>
          <a:prstGeom prst="rect">
            <a:avLst/>
          </a:prstGeom>
          <a:noFill/>
          <a:ln/>
        </p:spPr>
        <p:txBody>
          <a:bodyPr wrap="square" lIns="0" tIns="0" rIns="0" bIns="0" rtlCol="0" anchor="ctr"/>
          <a:lstStyle/>
          <a:p>
            <a:pPr indent="0" marL="0">
              <a:buNone/>
            </a:pPr>
            <a:r>
              <a:rPr lang="en-US" sz="1200" b="1" spc="400" kern="0" dirty="0">
                <a:solidFill>
                  <a:srgbClr val="F5B700"/>
                </a:solidFill>
                <a:latin typeface="Calibri" pitchFamily="34" charset="0"/>
                <a:ea typeface="Calibri" pitchFamily="34" charset="-122"/>
                <a:cs typeface="Calibri" pitchFamily="34" charset="-120"/>
              </a:rPr>
              <a:t>APRÈS</a:t>
            </a:r>
            <a:endParaRPr lang="en-US" sz="1200" dirty="0"/>
          </a:p>
        </p:txBody>
      </p:sp>
      <p:sp>
        <p:nvSpPr>
          <p:cNvPr id="21" name="Text 19"/>
          <p:cNvSpPr txBox="1"/>
          <p:nvPr/>
        </p:nvSpPr>
        <p:spPr>
          <a:xfrm>
            <a:off x="6492240" y="2468880"/>
            <a:ext cx="493776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Fiche structurée par IA</a:t>
            </a:r>
            <a:endParaRPr lang="en-US" sz="2200" dirty="0"/>
          </a:p>
        </p:txBody>
      </p:sp>
      <p:sp>
        <p:nvSpPr>
          <p:cNvPr id="22" name="Text 20"/>
          <p:cNvSpPr txBox="1"/>
          <p:nvPr/>
        </p:nvSpPr>
        <p:spPr>
          <a:xfrm>
            <a:off x="6492240" y="3200400"/>
            <a:ext cx="20116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Volume</a:t>
            </a:r>
            <a:endParaRPr lang="en-US" sz="1200" dirty="0"/>
          </a:p>
        </p:txBody>
      </p:sp>
      <p:sp>
        <p:nvSpPr>
          <p:cNvPr id="23" name="Text 21"/>
          <p:cNvSpPr txBox="1"/>
          <p:nvPr/>
        </p:nvSpPr>
        <p:spPr>
          <a:xfrm>
            <a:off x="8503920" y="3200400"/>
            <a:ext cx="30175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 à 3 pages Markdown</a:t>
            </a:r>
            <a:endParaRPr lang="en-US" sz="1200" dirty="0"/>
          </a:p>
        </p:txBody>
      </p:sp>
      <p:sp>
        <p:nvSpPr>
          <p:cNvPr id="24" name="Text 22"/>
          <p:cNvSpPr txBox="1"/>
          <p:nvPr/>
        </p:nvSpPr>
        <p:spPr>
          <a:xfrm>
            <a:off x="6492240" y="3703320"/>
            <a:ext cx="20116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Temps investi</a:t>
            </a:r>
            <a:endParaRPr lang="en-US" sz="1200" dirty="0"/>
          </a:p>
        </p:txBody>
      </p:sp>
      <p:sp>
        <p:nvSpPr>
          <p:cNvPr id="25" name="Text 23"/>
          <p:cNvSpPr txBox="1"/>
          <p:nvPr/>
        </p:nvSpPr>
        <p:spPr>
          <a:xfrm>
            <a:off x="8503920" y="3703320"/>
            <a:ext cx="30175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30 à 45 minutes</a:t>
            </a:r>
            <a:endParaRPr lang="en-US" sz="1200" dirty="0"/>
          </a:p>
        </p:txBody>
      </p:sp>
      <p:sp>
        <p:nvSpPr>
          <p:cNvPr id="26" name="Text 24"/>
          <p:cNvSpPr txBox="1"/>
          <p:nvPr/>
        </p:nvSpPr>
        <p:spPr>
          <a:xfrm>
            <a:off x="6492240" y="4206240"/>
            <a:ext cx="20116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Rétention</a:t>
            </a:r>
            <a:endParaRPr lang="en-US" sz="1200" dirty="0"/>
          </a:p>
        </p:txBody>
      </p:sp>
      <p:sp>
        <p:nvSpPr>
          <p:cNvPr id="27" name="Text 25"/>
          <p:cNvSpPr txBox="1"/>
          <p:nvPr/>
        </p:nvSpPr>
        <p:spPr>
          <a:xfrm>
            <a:off x="8503920" y="4206240"/>
            <a:ext cx="30175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Élevée (structure imposée)</a:t>
            </a:r>
            <a:endParaRPr lang="en-US" sz="1200" dirty="0"/>
          </a:p>
        </p:txBody>
      </p:sp>
      <p:sp>
        <p:nvSpPr>
          <p:cNvPr id="28" name="Text 26"/>
          <p:cNvSpPr txBox="1"/>
          <p:nvPr/>
        </p:nvSpPr>
        <p:spPr>
          <a:xfrm>
            <a:off x="6492240" y="4709160"/>
            <a:ext cx="20116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Réutilisabilité</a:t>
            </a:r>
            <a:endParaRPr lang="en-US" sz="1200" dirty="0"/>
          </a:p>
        </p:txBody>
      </p:sp>
      <p:sp>
        <p:nvSpPr>
          <p:cNvPr id="29" name="Text 27"/>
          <p:cNvSpPr txBox="1"/>
          <p:nvPr/>
        </p:nvSpPr>
        <p:spPr>
          <a:xfrm>
            <a:off x="8503920" y="4709160"/>
            <a:ext cx="30175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Corpus versionné</a:t>
            </a:r>
            <a:endParaRPr lang="en-US" sz="1200" dirty="0"/>
          </a:p>
        </p:txBody>
      </p:sp>
      <p:sp>
        <p:nvSpPr>
          <p:cNvPr id="30" name="Text 28"/>
          <p:cNvSpPr txBox="1"/>
          <p:nvPr/>
        </p:nvSpPr>
        <p:spPr>
          <a:xfrm>
            <a:off x="6492240" y="5212080"/>
            <a:ext cx="20116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Partage équipe</a:t>
            </a:r>
            <a:endParaRPr lang="en-US" sz="1200" dirty="0"/>
          </a:p>
        </p:txBody>
      </p:sp>
      <p:sp>
        <p:nvSpPr>
          <p:cNvPr id="31" name="Text 29"/>
          <p:cNvSpPr txBox="1"/>
          <p:nvPr/>
        </p:nvSpPr>
        <p:spPr>
          <a:xfrm>
            <a:off x="8503920" y="5212080"/>
            <a:ext cx="30175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Immédiat via Git</a:t>
            </a:r>
            <a:endParaRPr lang="en-US" sz="1200" dirty="0"/>
          </a:p>
        </p:txBody>
      </p:sp>
      <p:sp>
        <p:nvSpPr>
          <p:cNvPr id="32" name="Shape 30"/>
          <p:cNvSpPr/>
          <p:nvPr/>
        </p:nvSpPr>
        <p:spPr>
          <a:xfrm>
            <a:off x="0" y="6629400"/>
            <a:ext cx="12161520" cy="18288"/>
          </a:xfrm>
          <a:prstGeom prst="rect">
            <a:avLst/>
          </a:prstGeom>
          <a:solidFill>
            <a:srgbClr val="E5E8EC"/>
          </a:solidFill>
          <a:ln w="12700">
            <a:solidFill>
              <a:srgbClr val="E5E8EC"/>
            </a:solidFill>
            <a:prstDash val="solid"/>
          </a:ln>
        </p:spPr>
      </p:sp>
      <p:sp>
        <p:nvSpPr>
          <p:cNvPr id="33" name="Text 31"/>
          <p:cNvSpPr txBox="1"/>
          <p:nvPr/>
        </p:nvSpPr>
        <p:spPr>
          <a:xfrm>
            <a:off x="457200" y="6656832"/>
            <a:ext cx="8229600" cy="228600"/>
          </a:xfrm>
          <a:prstGeom prst="rect">
            <a:avLst/>
          </a:prstGeom>
          <a:noFill/>
          <a:ln/>
        </p:spPr>
        <p:txBody>
          <a:bodyPr wrap="square" lIns="0" tIns="0" rIns="0" bIns="0" rtlCol="0" anchor="ctr"/>
          <a:lstStyle/>
          <a:p>
            <a:pPr indent="0" marL="0">
              <a:buNone/>
            </a:pPr>
            <a:r>
              <a:rPr lang="en-US" sz="900" dirty="0">
                <a:solidFill>
                  <a:srgbClr val="6B7683"/>
                </a:solidFill>
                <a:latin typeface="Calibri" pitchFamily="34" charset="0"/>
                <a:ea typeface="Calibri" pitchFamily="34" charset="-122"/>
                <a:cs typeface="Calibri" pitchFamily="34" charset="-120"/>
              </a:rPr>
              <a:t>LCL — Paiements  •  Méthode d'apprentissage augmentée par IA</a:t>
            </a:r>
            <a:endParaRPr lang="en-US" sz="900" dirty="0"/>
          </a:p>
        </p:txBody>
      </p:sp>
      <p:sp>
        <p:nvSpPr>
          <p:cNvPr id="34" name="Text 32"/>
          <p:cNvSpPr txBox="1"/>
          <p:nvPr/>
        </p:nvSpPr>
        <p:spPr>
          <a:xfrm>
            <a:off x="11247120" y="6656832"/>
            <a:ext cx="548640" cy="228600"/>
          </a:xfrm>
          <a:prstGeom prst="rect">
            <a:avLst/>
          </a:prstGeom>
          <a:noFill/>
          <a:ln/>
        </p:spPr>
        <p:txBody>
          <a:bodyPr wrap="square" lIns="0" tIns="0" rIns="0" bIns="0" rtlCol="0" anchor="ctr"/>
          <a:lstStyle/>
          <a:p>
            <a:pPr algn="r" indent="0" marL="0">
              <a:buNone/>
            </a:pPr>
            <a:r>
              <a:rPr lang="en-US" sz="900" dirty="0">
                <a:solidFill>
                  <a:srgbClr val="6B7683"/>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7160" cy="365760"/>
          </a:xfrm>
          <a:prstGeom prst="rect">
            <a:avLst/>
          </a:prstGeom>
          <a:solidFill>
            <a:srgbClr val="F5B700"/>
          </a:solidFill>
          <a:ln w="12700">
            <a:solidFill>
              <a:srgbClr val="F5B700"/>
            </a:solidFill>
            <a:prstDash val="solid"/>
          </a:ln>
        </p:spPr>
      </p:sp>
      <p:sp>
        <p:nvSpPr>
          <p:cNvPr id="3" name="Text 1"/>
          <p:cNvSpPr txBox="1"/>
          <p:nvPr/>
        </p:nvSpPr>
        <p:spPr>
          <a:xfrm>
            <a:off x="685800" y="457200"/>
            <a:ext cx="5486400" cy="365760"/>
          </a:xfrm>
          <a:prstGeom prst="rect">
            <a:avLst/>
          </a:prstGeom>
          <a:noFill/>
          <a:ln/>
        </p:spPr>
        <p:txBody>
          <a:bodyPr wrap="square" lIns="0" tIns="0" rIns="0" bIns="0" rtlCol="0" anchor="ctr"/>
          <a:lstStyle/>
          <a:p>
            <a:pPr indent="0" marL="0">
              <a:buNone/>
            </a:pPr>
            <a:r>
              <a:rPr lang="en-US" sz="1100" b="1" spc="400" kern="0" dirty="0">
                <a:solidFill>
                  <a:srgbClr val="003876"/>
                </a:solidFill>
                <a:latin typeface="Calibri" pitchFamily="34" charset="0"/>
                <a:ea typeface="Calibri" pitchFamily="34" charset="-122"/>
                <a:cs typeface="Calibri" pitchFamily="34" charset="-120"/>
              </a:rPr>
              <a:t>06  ·  CAS D'USAGE</a:t>
            </a:r>
            <a:endParaRPr lang="en-US" sz="1100" dirty="0"/>
          </a:p>
        </p:txBody>
      </p:sp>
      <p:sp>
        <p:nvSpPr>
          <p:cNvPr id="4" name="Text 2"/>
          <p:cNvSpPr txBox="1"/>
          <p:nvPr/>
        </p:nvSpPr>
        <p:spPr>
          <a:xfrm>
            <a:off x="457200" y="914400"/>
            <a:ext cx="11247120" cy="731520"/>
          </a:xfrm>
          <a:prstGeom prst="rect">
            <a:avLst/>
          </a:prstGeom>
          <a:noFill/>
          <a:ln/>
        </p:spPr>
        <p:txBody>
          <a:bodyPr wrap="square" lIns="0" tIns="0" rIns="0" bIns="0" rtlCol="0" anchor="ctr"/>
          <a:lstStyle/>
          <a:p>
            <a:pPr indent="0" marL="0">
              <a:buNone/>
            </a:pPr>
            <a:r>
              <a:rPr lang="en-US" sz="3200" b="1" dirty="0">
                <a:solidFill>
                  <a:srgbClr val="003876"/>
                </a:solidFill>
                <a:latin typeface="Cambria" pitchFamily="34" charset="0"/>
                <a:ea typeface="Cambria" pitchFamily="34" charset="-122"/>
                <a:cs typeface="Cambria" pitchFamily="34" charset="-120"/>
              </a:rPr>
              <a:t>Application concrète : parcours CICS / Java hybride</a:t>
            </a:r>
            <a:endParaRPr lang="en-US" sz="3200" dirty="0"/>
          </a:p>
        </p:txBody>
      </p:sp>
      <p:sp>
        <p:nvSpPr>
          <p:cNvPr id="5" name="Shape 3"/>
          <p:cNvSpPr/>
          <p:nvPr/>
        </p:nvSpPr>
        <p:spPr>
          <a:xfrm>
            <a:off x="457200" y="2011680"/>
            <a:ext cx="3657600" cy="457200"/>
          </a:xfrm>
          <a:prstGeom prst="rect">
            <a:avLst/>
          </a:prstGeom>
          <a:solidFill>
            <a:srgbClr val="F5B700"/>
          </a:solidFill>
          <a:ln w="12700">
            <a:solidFill>
              <a:srgbClr val="F5B700"/>
            </a:solidFill>
            <a:prstDash val="solid"/>
          </a:ln>
        </p:spPr>
      </p:sp>
      <p:sp>
        <p:nvSpPr>
          <p:cNvPr id="6" name="Text 4"/>
          <p:cNvSpPr txBox="1"/>
          <p:nvPr/>
        </p:nvSpPr>
        <p:spPr>
          <a:xfrm>
            <a:off x="640080" y="2011680"/>
            <a:ext cx="3291840" cy="457200"/>
          </a:xfrm>
          <a:prstGeom prst="rect">
            <a:avLst/>
          </a:prstGeom>
          <a:noFill/>
          <a:ln/>
        </p:spPr>
        <p:txBody>
          <a:bodyPr wrap="square" lIns="0" tIns="0" rIns="0" bIns="0" rtlCol="0" anchor="ctr"/>
          <a:lstStyle/>
          <a:p>
            <a:pPr indent="0" marL="0">
              <a:buNone/>
            </a:pPr>
            <a:r>
              <a:rPr lang="en-US" sz="1100" b="1" spc="400" kern="0" dirty="0">
                <a:solidFill>
                  <a:srgbClr val="003876"/>
                </a:solidFill>
                <a:latin typeface="Calibri" pitchFamily="34" charset="0"/>
                <a:ea typeface="Calibri" pitchFamily="34" charset="-122"/>
                <a:cs typeface="Calibri" pitchFamily="34" charset="-120"/>
              </a:rPr>
              <a:t>PHASE 1</a:t>
            </a:r>
            <a:endParaRPr lang="en-US" sz="1100" dirty="0"/>
          </a:p>
        </p:txBody>
      </p:sp>
      <p:sp>
        <p:nvSpPr>
          <p:cNvPr id="7" name="Shape 5"/>
          <p:cNvSpPr/>
          <p:nvPr/>
        </p:nvSpPr>
        <p:spPr>
          <a:xfrm>
            <a:off x="457200" y="2468880"/>
            <a:ext cx="3657600" cy="2011680"/>
          </a:xfrm>
          <a:prstGeom prst="rect">
            <a:avLst/>
          </a:prstGeom>
          <a:solidFill>
            <a:srgbClr val="FFFFFF"/>
          </a:solidFill>
          <a:ln w="12700">
            <a:solidFill>
              <a:srgbClr val="E5E8EC"/>
            </a:solidFill>
            <a:prstDash val="solid"/>
          </a:ln>
        </p:spPr>
      </p:sp>
      <p:sp>
        <p:nvSpPr>
          <p:cNvPr id="8" name="Text 6"/>
          <p:cNvSpPr txBox="1"/>
          <p:nvPr/>
        </p:nvSpPr>
        <p:spPr>
          <a:xfrm>
            <a:off x="640080" y="2606040"/>
            <a:ext cx="3291840" cy="457200"/>
          </a:xfrm>
          <a:prstGeom prst="rect">
            <a:avLst/>
          </a:prstGeom>
          <a:noFill/>
          <a:ln/>
        </p:spPr>
        <p:txBody>
          <a:bodyPr wrap="square" lIns="0" tIns="0" rIns="0" bIns="0" rtlCol="0" anchor="ctr"/>
          <a:lstStyle/>
          <a:p>
            <a:pPr indent="0" marL="0">
              <a:buNone/>
            </a:pPr>
            <a:r>
              <a:rPr lang="en-US" sz="2000" b="1" dirty="0">
                <a:solidFill>
                  <a:srgbClr val="003876"/>
                </a:solidFill>
                <a:latin typeface="Cambria" pitchFamily="34" charset="0"/>
                <a:ea typeface="Cambria" pitchFamily="34" charset="-122"/>
                <a:cs typeface="Cambria" pitchFamily="34" charset="-120"/>
              </a:rPr>
              <a:t>Cartographie</a:t>
            </a:r>
            <a:endParaRPr lang="en-US" sz="2000" dirty="0"/>
          </a:p>
        </p:txBody>
      </p:sp>
      <p:sp>
        <p:nvSpPr>
          <p:cNvPr id="9" name="Text 7"/>
          <p:cNvSpPr txBox="1"/>
          <p:nvPr/>
        </p:nvSpPr>
        <p:spPr>
          <a:xfrm>
            <a:off x="640080" y="3154680"/>
            <a:ext cx="3291840" cy="123444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IA identifie les Redbooks et learning paths IBM pertinents. Sortie : plan de lecture priorisé.</a:t>
            </a:r>
            <a:endParaRPr lang="en-US" sz="1200" dirty="0"/>
          </a:p>
        </p:txBody>
      </p:sp>
      <p:sp>
        <p:nvSpPr>
          <p:cNvPr id="10" name="Shape 8"/>
          <p:cNvSpPr/>
          <p:nvPr/>
        </p:nvSpPr>
        <p:spPr>
          <a:xfrm>
            <a:off x="4361688" y="2011680"/>
            <a:ext cx="3657600" cy="457200"/>
          </a:xfrm>
          <a:prstGeom prst="rect">
            <a:avLst/>
          </a:prstGeom>
          <a:solidFill>
            <a:srgbClr val="F5B700"/>
          </a:solidFill>
          <a:ln w="12700">
            <a:solidFill>
              <a:srgbClr val="F5B700"/>
            </a:solidFill>
            <a:prstDash val="solid"/>
          </a:ln>
        </p:spPr>
      </p:sp>
      <p:sp>
        <p:nvSpPr>
          <p:cNvPr id="11" name="Text 9"/>
          <p:cNvSpPr txBox="1"/>
          <p:nvPr/>
        </p:nvSpPr>
        <p:spPr>
          <a:xfrm>
            <a:off x="4544568" y="2011680"/>
            <a:ext cx="3291840" cy="457200"/>
          </a:xfrm>
          <a:prstGeom prst="rect">
            <a:avLst/>
          </a:prstGeom>
          <a:noFill/>
          <a:ln/>
        </p:spPr>
        <p:txBody>
          <a:bodyPr wrap="square" lIns="0" tIns="0" rIns="0" bIns="0" rtlCol="0" anchor="ctr"/>
          <a:lstStyle/>
          <a:p>
            <a:pPr indent="0" marL="0">
              <a:buNone/>
            </a:pPr>
            <a:r>
              <a:rPr lang="en-US" sz="1100" b="1" spc="400" kern="0" dirty="0">
                <a:solidFill>
                  <a:srgbClr val="003876"/>
                </a:solidFill>
                <a:latin typeface="Calibri" pitchFamily="34" charset="0"/>
                <a:ea typeface="Calibri" pitchFamily="34" charset="-122"/>
                <a:cs typeface="Calibri" pitchFamily="34" charset="-120"/>
              </a:rPr>
              <a:t>PHASE 2</a:t>
            </a:r>
            <a:endParaRPr lang="en-US" sz="1100" dirty="0"/>
          </a:p>
        </p:txBody>
      </p:sp>
      <p:sp>
        <p:nvSpPr>
          <p:cNvPr id="12" name="Shape 10"/>
          <p:cNvSpPr/>
          <p:nvPr/>
        </p:nvSpPr>
        <p:spPr>
          <a:xfrm>
            <a:off x="4361688" y="2468880"/>
            <a:ext cx="3657600" cy="2011680"/>
          </a:xfrm>
          <a:prstGeom prst="rect">
            <a:avLst/>
          </a:prstGeom>
          <a:solidFill>
            <a:srgbClr val="FFFFFF"/>
          </a:solidFill>
          <a:ln w="12700">
            <a:solidFill>
              <a:srgbClr val="E5E8EC"/>
            </a:solidFill>
            <a:prstDash val="solid"/>
          </a:ln>
        </p:spPr>
      </p:sp>
      <p:sp>
        <p:nvSpPr>
          <p:cNvPr id="13" name="Text 11"/>
          <p:cNvSpPr txBox="1"/>
          <p:nvPr/>
        </p:nvSpPr>
        <p:spPr>
          <a:xfrm>
            <a:off x="4544568" y="2606040"/>
            <a:ext cx="3291840" cy="457200"/>
          </a:xfrm>
          <a:prstGeom prst="rect">
            <a:avLst/>
          </a:prstGeom>
          <a:noFill/>
          <a:ln/>
        </p:spPr>
        <p:txBody>
          <a:bodyPr wrap="square" lIns="0" tIns="0" rIns="0" bIns="0" rtlCol="0" anchor="ctr"/>
          <a:lstStyle/>
          <a:p>
            <a:pPr indent="0" marL="0">
              <a:buNone/>
            </a:pPr>
            <a:r>
              <a:rPr lang="en-US" sz="2000" b="1" dirty="0">
                <a:solidFill>
                  <a:srgbClr val="003876"/>
                </a:solidFill>
                <a:latin typeface="Cambria" pitchFamily="34" charset="0"/>
                <a:ea typeface="Cambria" pitchFamily="34" charset="-122"/>
                <a:cs typeface="Cambria" pitchFamily="34" charset="-120"/>
              </a:rPr>
              <a:t>Digestion</a:t>
            </a:r>
            <a:endParaRPr lang="en-US" sz="2000" dirty="0"/>
          </a:p>
        </p:txBody>
      </p:sp>
      <p:sp>
        <p:nvSpPr>
          <p:cNvPr id="14" name="Text 12"/>
          <p:cNvSpPr txBox="1"/>
          <p:nvPr/>
        </p:nvSpPr>
        <p:spPr>
          <a:xfrm>
            <a:off x="4544568" y="3154680"/>
            <a:ext cx="3291840" cy="123444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Chaque Redbook traité via prompt structuré. Sortie : fiche technique par source.</a:t>
            </a:r>
            <a:endParaRPr lang="en-US" sz="1200" dirty="0"/>
          </a:p>
        </p:txBody>
      </p:sp>
      <p:sp>
        <p:nvSpPr>
          <p:cNvPr id="15" name="Shape 13"/>
          <p:cNvSpPr/>
          <p:nvPr/>
        </p:nvSpPr>
        <p:spPr>
          <a:xfrm>
            <a:off x="8275320" y="2011680"/>
            <a:ext cx="3657600" cy="457200"/>
          </a:xfrm>
          <a:prstGeom prst="rect">
            <a:avLst/>
          </a:prstGeom>
          <a:solidFill>
            <a:srgbClr val="F5B700"/>
          </a:solidFill>
          <a:ln w="12700">
            <a:solidFill>
              <a:srgbClr val="F5B700"/>
            </a:solidFill>
            <a:prstDash val="solid"/>
          </a:ln>
        </p:spPr>
      </p:sp>
      <p:sp>
        <p:nvSpPr>
          <p:cNvPr id="16" name="Text 14"/>
          <p:cNvSpPr txBox="1"/>
          <p:nvPr/>
        </p:nvSpPr>
        <p:spPr>
          <a:xfrm>
            <a:off x="8458200" y="2011680"/>
            <a:ext cx="3291840" cy="457200"/>
          </a:xfrm>
          <a:prstGeom prst="rect">
            <a:avLst/>
          </a:prstGeom>
          <a:noFill/>
          <a:ln/>
        </p:spPr>
        <p:txBody>
          <a:bodyPr wrap="square" lIns="0" tIns="0" rIns="0" bIns="0" rtlCol="0" anchor="ctr"/>
          <a:lstStyle/>
          <a:p>
            <a:pPr indent="0" marL="0">
              <a:buNone/>
            </a:pPr>
            <a:r>
              <a:rPr lang="en-US" sz="1100" b="1" spc="400" kern="0" dirty="0">
                <a:solidFill>
                  <a:srgbClr val="003876"/>
                </a:solidFill>
                <a:latin typeface="Calibri" pitchFamily="34" charset="0"/>
                <a:ea typeface="Calibri" pitchFamily="34" charset="-122"/>
                <a:cs typeface="Calibri" pitchFamily="34" charset="-120"/>
              </a:rPr>
              <a:t>PHASE 3</a:t>
            </a:r>
            <a:endParaRPr lang="en-US" sz="1100" dirty="0"/>
          </a:p>
        </p:txBody>
      </p:sp>
      <p:sp>
        <p:nvSpPr>
          <p:cNvPr id="17" name="Shape 15"/>
          <p:cNvSpPr/>
          <p:nvPr/>
        </p:nvSpPr>
        <p:spPr>
          <a:xfrm>
            <a:off x="8275320" y="2468880"/>
            <a:ext cx="3657600" cy="2011680"/>
          </a:xfrm>
          <a:prstGeom prst="rect">
            <a:avLst/>
          </a:prstGeom>
          <a:solidFill>
            <a:srgbClr val="FFFFFF"/>
          </a:solidFill>
          <a:ln w="12700">
            <a:solidFill>
              <a:srgbClr val="E5E8EC"/>
            </a:solidFill>
            <a:prstDash val="solid"/>
          </a:ln>
        </p:spPr>
      </p:sp>
      <p:sp>
        <p:nvSpPr>
          <p:cNvPr id="18" name="Text 16"/>
          <p:cNvSpPr txBox="1"/>
          <p:nvPr/>
        </p:nvSpPr>
        <p:spPr>
          <a:xfrm>
            <a:off x="8458200" y="2606040"/>
            <a:ext cx="3291840" cy="457200"/>
          </a:xfrm>
          <a:prstGeom prst="rect">
            <a:avLst/>
          </a:prstGeom>
          <a:noFill/>
          <a:ln/>
        </p:spPr>
        <p:txBody>
          <a:bodyPr wrap="square" lIns="0" tIns="0" rIns="0" bIns="0" rtlCol="0" anchor="ctr"/>
          <a:lstStyle/>
          <a:p>
            <a:pPr indent="0" marL="0">
              <a:buNone/>
            </a:pPr>
            <a:r>
              <a:rPr lang="en-US" sz="2000" b="1" dirty="0">
                <a:solidFill>
                  <a:srgbClr val="003876"/>
                </a:solidFill>
                <a:latin typeface="Cambria" pitchFamily="34" charset="0"/>
                <a:ea typeface="Cambria" pitchFamily="34" charset="-122"/>
                <a:cs typeface="Cambria" pitchFamily="34" charset="-120"/>
              </a:rPr>
              <a:t>Consolidation</a:t>
            </a:r>
            <a:endParaRPr lang="en-US" sz="2000" dirty="0"/>
          </a:p>
        </p:txBody>
      </p:sp>
      <p:sp>
        <p:nvSpPr>
          <p:cNvPr id="19" name="Text 17"/>
          <p:cNvSpPr txBox="1"/>
          <p:nvPr/>
        </p:nvSpPr>
        <p:spPr>
          <a:xfrm>
            <a:off x="8458200" y="3154680"/>
            <a:ext cx="3291840" cy="123444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Fusion des fiches en corpus thématique CICS/Java. Sortie : cheat-sheet transverse.</a:t>
            </a:r>
            <a:endParaRPr lang="en-US" sz="1200" dirty="0"/>
          </a:p>
        </p:txBody>
      </p:sp>
      <p:sp>
        <p:nvSpPr>
          <p:cNvPr id="20" name="Shape 18"/>
          <p:cNvSpPr/>
          <p:nvPr/>
        </p:nvSpPr>
        <p:spPr>
          <a:xfrm>
            <a:off x="457200" y="4937760"/>
            <a:ext cx="11247120" cy="1463040"/>
          </a:xfrm>
          <a:prstGeom prst="rect">
            <a:avLst/>
          </a:prstGeom>
          <a:solidFill>
            <a:srgbClr val="E5E8EC"/>
          </a:solidFill>
          <a:ln w="12700">
            <a:solidFill>
              <a:srgbClr val="E5E8EC"/>
            </a:solidFill>
            <a:prstDash val="solid"/>
          </a:ln>
        </p:spPr>
      </p:sp>
      <p:sp>
        <p:nvSpPr>
          <p:cNvPr id="21" name="Text 19"/>
          <p:cNvSpPr txBox="1"/>
          <p:nvPr/>
        </p:nvSpPr>
        <p:spPr>
          <a:xfrm>
            <a:off x="731520" y="5074920"/>
            <a:ext cx="10972800" cy="320040"/>
          </a:xfrm>
          <a:prstGeom prst="rect">
            <a:avLst/>
          </a:prstGeom>
          <a:noFill/>
          <a:ln/>
        </p:spPr>
        <p:txBody>
          <a:bodyPr wrap="square" lIns="0" tIns="0" rIns="0" bIns="0" rtlCol="0" anchor="ctr"/>
          <a:lstStyle/>
          <a:p>
            <a:pPr indent="0" marL="0">
              <a:buNone/>
            </a:pPr>
            <a:r>
              <a:rPr lang="en-US" sz="1100" b="1" spc="300" kern="0" dirty="0">
                <a:solidFill>
                  <a:srgbClr val="003876"/>
                </a:solidFill>
                <a:latin typeface="Calibri" pitchFamily="34" charset="0"/>
                <a:ea typeface="Calibri" pitchFamily="34" charset="-122"/>
                <a:cs typeface="Calibri" pitchFamily="34" charset="-120"/>
              </a:rPr>
              <a:t>SOURCES EXPLOITÉES POUR CE PARCOURS</a:t>
            </a:r>
            <a:endParaRPr lang="en-US" sz="1100" dirty="0"/>
          </a:p>
        </p:txBody>
      </p:sp>
      <p:sp>
        <p:nvSpPr>
          <p:cNvPr id="22" name="Text 20"/>
          <p:cNvSpPr txBox="1"/>
          <p:nvPr/>
        </p:nvSpPr>
        <p:spPr>
          <a:xfrm>
            <a:off x="731520" y="5440680"/>
            <a:ext cx="5303520" cy="91440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Redbook IBM REDP-5628 — JVM CICS Performance</a:t>
            </a:r>
            <a:endParaRPr lang="en-US" sz="1200" dirty="0"/>
          </a:p>
          <a:p>
            <a:pPr indent="0" marL="0">
              <a:buNone/>
            </a:pPr>
            <a:r>
              <a:rPr lang="en-US" sz="1200" dirty="0">
                <a:solidFill>
                  <a:srgbClr val="3A4552"/>
                </a:solidFill>
                <a:latin typeface="Calibri" pitchFamily="34" charset="0"/>
                <a:ea typeface="Calibri" pitchFamily="34" charset="-122"/>
                <a:cs typeface="Calibri" pitchFamily="34" charset="-120"/>
              </a:rPr>
              <a:t>Redbook « Java Application Development for CICS »</a:t>
            </a:r>
            <a:endParaRPr lang="en-US" sz="1200" dirty="0"/>
          </a:p>
        </p:txBody>
      </p:sp>
      <p:sp>
        <p:nvSpPr>
          <p:cNvPr id="23" name="Text 21"/>
          <p:cNvSpPr txBox="1"/>
          <p:nvPr/>
        </p:nvSpPr>
        <p:spPr>
          <a:xfrm>
            <a:off x="6217920" y="5440680"/>
            <a:ext cx="5303520" cy="91440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Documentation officielle CICS TS (ibm.com/docs)</a:t>
            </a:r>
            <a:endParaRPr lang="en-US" sz="1200" dirty="0"/>
          </a:p>
          <a:p>
            <a:pPr indent="0" marL="0">
              <a:buNone/>
            </a:pPr>
            <a:r>
              <a:rPr lang="en-US" sz="1200" dirty="0">
                <a:solidFill>
                  <a:srgbClr val="3A4552"/>
                </a:solidFill>
                <a:latin typeface="Calibri" pitchFamily="34" charset="0"/>
                <a:ea typeface="Calibri" pitchFamily="34" charset="-122"/>
                <a:cs typeface="Calibri" pitchFamily="34" charset="-120"/>
              </a:rPr>
              <a:t>IBM Developer learning paths (gratuits)</a:t>
            </a:r>
            <a:endParaRPr lang="en-US" sz="1200" dirty="0"/>
          </a:p>
        </p:txBody>
      </p:sp>
      <p:sp>
        <p:nvSpPr>
          <p:cNvPr id="24" name="Shape 22"/>
          <p:cNvSpPr/>
          <p:nvPr/>
        </p:nvSpPr>
        <p:spPr>
          <a:xfrm>
            <a:off x="0" y="6629400"/>
            <a:ext cx="12161520" cy="18288"/>
          </a:xfrm>
          <a:prstGeom prst="rect">
            <a:avLst/>
          </a:prstGeom>
          <a:solidFill>
            <a:srgbClr val="E5E8EC"/>
          </a:solidFill>
          <a:ln w="12700">
            <a:solidFill>
              <a:srgbClr val="E5E8EC"/>
            </a:solidFill>
            <a:prstDash val="solid"/>
          </a:ln>
        </p:spPr>
      </p:sp>
      <p:sp>
        <p:nvSpPr>
          <p:cNvPr id="25" name="Text 23"/>
          <p:cNvSpPr txBox="1"/>
          <p:nvPr/>
        </p:nvSpPr>
        <p:spPr>
          <a:xfrm>
            <a:off x="457200" y="6656832"/>
            <a:ext cx="8229600" cy="228600"/>
          </a:xfrm>
          <a:prstGeom prst="rect">
            <a:avLst/>
          </a:prstGeom>
          <a:noFill/>
          <a:ln/>
        </p:spPr>
        <p:txBody>
          <a:bodyPr wrap="square" lIns="0" tIns="0" rIns="0" bIns="0" rtlCol="0" anchor="ctr"/>
          <a:lstStyle/>
          <a:p>
            <a:pPr indent="0" marL="0">
              <a:buNone/>
            </a:pPr>
            <a:r>
              <a:rPr lang="en-US" sz="900" dirty="0">
                <a:solidFill>
                  <a:srgbClr val="6B7683"/>
                </a:solidFill>
                <a:latin typeface="Calibri" pitchFamily="34" charset="0"/>
                <a:ea typeface="Calibri" pitchFamily="34" charset="-122"/>
                <a:cs typeface="Calibri" pitchFamily="34" charset="-120"/>
              </a:rPr>
              <a:t>LCL — Paiements  •  Méthode d'apprentissage augmentée par IA</a:t>
            </a:r>
            <a:endParaRPr lang="en-US" sz="900" dirty="0"/>
          </a:p>
        </p:txBody>
      </p:sp>
      <p:sp>
        <p:nvSpPr>
          <p:cNvPr id="26" name="Text 24"/>
          <p:cNvSpPr txBox="1"/>
          <p:nvPr/>
        </p:nvSpPr>
        <p:spPr>
          <a:xfrm>
            <a:off x="11247120" y="6656832"/>
            <a:ext cx="548640" cy="228600"/>
          </a:xfrm>
          <a:prstGeom prst="rect">
            <a:avLst/>
          </a:prstGeom>
          <a:noFill/>
          <a:ln/>
        </p:spPr>
        <p:txBody>
          <a:bodyPr wrap="square" lIns="0" tIns="0" rIns="0" bIns="0" rtlCol="0" anchor="ctr"/>
          <a:lstStyle/>
          <a:p>
            <a:pPr algn="r" indent="0" marL="0">
              <a:buNone/>
            </a:pPr>
            <a:r>
              <a:rPr lang="en-US" sz="900" dirty="0">
                <a:solidFill>
                  <a:srgbClr val="6B7683"/>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7160" cy="365760"/>
          </a:xfrm>
          <a:prstGeom prst="rect">
            <a:avLst/>
          </a:prstGeom>
          <a:solidFill>
            <a:srgbClr val="F5B700"/>
          </a:solidFill>
          <a:ln w="12700">
            <a:solidFill>
              <a:srgbClr val="F5B700"/>
            </a:solidFill>
            <a:prstDash val="solid"/>
          </a:ln>
        </p:spPr>
      </p:sp>
      <p:sp>
        <p:nvSpPr>
          <p:cNvPr id="3" name="Text 1"/>
          <p:cNvSpPr txBox="1"/>
          <p:nvPr/>
        </p:nvSpPr>
        <p:spPr>
          <a:xfrm>
            <a:off x="685800" y="457200"/>
            <a:ext cx="5486400" cy="365760"/>
          </a:xfrm>
          <a:prstGeom prst="rect">
            <a:avLst/>
          </a:prstGeom>
          <a:noFill/>
          <a:ln/>
        </p:spPr>
        <p:txBody>
          <a:bodyPr wrap="square" lIns="0" tIns="0" rIns="0" bIns="0" rtlCol="0" anchor="ctr"/>
          <a:lstStyle/>
          <a:p>
            <a:pPr indent="0" marL="0">
              <a:buNone/>
            </a:pPr>
            <a:r>
              <a:rPr lang="en-US" sz="1100" b="1" spc="400" kern="0" dirty="0">
                <a:solidFill>
                  <a:srgbClr val="003876"/>
                </a:solidFill>
                <a:latin typeface="Calibri" pitchFamily="34" charset="0"/>
                <a:ea typeface="Calibri" pitchFamily="34" charset="-122"/>
                <a:cs typeface="Calibri" pitchFamily="34" charset="-120"/>
              </a:rPr>
              <a:t>07  ·  GARDE-FOUS</a:t>
            </a:r>
            <a:endParaRPr lang="en-US" sz="1100" dirty="0"/>
          </a:p>
        </p:txBody>
      </p:sp>
      <p:sp>
        <p:nvSpPr>
          <p:cNvPr id="4" name="Text 2"/>
          <p:cNvSpPr txBox="1"/>
          <p:nvPr/>
        </p:nvSpPr>
        <p:spPr>
          <a:xfrm>
            <a:off x="457200" y="914400"/>
            <a:ext cx="11247120" cy="731520"/>
          </a:xfrm>
          <a:prstGeom prst="rect">
            <a:avLst/>
          </a:prstGeom>
          <a:noFill/>
          <a:ln/>
        </p:spPr>
        <p:txBody>
          <a:bodyPr wrap="square" lIns="0" tIns="0" rIns="0" bIns="0" rtlCol="0" anchor="ctr"/>
          <a:lstStyle/>
          <a:p>
            <a:pPr indent="0" marL="0">
              <a:buNone/>
            </a:pPr>
            <a:r>
              <a:rPr lang="en-US" sz="3200" b="1" dirty="0">
                <a:solidFill>
                  <a:srgbClr val="003876"/>
                </a:solidFill>
                <a:latin typeface="Cambria" pitchFamily="34" charset="0"/>
                <a:ea typeface="Cambria" pitchFamily="34" charset="-122"/>
                <a:cs typeface="Cambria" pitchFamily="34" charset="-120"/>
              </a:rPr>
              <a:t>Limites assumées et conformité bancaire</a:t>
            </a:r>
            <a:endParaRPr lang="en-US" sz="3200" dirty="0"/>
          </a:p>
        </p:txBody>
      </p:sp>
      <p:sp>
        <p:nvSpPr>
          <p:cNvPr id="5" name="Text 3"/>
          <p:cNvSpPr txBox="1"/>
          <p:nvPr/>
        </p:nvSpPr>
        <p:spPr>
          <a:xfrm>
            <a:off x="457200" y="1920240"/>
            <a:ext cx="5486400" cy="320040"/>
          </a:xfrm>
          <a:prstGeom prst="rect">
            <a:avLst/>
          </a:prstGeom>
          <a:noFill/>
          <a:ln/>
        </p:spPr>
        <p:txBody>
          <a:bodyPr wrap="square" lIns="0" tIns="0" rIns="0" bIns="0" rtlCol="0" anchor="ctr"/>
          <a:lstStyle/>
          <a:p>
            <a:pPr indent="0" marL="0">
              <a:buNone/>
            </a:pPr>
            <a:r>
              <a:rPr lang="en-US" sz="1200" b="1" spc="300" kern="0" dirty="0">
                <a:solidFill>
                  <a:srgbClr val="F5B700"/>
                </a:solidFill>
                <a:latin typeface="Calibri" pitchFamily="34" charset="0"/>
                <a:ea typeface="Calibri" pitchFamily="34" charset="-122"/>
                <a:cs typeface="Calibri" pitchFamily="34" charset="-120"/>
              </a:rPr>
              <a:t>LIMITES DE LA MÉTHODE</a:t>
            </a:r>
            <a:endParaRPr lang="en-US" sz="1200" dirty="0"/>
          </a:p>
        </p:txBody>
      </p:sp>
      <p:sp>
        <p:nvSpPr>
          <p:cNvPr id="6" name="Shape 4"/>
          <p:cNvSpPr/>
          <p:nvPr/>
        </p:nvSpPr>
        <p:spPr>
          <a:xfrm>
            <a:off x="457200" y="2377440"/>
            <a:ext cx="73152" cy="201168"/>
          </a:xfrm>
          <a:prstGeom prst="rect">
            <a:avLst/>
          </a:prstGeom>
          <a:solidFill>
            <a:srgbClr val="003876"/>
          </a:solidFill>
          <a:ln w="12700">
            <a:solidFill>
              <a:srgbClr val="003876"/>
            </a:solidFill>
            <a:prstDash val="solid"/>
          </a:ln>
        </p:spPr>
      </p:sp>
      <p:sp>
        <p:nvSpPr>
          <p:cNvPr id="7" name="Text 5"/>
          <p:cNvSpPr txBox="1"/>
          <p:nvPr/>
        </p:nvSpPr>
        <p:spPr>
          <a:xfrm>
            <a:off x="640080" y="2331720"/>
            <a:ext cx="5303520" cy="274320"/>
          </a:xfrm>
          <a:prstGeom prst="rect">
            <a:avLst/>
          </a:prstGeom>
          <a:noFill/>
          <a:ln/>
        </p:spPr>
        <p:txBody>
          <a:bodyPr wrap="square" lIns="0" tIns="0" rIns="0" bIns="0"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Ne remplace pas la pratique</a:t>
            </a:r>
            <a:endParaRPr lang="en-US" sz="1300" dirty="0"/>
          </a:p>
        </p:txBody>
      </p:sp>
      <p:sp>
        <p:nvSpPr>
          <p:cNvPr id="8" name="Text 6"/>
          <p:cNvSpPr txBox="1"/>
          <p:nvPr/>
        </p:nvSpPr>
        <p:spPr>
          <a:xfrm>
            <a:off x="640080" y="2606040"/>
            <a:ext cx="5303520" cy="82296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La fiche donne le socle ; le lab, le code, le POC restent indispensables.</a:t>
            </a:r>
            <a:endParaRPr lang="en-US" sz="1200" dirty="0"/>
          </a:p>
        </p:txBody>
      </p:sp>
      <p:sp>
        <p:nvSpPr>
          <p:cNvPr id="9" name="Shape 7"/>
          <p:cNvSpPr/>
          <p:nvPr/>
        </p:nvSpPr>
        <p:spPr>
          <a:xfrm>
            <a:off x="457200" y="3566160"/>
            <a:ext cx="73152" cy="201168"/>
          </a:xfrm>
          <a:prstGeom prst="rect">
            <a:avLst/>
          </a:prstGeom>
          <a:solidFill>
            <a:srgbClr val="003876"/>
          </a:solidFill>
          <a:ln w="12700">
            <a:solidFill>
              <a:srgbClr val="003876"/>
            </a:solidFill>
            <a:prstDash val="solid"/>
          </a:ln>
        </p:spPr>
      </p:sp>
      <p:sp>
        <p:nvSpPr>
          <p:cNvPr id="10" name="Text 8"/>
          <p:cNvSpPr txBox="1"/>
          <p:nvPr/>
        </p:nvSpPr>
        <p:spPr>
          <a:xfrm>
            <a:off x="640080" y="3520440"/>
            <a:ext cx="5303520" cy="274320"/>
          </a:xfrm>
          <a:prstGeom prst="rect">
            <a:avLst/>
          </a:prstGeom>
          <a:noFill/>
          <a:ln/>
        </p:spPr>
        <p:txBody>
          <a:bodyPr wrap="square" lIns="0" tIns="0" rIns="0" bIns="0"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Risque d'hallucination résiduel</a:t>
            </a:r>
            <a:endParaRPr lang="en-US" sz="1300" dirty="0"/>
          </a:p>
        </p:txBody>
      </p:sp>
      <p:sp>
        <p:nvSpPr>
          <p:cNvPr id="11" name="Text 9"/>
          <p:cNvSpPr txBox="1"/>
          <p:nvPr/>
        </p:nvSpPr>
        <p:spPr>
          <a:xfrm>
            <a:off x="640080" y="3794760"/>
            <a:ext cx="5303520" cy="82296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Vérification systématique des noms d'API, codes retour, paramètres exacts.</a:t>
            </a:r>
            <a:endParaRPr lang="en-US" sz="1200" dirty="0"/>
          </a:p>
        </p:txBody>
      </p:sp>
      <p:sp>
        <p:nvSpPr>
          <p:cNvPr id="12" name="Shape 10"/>
          <p:cNvSpPr/>
          <p:nvPr/>
        </p:nvSpPr>
        <p:spPr>
          <a:xfrm>
            <a:off x="457200" y="4754880"/>
            <a:ext cx="73152" cy="201168"/>
          </a:xfrm>
          <a:prstGeom prst="rect">
            <a:avLst/>
          </a:prstGeom>
          <a:solidFill>
            <a:srgbClr val="003876"/>
          </a:solidFill>
          <a:ln w="12700">
            <a:solidFill>
              <a:srgbClr val="003876"/>
            </a:solidFill>
            <a:prstDash val="solid"/>
          </a:ln>
        </p:spPr>
      </p:sp>
      <p:sp>
        <p:nvSpPr>
          <p:cNvPr id="13" name="Text 11"/>
          <p:cNvSpPr txBox="1"/>
          <p:nvPr/>
        </p:nvSpPr>
        <p:spPr>
          <a:xfrm>
            <a:off x="640080" y="4709160"/>
            <a:ext cx="5303520" cy="274320"/>
          </a:xfrm>
          <a:prstGeom prst="rect">
            <a:avLst/>
          </a:prstGeom>
          <a:noFill/>
          <a:ln/>
        </p:spPr>
        <p:txBody>
          <a:bodyPr wrap="square" lIns="0" tIns="0" rIns="0" bIns="0"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Qualité corrélée au prompt</a:t>
            </a:r>
            <a:endParaRPr lang="en-US" sz="1300" dirty="0"/>
          </a:p>
        </p:txBody>
      </p:sp>
      <p:sp>
        <p:nvSpPr>
          <p:cNvPr id="14" name="Text 12"/>
          <p:cNvSpPr txBox="1"/>
          <p:nvPr/>
        </p:nvSpPr>
        <p:spPr>
          <a:xfrm>
            <a:off x="640080" y="4983480"/>
            <a:ext cx="5303520" cy="822960"/>
          </a:xfrm>
          <a:prstGeom prst="rect">
            <a:avLst/>
          </a:prstGeom>
          <a:noFill/>
          <a:ln/>
        </p:spPr>
        <p:txBody>
          <a:bodyPr wrap="square" lIns="0" tIns="0" rIns="0" bIns="0" rtlCol="0" anchor="ctr"/>
          <a:lstStyle/>
          <a:p>
            <a:pPr indent="0" marL="0">
              <a:buNone/>
            </a:pPr>
            <a:r>
              <a:rPr lang="en-US" sz="1200" dirty="0">
                <a:solidFill>
                  <a:srgbClr val="3A4552"/>
                </a:solidFill>
                <a:latin typeface="Calibri" pitchFamily="34" charset="0"/>
                <a:ea typeface="Calibri" pitchFamily="34" charset="-122"/>
                <a:cs typeface="Calibri" pitchFamily="34" charset="-120"/>
              </a:rPr>
              <a:t>Un prompt faible produit une fiche faible. C'est un savoir-faire à construire.</a:t>
            </a:r>
            <a:endParaRPr lang="en-US" sz="1200" dirty="0"/>
          </a:p>
        </p:txBody>
      </p:sp>
      <p:sp>
        <p:nvSpPr>
          <p:cNvPr id="15" name="Shape 13"/>
          <p:cNvSpPr/>
          <p:nvPr/>
        </p:nvSpPr>
        <p:spPr>
          <a:xfrm>
            <a:off x="6400800" y="1920240"/>
            <a:ext cx="5303520" cy="4480560"/>
          </a:xfrm>
          <a:prstGeom prst="rect">
            <a:avLst/>
          </a:prstGeom>
          <a:solidFill>
            <a:srgbClr val="003876"/>
          </a:solidFill>
          <a:ln w="12700">
            <a:solidFill>
              <a:srgbClr val="003876"/>
            </a:solidFill>
            <a:prstDash val="solid"/>
          </a:ln>
        </p:spPr>
      </p:sp>
      <p:sp>
        <p:nvSpPr>
          <p:cNvPr id="16" name="Text 14"/>
          <p:cNvSpPr txBox="1"/>
          <p:nvPr/>
        </p:nvSpPr>
        <p:spPr>
          <a:xfrm>
            <a:off x="6675120" y="2103120"/>
            <a:ext cx="4937760" cy="320040"/>
          </a:xfrm>
          <a:prstGeom prst="rect">
            <a:avLst/>
          </a:prstGeom>
          <a:noFill/>
          <a:ln/>
        </p:spPr>
        <p:txBody>
          <a:bodyPr wrap="square" lIns="0" tIns="0" rIns="0" bIns="0" rtlCol="0" anchor="ctr"/>
          <a:lstStyle/>
          <a:p>
            <a:pPr indent="0" marL="0">
              <a:buNone/>
            </a:pPr>
            <a:r>
              <a:rPr lang="en-US" sz="1200" b="1" spc="300" kern="0" dirty="0">
                <a:solidFill>
                  <a:srgbClr val="F5B700"/>
                </a:solidFill>
                <a:latin typeface="Calibri" pitchFamily="34" charset="0"/>
                <a:ea typeface="Calibri" pitchFamily="34" charset="-122"/>
                <a:cs typeface="Calibri" pitchFamily="34" charset="-120"/>
              </a:rPr>
              <a:t>CONFORMITÉ &amp; SÉCURITÉ</a:t>
            </a:r>
            <a:endParaRPr lang="en-US" sz="1200" dirty="0"/>
          </a:p>
        </p:txBody>
      </p:sp>
      <p:sp>
        <p:nvSpPr>
          <p:cNvPr id="17" name="Shape 15"/>
          <p:cNvSpPr/>
          <p:nvPr/>
        </p:nvSpPr>
        <p:spPr>
          <a:xfrm>
            <a:off x="6675120" y="2697480"/>
            <a:ext cx="137160" cy="137160"/>
          </a:xfrm>
          <a:prstGeom prst="ellipse">
            <a:avLst/>
          </a:prstGeom>
          <a:solidFill>
            <a:srgbClr val="F5B700"/>
          </a:solidFill>
          <a:ln w="12700">
            <a:solidFill>
              <a:srgbClr val="F5B700"/>
            </a:solidFill>
            <a:prstDash val="solid"/>
          </a:ln>
        </p:spPr>
      </p:sp>
      <p:sp>
        <p:nvSpPr>
          <p:cNvPr id="18" name="Text 16"/>
          <p:cNvSpPr txBox="1"/>
          <p:nvPr/>
        </p:nvSpPr>
        <p:spPr>
          <a:xfrm>
            <a:off x="6949440" y="2606040"/>
            <a:ext cx="457200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Aucune donnée client, code source LCL ou information confidentielle transmise à l'IA.</a:t>
            </a:r>
            <a:endParaRPr lang="en-US" sz="1300" dirty="0"/>
          </a:p>
        </p:txBody>
      </p:sp>
      <p:sp>
        <p:nvSpPr>
          <p:cNvPr id="19" name="Shape 17"/>
          <p:cNvSpPr/>
          <p:nvPr/>
        </p:nvSpPr>
        <p:spPr>
          <a:xfrm>
            <a:off x="6675120" y="3611880"/>
            <a:ext cx="137160" cy="137160"/>
          </a:xfrm>
          <a:prstGeom prst="ellipse">
            <a:avLst/>
          </a:prstGeom>
          <a:solidFill>
            <a:srgbClr val="F5B700"/>
          </a:solidFill>
          <a:ln w="12700">
            <a:solidFill>
              <a:srgbClr val="F5B700"/>
            </a:solidFill>
            <a:prstDash val="solid"/>
          </a:ln>
        </p:spPr>
      </p:sp>
      <p:sp>
        <p:nvSpPr>
          <p:cNvPr id="20" name="Text 18"/>
          <p:cNvSpPr txBox="1"/>
          <p:nvPr/>
        </p:nvSpPr>
        <p:spPr>
          <a:xfrm>
            <a:off x="6949440" y="3520440"/>
            <a:ext cx="457200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Sources traitées exclusivement publiques (Redbooks, doc IBM, formations éditeur générales).</a:t>
            </a:r>
            <a:endParaRPr lang="en-US" sz="1300" dirty="0"/>
          </a:p>
        </p:txBody>
      </p:sp>
      <p:sp>
        <p:nvSpPr>
          <p:cNvPr id="21" name="Shape 19"/>
          <p:cNvSpPr/>
          <p:nvPr/>
        </p:nvSpPr>
        <p:spPr>
          <a:xfrm>
            <a:off x="6675120" y="4526280"/>
            <a:ext cx="137160" cy="137160"/>
          </a:xfrm>
          <a:prstGeom prst="ellipse">
            <a:avLst/>
          </a:prstGeom>
          <a:solidFill>
            <a:srgbClr val="F5B700"/>
          </a:solidFill>
          <a:ln w="12700">
            <a:solidFill>
              <a:srgbClr val="F5B700"/>
            </a:solidFill>
            <a:prstDash val="solid"/>
          </a:ln>
        </p:spPr>
      </p:sp>
      <p:sp>
        <p:nvSpPr>
          <p:cNvPr id="22" name="Text 20"/>
          <p:cNvSpPr txBox="1"/>
          <p:nvPr/>
        </p:nvSpPr>
        <p:spPr>
          <a:xfrm>
            <a:off x="6949440" y="4434840"/>
            <a:ext cx="457200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Alignement à valider avec la politique IA du groupe et la sécurité SI.</a:t>
            </a:r>
            <a:endParaRPr lang="en-US" sz="1300" dirty="0"/>
          </a:p>
        </p:txBody>
      </p:sp>
      <p:sp>
        <p:nvSpPr>
          <p:cNvPr id="23" name="Shape 21"/>
          <p:cNvSpPr/>
          <p:nvPr/>
        </p:nvSpPr>
        <p:spPr>
          <a:xfrm>
            <a:off x="6675120" y="5440680"/>
            <a:ext cx="137160" cy="137160"/>
          </a:xfrm>
          <a:prstGeom prst="ellipse">
            <a:avLst/>
          </a:prstGeom>
          <a:solidFill>
            <a:srgbClr val="F5B700"/>
          </a:solidFill>
          <a:ln w="12700">
            <a:solidFill>
              <a:srgbClr val="F5B700"/>
            </a:solidFill>
            <a:prstDash val="solid"/>
          </a:ln>
        </p:spPr>
      </p:sp>
      <p:sp>
        <p:nvSpPr>
          <p:cNvPr id="24" name="Text 22"/>
          <p:cNvSpPr txBox="1"/>
          <p:nvPr/>
        </p:nvSpPr>
        <p:spPr>
          <a:xfrm>
            <a:off x="6949440" y="5349240"/>
            <a:ext cx="457200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Fiches générées relisibles et versionnables : traçabilité complète.</a:t>
            </a:r>
            <a:endParaRPr lang="en-US" sz="1300" dirty="0"/>
          </a:p>
        </p:txBody>
      </p:sp>
      <p:sp>
        <p:nvSpPr>
          <p:cNvPr id="25" name="Shape 23"/>
          <p:cNvSpPr/>
          <p:nvPr/>
        </p:nvSpPr>
        <p:spPr>
          <a:xfrm>
            <a:off x="0" y="6629400"/>
            <a:ext cx="12161520" cy="18288"/>
          </a:xfrm>
          <a:prstGeom prst="rect">
            <a:avLst/>
          </a:prstGeom>
          <a:solidFill>
            <a:srgbClr val="E5E8EC"/>
          </a:solidFill>
          <a:ln w="12700">
            <a:solidFill>
              <a:srgbClr val="E5E8EC"/>
            </a:solidFill>
            <a:prstDash val="solid"/>
          </a:ln>
        </p:spPr>
      </p:sp>
      <p:sp>
        <p:nvSpPr>
          <p:cNvPr id="26" name="Text 24"/>
          <p:cNvSpPr txBox="1"/>
          <p:nvPr/>
        </p:nvSpPr>
        <p:spPr>
          <a:xfrm>
            <a:off x="457200" y="6656832"/>
            <a:ext cx="8229600" cy="228600"/>
          </a:xfrm>
          <a:prstGeom prst="rect">
            <a:avLst/>
          </a:prstGeom>
          <a:noFill/>
          <a:ln/>
        </p:spPr>
        <p:txBody>
          <a:bodyPr wrap="square" lIns="0" tIns="0" rIns="0" bIns="0" rtlCol="0" anchor="ctr"/>
          <a:lstStyle/>
          <a:p>
            <a:pPr indent="0" marL="0">
              <a:buNone/>
            </a:pPr>
            <a:r>
              <a:rPr lang="en-US" sz="900" dirty="0">
                <a:solidFill>
                  <a:srgbClr val="6B7683"/>
                </a:solidFill>
                <a:latin typeface="Calibri" pitchFamily="34" charset="0"/>
                <a:ea typeface="Calibri" pitchFamily="34" charset="-122"/>
                <a:cs typeface="Calibri" pitchFamily="34" charset="-120"/>
              </a:rPr>
              <a:t>LCL — Paiements  •  Méthode d'apprentissage augmentée par IA</a:t>
            </a:r>
            <a:endParaRPr lang="en-US" sz="900" dirty="0"/>
          </a:p>
        </p:txBody>
      </p:sp>
      <p:sp>
        <p:nvSpPr>
          <p:cNvPr id="27" name="Text 25"/>
          <p:cNvSpPr txBox="1"/>
          <p:nvPr/>
        </p:nvSpPr>
        <p:spPr>
          <a:xfrm>
            <a:off x="11247120" y="6656832"/>
            <a:ext cx="548640" cy="228600"/>
          </a:xfrm>
          <a:prstGeom prst="rect">
            <a:avLst/>
          </a:prstGeom>
          <a:noFill/>
          <a:ln/>
        </p:spPr>
        <p:txBody>
          <a:bodyPr wrap="square" lIns="0" tIns="0" rIns="0" bIns="0" rtlCol="0" anchor="ctr"/>
          <a:lstStyle/>
          <a:p>
            <a:pPr algn="r" indent="0" marL="0">
              <a:buNone/>
            </a:pPr>
            <a:r>
              <a:rPr lang="en-US" sz="900" dirty="0">
                <a:solidFill>
                  <a:srgbClr val="6B7683"/>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7160" cy="365760"/>
          </a:xfrm>
          <a:prstGeom prst="rect">
            <a:avLst/>
          </a:prstGeom>
          <a:solidFill>
            <a:srgbClr val="F5B700"/>
          </a:solidFill>
          <a:ln w="12700">
            <a:solidFill>
              <a:srgbClr val="F5B700"/>
            </a:solidFill>
            <a:prstDash val="solid"/>
          </a:ln>
        </p:spPr>
      </p:sp>
      <p:sp>
        <p:nvSpPr>
          <p:cNvPr id="3" name="Text 1"/>
          <p:cNvSpPr txBox="1"/>
          <p:nvPr/>
        </p:nvSpPr>
        <p:spPr>
          <a:xfrm>
            <a:off x="685800" y="457200"/>
            <a:ext cx="5486400" cy="365760"/>
          </a:xfrm>
          <a:prstGeom prst="rect">
            <a:avLst/>
          </a:prstGeom>
          <a:noFill/>
          <a:ln/>
        </p:spPr>
        <p:txBody>
          <a:bodyPr wrap="square" lIns="0" tIns="0" rIns="0" bIns="0" rtlCol="0" anchor="ctr"/>
          <a:lstStyle/>
          <a:p>
            <a:pPr indent="0" marL="0">
              <a:buNone/>
            </a:pPr>
            <a:r>
              <a:rPr lang="en-US" sz="1100" b="1" spc="400" kern="0" dirty="0">
                <a:solidFill>
                  <a:srgbClr val="003876"/>
                </a:solidFill>
                <a:latin typeface="Calibri" pitchFamily="34" charset="0"/>
                <a:ea typeface="Calibri" pitchFamily="34" charset="-122"/>
                <a:cs typeface="Calibri" pitchFamily="34" charset="-120"/>
              </a:rPr>
              <a:t>08  ·  PASSAGE À L'ÉCHELLE</a:t>
            </a:r>
            <a:endParaRPr lang="en-US" sz="1100" dirty="0"/>
          </a:p>
        </p:txBody>
      </p:sp>
      <p:sp>
        <p:nvSpPr>
          <p:cNvPr id="4" name="Text 2"/>
          <p:cNvSpPr txBox="1"/>
          <p:nvPr/>
        </p:nvSpPr>
        <p:spPr>
          <a:xfrm>
            <a:off x="457200" y="914400"/>
            <a:ext cx="11247120" cy="731520"/>
          </a:xfrm>
          <a:prstGeom prst="rect">
            <a:avLst/>
          </a:prstGeom>
          <a:noFill/>
          <a:ln/>
        </p:spPr>
        <p:txBody>
          <a:bodyPr wrap="square" lIns="0" tIns="0" rIns="0" bIns="0" rtlCol="0" anchor="ctr"/>
          <a:lstStyle/>
          <a:p>
            <a:pPr indent="0" marL="0">
              <a:buNone/>
            </a:pPr>
            <a:r>
              <a:rPr lang="en-US" sz="3200" b="1" dirty="0">
                <a:solidFill>
                  <a:srgbClr val="003876"/>
                </a:solidFill>
                <a:latin typeface="Cambria" pitchFamily="34" charset="0"/>
                <a:ea typeface="Cambria" pitchFamily="34" charset="-122"/>
                <a:cs typeface="Cambria" pitchFamily="34" charset="-120"/>
              </a:rPr>
              <a:t>D'un usage individuel à un actif d'équipe</a:t>
            </a:r>
            <a:endParaRPr lang="en-US" sz="3200" dirty="0"/>
          </a:p>
        </p:txBody>
      </p:sp>
      <p:sp>
        <p:nvSpPr>
          <p:cNvPr id="5" name="Shape 3"/>
          <p:cNvSpPr/>
          <p:nvPr/>
        </p:nvSpPr>
        <p:spPr>
          <a:xfrm>
            <a:off x="457200" y="1965960"/>
            <a:ext cx="3657600" cy="4297680"/>
          </a:xfrm>
          <a:prstGeom prst="rect">
            <a:avLst/>
          </a:prstGeom>
          <a:solidFill>
            <a:srgbClr val="FFFFFF"/>
          </a:solidFill>
          <a:ln w="25400">
            <a:solidFill>
              <a:srgbClr val="003876"/>
            </a:solidFill>
            <a:prstDash val="solid"/>
          </a:ln>
        </p:spPr>
      </p:sp>
      <p:sp>
        <p:nvSpPr>
          <p:cNvPr id="6" name="Text 4"/>
          <p:cNvSpPr txBox="1"/>
          <p:nvPr/>
        </p:nvSpPr>
        <p:spPr>
          <a:xfrm>
            <a:off x="731520" y="2331720"/>
            <a:ext cx="3108960" cy="365760"/>
          </a:xfrm>
          <a:prstGeom prst="rect">
            <a:avLst/>
          </a:prstGeom>
          <a:noFill/>
          <a:ln/>
        </p:spPr>
        <p:txBody>
          <a:bodyPr wrap="square" lIns="0" tIns="0" rIns="0" bIns="0" rtlCol="0" anchor="ctr"/>
          <a:lstStyle/>
          <a:p>
            <a:pPr indent="0" marL="0">
              <a:buNone/>
            </a:pPr>
            <a:r>
              <a:rPr lang="en-US" sz="1100" b="1" spc="400" kern="0" dirty="0">
                <a:solidFill>
                  <a:srgbClr val="F5B700"/>
                </a:solidFill>
                <a:latin typeface="Calibri" pitchFamily="34" charset="0"/>
                <a:ea typeface="Calibri" pitchFamily="34" charset="-122"/>
                <a:cs typeface="Calibri" pitchFamily="34" charset="-120"/>
              </a:rPr>
              <a:t>BIBLIOTHÈQUE</a:t>
            </a:r>
            <a:endParaRPr lang="en-US" sz="1100" dirty="0"/>
          </a:p>
        </p:txBody>
      </p:sp>
      <p:sp>
        <p:nvSpPr>
          <p:cNvPr id="7" name="Shape 5"/>
          <p:cNvSpPr/>
          <p:nvPr/>
        </p:nvSpPr>
        <p:spPr>
          <a:xfrm>
            <a:off x="731520" y="2743200"/>
            <a:ext cx="457200" cy="45720"/>
          </a:xfrm>
          <a:prstGeom prst="rect">
            <a:avLst/>
          </a:prstGeom>
          <a:solidFill>
            <a:srgbClr val="F5B700"/>
          </a:solidFill>
          <a:ln w="12700">
            <a:solidFill>
              <a:srgbClr val="F5B700"/>
            </a:solidFill>
            <a:prstDash val="solid"/>
          </a:ln>
        </p:spPr>
      </p:sp>
      <p:sp>
        <p:nvSpPr>
          <p:cNvPr id="8" name="Text 6"/>
          <p:cNvSpPr txBox="1"/>
          <p:nvPr/>
        </p:nvSpPr>
        <p:spPr>
          <a:xfrm>
            <a:off x="731520" y="2880360"/>
            <a:ext cx="3108960" cy="822960"/>
          </a:xfrm>
          <a:prstGeom prst="rect">
            <a:avLst/>
          </a:prstGeom>
          <a:noFill/>
          <a:ln/>
        </p:spPr>
        <p:txBody>
          <a:bodyPr wrap="square" lIns="0" tIns="0" rIns="0" bIns="0" rtlCol="0" anchor="ctr"/>
          <a:lstStyle/>
          <a:p>
            <a:pPr indent="0" marL="0">
              <a:buNone/>
            </a:pPr>
            <a:r>
              <a:rPr lang="en-US" sz="2200" b="1" dirty="0">
                <a:solidFill>
                  <a:srgbClr val="003876"/>
                </a:solidFill>
                <a:latin typeface="Cambria" pitchFamily="34" charset="0"/>
                <a:ea typeface="Cambria" pitchFamily="34" charset="-122"/>
                <a:cs typeface="Cambria" pitchFamily="34" charset="-120"/>
              </a:rPr>
              <a:t>Prompts partagés</a:t>
            </a:r>
            <a:endParaRPr lang="en-US" sz="2200" dirty="0"/>
          </a:p>
        </p:txBody>
      </p:sp>
      <p:sp>
        <p:nvSpPr>
          <p:cNvPr id="9" name="Text 7"/>
          <p:cNvSpPr txBox="1"/>
          <p:nvPr/>
        </p:nvSpPr>
        <p:spPr>
          <a:xfrm>
            <a:off x="731520" y="3977640"/>
            <a:ext cx="3108960" cy="2103120"/>
          </a:xfrm>
          <a:prstGeom prst="rect">
            <a:avLst/>
          </a:prstGeom>
          <a:noFill/>
          <a:ln/>
        </p:spPr>
        <p:txBody>
          <a:bodyPr wrap="square" lIns="0" tIns="0" rIns="0" bIns="0" rtlCol="0" anchor="ctr"/>
          <a:lstStyle/>
          <a:p>
            <a:pPr indent="0" marL="0">
              <a:buNone/>
            </a:pPr>
            <a:r>
              <a:rPr lang="en-US" sz="1300" dirty="0">
                <a:solidFill>
                  <a:srgbClr val="3A4552"/>
                </a:solidFill>
                <a:latin typeface="Calibri" pitchFamily="34" charset="0"/>
                <a:ea typeface="Calibri" pitchFamily="34" charset="-122"/>
                <a:cs typeface="Calibri" pitchFamily="34" charset="-120"/>
              </a:rPr>
              <a:t>Catalogue de prompts optimisés par domaine — CICS, Kafka, Spring Boot, VOP, SEPA. Réutilisables, améliorables collectivement.</a:t>
            </a:r>
            <a:endParaRPr lang="en-US" sz="1300" dirty="0"/>
          </a:p>
        </p:txBody>
      </p:sp>
      <p:sp>
        <p:nvSpPr>
          <p:cNvPr id="10" name="Shape 8"/>
          <p:cNvSpPr/>
          <p:nvPr/>
        </p:nvSpPr>
        <p:spPr>
          <a:xfrm>
            <a:off x="4361688" y="1965960"/>
            <a:ext cx="3657600" cy="4297680"/>
          </a:xfrm>
          <a:prstGeom prst="rect">
            <a:avLst/>
          </a:prstGeom>
          <a:solidFill>
            <a:srgbClr val="FFFFFF"/>
          </a:solidFill>
          <a:ln w="25400">
            <a:solidFill>
              <a:srgbClr val="003876"/>
            </a:solidFill>
            <a:prstDash val="solid"/>
          </a:ln>
        </p:spPr>
      </p:sp>
      <p:sp>
        <p:nvSpPr>
          <p:cNvPr id="11" name="Text 9"/>
          <p:cNvSpPr txBox="1"/>
          <p:nvPr/>
        </p:nvSpPr>
        <p:spPr>
          <a:xfrm>
            <a:off x="4636008" y="2331720"/>
            <a:ext cx="3108960" cy="365760"/>
          </a:xfrm>
          <a:prstGeom prst="rect">
            <a:avLst/>
          </a:prstGeom>
          <a:noFill/>
          <a:ln/>
        </p:spPr>
        <p:txBody>
          <a:bodyPr wrap="square" lIns="0" tIns="0" rIns="0" bIns="0" rtlCol="0" anchor="ctr"/>
          <a:lstStyle/>
          <a:p>
            <a:pPr indent="0" marL="0">
              <a:buNone/>
            </a:pPr>
            <a:r>
              <a:rPr lang="en-US" sz="1100" b="1" spc="400" kern="0" dirty="0">
                <a:solidFill>
                  <a:srgbClr val="F5B700"/>
                </a:solidFill>
                <a:latin typeface="Calibri" pitchFamily="34" charset="0"/>
                <a:ea typeface="Calibri" pitchFamily="34" charset="-122"/>
                <a:cs typeface="Calibri" pitchFamily="34" charset="-120"/>
              </a:rPr>
              <a:t>CORPUS</a:t>
            </a:r>
            <a:endParaRPr lang="en-US" sz="1100" dirty="0"/>
          </a:p>
        </p:txBody>
      </p:sp>
      <p:sp>
        <p:nvSpPr>
          <p:cNvPr id="12" name="Shape 10"/>
          <p:cNvSpPr/>
          <p:nvPr/>
        </p:nvSpPr>
        <p:spPr>
          <a:xfrm>
            <a:off x="4636008" y="2743200"/>
            <a:ext cx="457200" cy="45720"/>
          </a:xfrm>
          <a:prstGeom prst="rect">
            <a:avLst/>
          </a:prstGeom>
          <a:solidFill>
            <a:srgbClr val="F5B700"/>
          </a:solidFill>
          <a:ln w="12700">
            <a:solidFill>
              <a:srgbClr val="F5B700"/>
            </a:solidFill>
            <a:prstDash val="solid"/>
          </a:ln>
        </p:spPr>
      </p:sp>
      <p:sp>
        <p:nvSpPr>
          <p:cNvPr id="13" name="Text 11"/>
          <p:cNvSpPr txBox="1"/>
          <p:nvPr/>
        </p:nvSpPr>
        <p:spPr>
          <a:xfrm>
            <a:off x="4636008" y="2880360"/>
            <a:ext cx="3108960" cy="822960"/>
          </a:xfrm>
          <a:prstGeom prst="rect">
            <a:avLst/>
          </a:prstGeom>
          <a:noFill/>
          <a:ln/>
        </p:spPr>
        <p:txBody>
          <a:bodyPr wrap="square" lIns="0" tIns="0" rIns="0" bIns="0" rtlCol="0" anchor="ctr"/>
          <a:lstStyle/>
          <a:p>
            <a:pPr indent="0" marL="0">
              <a:buNone/>
            </a:pPr>
            <a:r>
              <a:rPr lang="en-US" sz="2200" b="1" dirty="0">
                <a:solidFill>
                  <a:srgbClr val="003876"/>
                </a:solidFill>
                <a:latin typeface="Cambria" pitchFamily="34" charset="0"/>
                <a:ea typeface="Cambria" pitchFamily="34" charset="-122"/>
                <a:cs typeface="Cambria" pitchFamily="34" charset="-120"/>
              </a:rPr>
              <a:t>Fiches versionnées</a:t>
            </a:r>
            <a:endParaRPr lang="en-US" sz="2200" dirty="0"/>
          </a:p>
        </p:txBody>
      </p:sp>
      <p:sp>
        <p:nvSpPr>
          <p:cNvPr id="14" name="Text 12"/>
          <p:cNvSpPr txBox="1"/>
          <p:nvPr/>
        </p:nvSpPr>
        <p:spPr>
          <a:xfrm>
            <a:off x="4636008" y="3977640"/>
            <a:ext cx="3108960" cy="2103120"/>
          </a:xfrm>
          <a:prstGeom prst="rect">
            <a:avLst/>
          </a:prstGeom>
          <a:noFill/>
          <a:ln/>
        </p:spPr>
        <p:txBody>
          <a:bodyPr wrap="square" lIns="0" tIns="0" rIns="0" bIns="0" rtlCol="0" anchor="ctr"/>
          <a:lstStyle/>
          <a:p>
            <a:pPr indent="0" marL="0">
              <a:buNone/>
            </a:pPr>
            <a:r>
              <a:rPr lang="en-US" sz="1300" dirty="0">
                <a:solidFill>
                  <a:srgbClr val="3A4552"/>
                </a:solidFill>
                <a:latin typeface="Calibri" pitchFamily="34" charset="0"/>
                <a:ea typeface="Calibri" pitchFamily="34" charset="-122"/>
                <a:cs typeface="Calibri" pitchFamily="34" charset="-120"/>
              </a:rPr>
              <a:t>Repository Git interne de fiches Markdown. Recherche transverse, mise à jour continue, capitalisation entre équipes.</a:t>
            </a:r>
            <a:endParaRPr lang="en-US" sz="1300" dirty="0"/>
          </a:p>
        </p:txBody>
      </p:sp>
      <p:sp>
        <p:nvSpPr>
          <p:cNvPr id="15" name="Shape 13"/>
          <p:cNvSpPr/>
          <p:nvPr/>
        </p:nvSpPr>
        <p:spPr>
          <a:xfrm>
            <a:off x="8275320" y="1965960"/>
            <a:ext cx="3657600" cy="4297680"/>
          </a:xfrm>
          <a:prstGeom prst="rect">
            <a:avLst/>
          </a:prstGeom>
          <a:solidFill>
            <a:srgbClr val="FFFFFF"/>
          </a:solidFill>
          <a:ln w="25400">
            <a:solidFill>
              <a:srgbClr val="003876"/>
            </a:solidFill>
            <a:prstDash val="solid"/>
          </a:ln>
        </p:spPr>
      </p:sp>
      <p:sp>
        <p:nvSpPr>
          <p:cNvPr id="16" name="Text 14"/>
          <p:cNvSpPr txBox="1"/>
          <p:nvPr/>
        </p:nvSpPr>
        <p:spPr>
          <a:xfrm>
            <a:off x="8549640" y="2331720"/>
            <a:ext cx="3108960" cy="365760"/>
          </a:xfrm>
          <a:prstGeom prst="rect">
            <a:avLst/>
          </a:prstGeom>
          <a:noFill/>
          <a:ln/>
        </p:spPr>
        <p:txBody>
          <a:bodyPr wrap="square" lIns="0" tIns="0" rIns="0" bIns="0" rtlCol="0" anchor="ctr"/>
          <a:lstStyle/>
          <a:p>
            <a:pPr indent="0" marL="0">
              <a:buNone/>
            </a:pPr>
            <a:r>
              <a:rPr lang="en-US" sz="1100" b="1" spc="400" kern="0" dirty="0">
                <a:solidFill>
                  <a:srgbClr val="F5B700"/>
                </a:solidFill>
                <a:latin typeface="Calibri" pitchFamily="34" charset="0"/>
                <a:ea typeface="Calibri" pitchFamily="34" charset="-122"/>
                <a:cs typeface="Calibri" pitchFamily="34" charset="-120"/>
              </a:rPr>
              <a:t>ONBOARDING</a:t>
            </a:r>
            <a:endParaRPr lang="en-US" sz="1100" dirty="0"/>
          </a:p>
        </p:txBody>
      </p:sp>
      <p:sp>
        <p:nvSpPr>
          <p:cNvPr id="17" name="Shape 15"/>
          <p:cNvSpPr/>
          <p:nvPr/>
        </p:nvSpPr>
        <p:spPr>
          <a:xfrm>
            <a:off x="8549640" y="2743200"/>
            <a:ext cx="457200" cy="45720"/>
          </a:xfrm>
          <a:prstGeom prst="rect">
            <a:avLst/>
          </a:prstGeom>
          <a:solidFill>
            <a:srgbClr val="F5B700"/>
          </a:solidFill>
          <a:ln w="12700">
            <a:solidFill>
              <a:srgbClr val="F5B700"/>
            </a:solidFill>
            <a:prstDash val="solid"/>
          </a:ln>
        </p:spPr>
      </p:sp>
      <p:sp>
        <p:nvSpPr>
          <p:cNvPr id="18" name="Text 16"/>
          <p:cNvSpPr txBox="1"/>
          <p:nvPr/>
        </p:nvSpPr>
        <p:spPr>
          <a:xfrm>
            <a:off x="8549640" y="2880360"/>
            <a:ext cx="3108960" cy="822960"/>
          </a:xfrm>
          <a:prstGeom prst="rect">
            <a:avLst/>
          </a:prstGeom>
          <a:noFill/>
          <a:ln/>
        </p:spPr>
        <p:txBody>
          <a:bodyPr wrap="square" lIns="0" tIns="0" rIns="0" bIns="0" rtlCol="0" anchor="ctr"/>
          <a:lstStyle/>
          <a:p>
            <a:pPr indent="0" marL="0">
              <a:buNone/>
            </a:pPr>
            <a:r>
              <a:rPr lang="en-US" sz="2200" b="1" dirty="0">
                <a:solidFill>
                  <a:srgbClr val="003876"/>
                </a:solidFill>
                <a:latin typeface="Cambria" pitchFamily="34" charset="0"/>
                <a:ea typeface="Cambria" pitchFamily="34" charset="-122"/>
                <a:cs typeface="Cambria" pitchFamily="34" charset="-120"/>
              </a:rPr>
              <a:t>Accélération nouveaux</a:t>
            </a:r>
            <a:endParaRPr lang="en-US" sz="2200" dirty="0"/>
          </a:p>
        </p:txBody>
      </p:sp>
      <p:sp>
        <p:nvSpPr>
          <p:cNvPr id="19" name="Text 17"/>
          <p:cNvSpPr txBox="1"/>
          <p:nvPr/>
        </p:nvSpPr>
        <p:spPr>
          <a:xfrm>
            <a:off x="8549640" y="3977640"/>
            <a:ext cx="3108960" cy="2103120"/>
          </a:xfrm>
          <a:prstGeom prst="rect">
            <a:avLst/>
          </a:prstGeom>
          <a:noFill/>
          <a:ln/>
        </p:spPr>
        <p:txBody>
          <a:bodyPr wrap="square" lIns="0" tIns="0" rIns="0" bIns="0" rtlCol="0" anchor="ctr"/>
          <a:lstStyle/>
          <a:p>
            <a:pPr indent="0" marL="0">
              <a:buNone/>
            </a:pPr>
            <a:r>
              <a:rPr lang="en-US" sz="1300" dirty="0">
                <a:solidFill>
                  <a:srgbClr val="3A4552"/>
                </a:solidFill>
                <a:latin typeface="Calibri" pitchFamily="34" charset="0"/>
                <a:ea typeface="Calibri" pitchFamily="34" charset="-122"/>
                <a:cs typeface="Calibri" pitchFamily="34" charset="-120"/>
              </a:rPr>
              <a:t>Un nouvel arrivant accède au corpus dès le premier jour. Réduction significative du délai de montée en compétence.</a:t>
            </a:r>
            <a:endParaRPr lang="en-US" sz="1300" dirty="0"/>
          </a:p>
        </p:txBody>
      </p:sp>
      <p:sp>
        <p:nvSpPr>
          <p:cNvPr id="20" name="Shape 18"/>
          <p:cNvSpPr/>
          <p:nvPr/>
        </p:nvSpPr>
        <p:spPr>
          <a:xfrm>
            <a:off x="0" y="6629400"/>
            <a:ext cx="12161520" cy="18288"/>
          </a:xfrm>
          <a:prstGeom prst="rect">
            <a:avLst/>
          </a:prstGeom>
          <a:solidFill>
            <a:srgbClr val="E5E8EC"/>
          </a:solidFill>
          <a:ln w="12700">
            <a:solidFill>
              <a:srgbClr val="E5E8EC"/>
            </a:solidFill>
            <a:prstDash val="solid"/>
          </a:ln>
        </p:spPr>
      </p:sp>
      <p:sp>
        <p:nvSpPr>
          <p:cNvPr id="21" name="Text 19"/>
          <p:cNvSpPr txBox="1"/>
          <p:nvPr/>
        </p:nvSpPr>
        <p:spPr>
          <a:xfrm>
            <a:off x="457200" y="6656832"/>
            <a:ext cx="8229600" cy="228600"/>
          </a:xfrm>
          <a:prstGeom prst="rect">
            <a:avLst/>
          </a:prstGeom>
          <a:noFill/>
          <a:ln/>
        </p:spPr>
        <p:txBody>
          <a:bodyPr wrap="square" lIns="0" tIns="0" rIns="0" bIns="0" rtlCol="0" anchor="ctr"/>
          <a:lstStyle/>
          <a:p>
            <a:pPr indent="0" marL="0">
              <a:buNone/>
            </a:pPr>
            <a:r>
              <a:rPr lang="en-US" sz="900" dirty="0">
                <a:solidFill>
                  <a:srgbClr val="6B7683"/>
                </a:solidFill>
                <a:latin typeface="Calibri" pitchFamily="34" charset="0"/>
                <a:ea typeface="Calibri" pitchFamily="34" charset="-122"/>
                <a:cs typeface="Calibri" pitchFamily="34" charset="-120"/>
              </a:rPr>
              <a:t>LCL — Paiements  •  Méthode d'apprentissage augmentée par IA</a:t>
            </a:r>
            <a:endParaRPr lang="en-US" sz="900" dirty="0"/>
          </a:p>
        </p:txBody>
      </p:sp>
      <p:sp>
        <p:nvSpPr>
          <p:cNvPr id="22" name="Text 20"/>
          <p:cNvSpPr txBox="1"/>
          <p:nvPr/>
        </p:nvSpPr>
        <p:spPr>
          <a:xfrm>
            <a:off x="11247120" y="6656832"/>
            <a:ext cx="548640" cy="228600"/>
          </a:xfrm>
          <a:prstGeom prst="rect">
            <a:avLst/>
          </a:prstGeom>
          <a:noFill/>
          <a:ln/>
        </p:spPr>
        <p:txBody>
          <a:bodyPr wrap="square" lIns="0" tIns="0" rIns="0" bIns="0" rtlCol="0" anchor="ctr"/>
          <a:lstStyle/>
          <a:p>
            <a:pPr algn="r" indent="0" marL="0">
              <a:buNone/>
            </a:pPr>
            <a:r>
              <a:rPr lang="en-US" sz="900" dirty="0">
                <a:solidFill>
                  <a:srgbClr val="6B7683"/>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3876"/>
        </a:solidFill>
      </p:bgPr>
    </p:bg>
    <p:spTree>
      <p:nvGrpSpPr>
        <p:cNvPr id="1" name=""/>
        <p:cNvGrpSpPr/>
        <p:nvPr/>
      </p:nvGrpSpPr>
      <p:grpSpPr>
        <a:xfrm>
          <a:off x="0" y="0"/>
          <a:ext cx="0" cy="0"/>
          <a:chOff x="0" y="0"/>
          <a:chExt cx="0" cy="0"/>
        </a:xfrm>
      </p:grpSpPr>
      <p:sp>
        <p:nvSpPr>
          <p:cNvPr id="2" name="Shape 0"/>
          <p:cNvSpPr/>
          <p:nvPr/>
        </p:nvSpPr>
        <p:spPr>
          <a:xfrm>
            <a:off x="457200" y="914400"/>
            <a:ext cx="548640" cy="73152"/>
          </a:xfrm>
          <a:prstGeom prst="rect">
            <a:avLst/>
          </a:prstGeom>
          <a:solidFill>
            <a:srgbClr val="F5B700"/>
          </a:solidFill>
          <a:ln w="12700">
            <a:solidFill>
              <a:srgbClr val="F5B700"/>
            </a:solidFill>
            <a:prstDash val="solid"/>
          </a:ln>
        </p:spPr>
      </p:sp>
      <p:sp>
        <p:nvSpPr>
          <p:cNvPr id="3" name="Text 1"/>
          <p:cNvSpPr txBox="1"/>
          <p:nvPr/>
        </p:nvSpPr>
        <p:spPr>
          <a:xfrm>
            <a:off x="457200" y="1051560"/>
            <a:ext cx="10972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Prochaines étapes</a:t>
            </a:r>
            <a:endParaRPr lang="en-US" sz="4000" dirty="0"/>
          </a:p>
        </p:txBody>
      </p:sp>
      <p:sp>
        <p:nvSpPr>
          <p:cNvPr id="4" name="Text 2"/>
          <p:cNvSpPr txBox="1"/>
          <p:nvPr/>
        </p:nvSpPr>
        <p:spPr>
          <a:xfrm>
            <a:off x="457200" y="2377440"/>
            <a:ext cx="2286000" cy="365760"/>
          </a:xfrm>
          <a:prstGeom prst="rect">
            <a:avLst/>
          </a:prstGeom>
          <a:noFill/>
          <a:ln/>
        </p:spPr>
        <p:txBody>
          <a:bodyPr wrap="square" lIns="0" tIns="0" rIns="0" bIns="0" rtlCol="0" anchor="ctr"/>
          <a:lstStyle/>
          <a:p>
            <a:pPr indent="0" marL="0">
              <a:buNone/>
            </a:pPr>
            <a:r>
              <a:rPr lang="en-US" sz="1300" b="1" spc="300" kern="0" dirty="0">
                <a:solidFill>
                  <a:srgbClr val="F5B700"/>
                </a:solidFill>
                <a:latin typeface="Calibri" pitchFamily="34" charset="0"/>
                <a:ea typeface="Calibri" pitchFamily="34" charset="-122"/>
                <a:cs typeface="Calibri" pitchFamily="34" charset="-120"/>
              </a:rPr>
              <a:t>Q1 2026</a:t>
            </a:r>
            <a:endParaRPr lang="en-US" sz="1300" dirty="0"/>
          </a:p>
        </p:txBody>
      </p:sp>
      <p:sp>
        <p:nvSpPr>
          <p:cNvPr id="5" name="Text 3"/>
          <p:cNvSpPr txBox="1"/>
          <p:nvPr/>
        </p:nvSpPr>
        <p:spPr>
          <a:xfrm>
            <a:off x="2926080" y="2377440"/>
            <a:ext cx="86868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Finaliser le corpus personnel CICS / Java (10-12 fiches).</a:t>
            </a:r>
            <a:endParaRPr lang="en-US" sz="1500" dirty="0"/>
          </a:p>
        </p:txBody>
      </p:sp>
      <p:sp>
        <p:nvSpPr>
          <p:cNvPr id="6" name="Shape 4"/>
          <p:cNvSpPr/>
          <p:nvPr/>
        </p:nvSpPr>
        <p:spPr>
          <a:xfrm>
            <a:off x="457200" y="2880360"/>
            <a:ext cx="11247120" cy="9144"/>
          </a:xfrm>
          <a:prstGeom prst="rect">
            <a:avLst/>
          </a:prstGeom>
          <a:solidFill>
            <a:srgbClr val="004A9E"/>
          </a:solidFill>
          <a:ln w="12700">
            <a:solidFill>
              <a:srgbClr val="004A9E"/>
            </a:solidFill>
            <a:prstDash val="solid"/>
          </a:ln>
        </p:spPr>
      </p:sp>
      <p:sp>
        <p:nvSpPr>
          <p:cNvPr id="7" name="Text 5"/>
          <p:cNvSpPr txBox="1"/>
          <p:nvPr/>
        </p:nvSpPr>
        <p:spPr>
          <a:xfrm>
            <a:off x="457200" y="3063240"/>
            <a:ext cx="2286000" cy="365760"/>
          </a:xfrm>
          <a:prstGeom prst="rect">
            <a:avLst/>
          </a:prstGeom>
          <a:noFill/>
          <a:ln/>
        </p:spPr>
        <p:txBody>
          <a:bodyPr wrap="square" lIns="0" tIns="0" rIns="0" bIns="0" rtlCol="0" anchor="ctr"/>
          <a:lstStyle/>
          <a:p>
            <a:pPr indent="0" marL="0">
              <a:buNone/>
            </a:pPr>
            <a:r>
              <a:rPr lang="en-US" sz="1300" b="1" spc="300" kern="0" dirty="0">
                <a:solidFill>
                  <a:srgbClr val="F5B700"/>
                </a:solidFill>
                <a:latin typeface="Calibri" pitchFamily="34" charset="0"/>
                <a:ea typeface="Calibri" pitchFamily="34" charset="-122"/>
                <a:cs typeface="Calibri" pitchFamily="34" charset="-120"/>
              </a:rPr>
              <a:t>Q2 2026</a:t>
            </a:r>
            <a:endParaRPr lang="en-US" sz="1300" dirty="0"/>
          </a:p>
        </p:txBody>
      </p:sp>
      <p:sp>
        <p:nvSpPr>
          <p:cNvPr id="8" name="Text 6"/>
          <p:cNvSpPr txBox="1"/>
          <p:nvPr/>
        </p:nvSpPr>
        <p:spPr>
          <a:xfrm>
            <a:off x="2926080" y="3063240"/>
            <a:ext cx="86868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Proposer un template équipe et un premier prompt-book partagé.</a:t>
            </a:r>
            <a:endParaRPr lang="en-US" sz="1500" dirty="0"/>
          </a:p>
        </p:txBody>
      </p:sp>
      <p:sp>
        <p:nvSpPr>
          <p:cNvPr id="9" name="Shape 7"/>
          <p:cNvSpPr/>
          <p:nvPr/>
        </p:nvSpPr>
        <p:spPr>
          <a:xfrm>
            <a:off x="457200" y="3566160"/>
            <a:ext cx="11247120" cy="9144"/>
          </a:xfrm>
          <a:prstGeom prst="rect">
            <a:avLst/>
          </a:prstGeom>
          <a:solidFill>
            <a:srgbClr val="004A9E"/>
          </a:solidFill>
          <a:ln w="12700">
            <a:solidFill>
              <a:srgbClr val="004A9E"/>
            </a:solidFill>
            <a:prstDash val="solid"/>
          </a:ln>
        </p:spPr>
      </p:sp>
      <p:sp>
        <p:nvSpPr>
          <p:cNvPr id="10" name="Text 8"/>
          <p:cNvSpPr txBox="1"/>
          <p:nvPr/>
        </p:nvSpPr>
        <p:spPr>
          <a:xfrm>
            <a:off x="457200" y="3749040"/>
            <a:ext cx="2286000" cy="365760"/>
          </a:xfrm>
          <a:prstGeom prst="rect">
            <a:avLst/>
          </a:prstGeom>
          <a:noFill/>
          <a:ln/>
        </p:spPr>
        <p:txBody>
          <a:bodyPr wrap="square" lIns="0" tIns="0" rIns="0" bIns="0" rtlCol="0" anchor="ctr"/>
          <a:lstStyle/>
          <a:p>
            <a:pPr indent="0" marL="0">
              <a:buNone/>
            </a:pPr>
            <a:r>
              <a:rPr lang="en-US" sz="1300" b="1" spc="300" kern="0" dirty="0">
                <a:solidFill>
                  <a:srgbClr val="F5B700"/>
                </a:solidFill>
                <a:latin typeface="Calibri" pitchFamily="34" charset="0"/>
                <a:ea typeface="Calibri" pitchFamily="34" charset="-122"/>
                <a:cs typeface="Calibri" pitchFamily="34" charset="-120"/>
              </a:rPr>
              <a:t>S1 2026</a:t>
            </a:r>
            <a:endParaRPr lang="en-US" sz="1300" dirty="0"/>
          </a:p>
        </p:txBody>
      </p:sp>
      <p:sp>
        <p:nvSpPr>
          <p:cNvPr id="11" name="Text 9"/>
          <p:cNvSpPr txBox="1"/>
          <p:nvPr/>
        </p:nvSpPr>
        <p:spPr>
          <a:xfrm>
            <a:off x="2926080" y="3749040"/>
            <a:ext cx="86868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Retour d'expérience à 6 mois : mesures, ajustements.</a:t>
            </a:r>
            <a:endParaRPr lang="en-US" sz="1500" dirty="0"/>
          </a:p>
        </p:txBody>
      </p:sp>
      <p:sp>
        <p:nvSpPr>
          <p:cNvPr id="12" name="Shape 10"/>
          <p:cNvSpPr/>
          <p:nvPr/>
        </p:nvSpPr>
        <p:spPr>
          <a:xfrm>
            <a:off x="457200" y="4251960"/>
            <a:ext cx="11247120" cy="9144"/>
          </a:xfrm>
          <a:prstGeom prst="rect">
            <a:avLst/>
          </a:prstGeom>
          <a:solidFill>
            <a:srgbClr val="004A9E"/>
          </a:solidFill>
          <a:ln w="12700">
            <a:solidFill>
              <a:srgbClr val="004A9E"/>
            </a:solidFill>
            <a:prstDash val="solid"/>
          </a:ln>
        </p:spPr>
      </p:sp>
      <p:sp>
        <p:nvSpPr>
          <p:cNvPr id="13" name="Text 11"/>
          <p:cNvSpPr txBox="1"/>
          <p:nvPr/>
        </p:nvSpPr>
        <p:spPr>
          <a:xfrm>
            <a:off x="457200" y="4434840"/>
            <a:ext cx="2286000" cy="365760"/>
          </a:xfrm>
          <a:prstGeom prst="rect">
            <a:avLst/>
          </a:prstGeom>
          <a:noFill/>
          <a:ln/>
        </p:spPr>
        <p:txBody>
          <a:bodyPr wrap="square" lIns="0" tIns="0" rIns="0" bIns="0" rtlCol="0" anchor="ctr"/>
          <a:lstStyle/>
          <a:p>
            <a:pPr indent="0" marL="0">
              <a:buNone/>
            </a:pPr>
            <a:r>
              <a:rPr lang="en-US" sz="1300" b="1" spc="300" kern="0" dirty="0">
                <a:solidFill>
                  <a:srgbClr val="F5B700"/>
                </a:solidFill>
                <a:latin typeface="Calibri" pitchFamily="34" charset="0"/>
                <a:ea typeface="Calibri" pitchFamily="34" charset="-122"/>
                <a:cs typeface="Calibri" pitchFamily="34" charset="-120"/>
              </a:rPr>
              <a:t>Optionnel</a:t>
            </a:r>
            <a:endParaRPr lang="en-US" sz="1300" dirty="0"/>
          </a:p>
        </p:txBody>
      </p:sp>
      <p:sp>
        <p:nvSpPr>
          <p:cNvPr id="14" name="Text 12"/>
          <p:cNvSpPr txBox="1"/>
          <p:nvPr/>
        </p:nvSpPr>
        <p:spPr>
          <a:xfrm>
            <a:off x="2926080" y="4434840"/>
            <a:ext cx="86868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Atelier interne « prompt engineering pour la tech ».</a:t>
            </a:r>
            <a:endParaRPr lang="en-US" sz="1500" dirty="0"/>
          </a:p>
        </p:txBody>
      </p:sp>
      <p:sp>
        <p:nvSpPr>
          <p:cNvPr id="15" name="Shape 13"/>
          <p:cNvSpPr/>
          <p:nvPr/>
        </p:nvSpPr>
        <p:spPr>
          <a:xfrm>
            <a:off x="457200" y="4937760"/>
            <a:ext cx="11247120" cy="9144"/>
          </a:xfrm>
          <a:prstGeom prst="rect">
            <a:avLst/>
          </a:prstGeom>
          <a:solidFill>
            <a:srgbClr val="004A9E"/>
          </a:solidFill>
          <a:ln w="12700">
            <a:solidFill>
              <a:srgbClr val="004A9E"/>
            </a:solidFill>
            <a:prstDash val="solid"/>
          </a:ln>
        </p:spPr>
      </p:sp>
      <p:sp>
        <p:nvSpPr>
          <p:cNvPr id="16" name="Shape 14"/>
          <p:cNvSpPr/>
          <p:nvPr/>
        </p:nvSpPr>
        <p:spPr>
          <a:xfrm>
            <a:off x="457200" y="5852160"/>
            <a:ext cx="11247120" cy="548640"/>
          </a:xfrm>
          <a:prstGeom prst="rect">
            <a:avLst/>
          </a:prstGeom>
          <a:solidFill>
            <a:srgbClr val="F5B700"/>
          </a:solidFill>
          <a:ln w="12700">
            <a:solidFill>
              <a:srgbClr val="F5B700"/>
            </a:solidFill>
            <a:prstDash val="solid"/>
          </a:ln>
        </p:spPr>
      </p:sp>
      <p:sp>
        <p:nvSpPr>
          <p:cNvPr id="17" name="Text 15"/>
          <p:cNvSpPr txBox="1"/>
          <p:nvPr/>
        </p:nvSpPr>
        <p:spPr>
          <a:xfrm>
            <a:off x="731520" y="5852160"/>
            <a:ext cx="10972800" cy="548640"/>
          </a:xfrm>
          <a:prstGeom prst="rect">
            <a:avLst/>
          </a:prstGeom>
          <a:noFill/>
          <a:ln/>
        </p:spPr>
        <p:txBody>
          <a:bodyPr wrap="square" lIns="0" tIns="0" rIns="0" bIns="0" rtlCol="0" anchor="ctr"/>
          <a:lstStyle/>
          <a:p>
            <a:pPr indent="0" marL="0">
              <a:buNone/>
            </a:pPr>
            <a:r>
              <a:rPr lang="en-US" sz="2000" b="1" dirty="0">
                <a:solidFill>
                  <a:srgbClr val="003876"/>
                </a:solidFill>
                <a:latin typeface="Cambria" pitchFamily="34" charset="0"/>
                <a:ea typeface="Cambria" pitchFamily="34" charset="-122"/>
                <a:cs typeface="Cambria" pitchFamily="34" charset="-120"/>
              </a:rPr>
              <a:t>Questions &amp; discussion</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Méthode d'apprentissage augmentée par IA</dc:title>
  <dc:subject>PptxGenJS Presentation</dc:subject>
  <dc:creator>LCL — Équipe Paiements</dc:creator>
  <cp:lastModifiedBy>LCL — Équipe Paiements</cp:lastModifiedBy>
  <cp:revision>1</cp:revision>
  <dcterms:created xsi:type="dcterms:W3CDTF">2026-09-09T15:49:40Z</dcterms:created>
  <dcterms:modified xsi:type="dcterms:W3CDTF">2026-09-09T15:49:40Z</dcterms:modified>
</cp:coreProperties>
</file>