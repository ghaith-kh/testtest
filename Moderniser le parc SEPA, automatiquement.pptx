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quelques mois, j'ai transformé trois irritants de l'équipe en solutions automatisées. Je vais suivre le chemin dans l'ordre : le constat, les trois étapes, puis le bilan.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jour où j'ai intégré l'équipe, on m'a présenté trois problèmes : des logs non standardisés, des migrations difficiles et des corrections de CVE qui prenaient beaucoup de temps. J'ai commencé par les migrations, pour garantir une base à jour sur laquelle tout le reste pourrait reposer. Ensuite j'ai standardisé les logs, puis automatisé la correction des CVE.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priorité : garantir une base à jour, parce que tout le reste repose dessus. Une commande par projet, puis une revue de code. Si possible, faire ici la démo en direct : une recette qui migre un projet en quelques minutes, avec le diff avant/après.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ce que je présente est déployé sur le parc par des recettes OpenRewrite. C'est comme un correcteur automatique, mais pour le code : au lieu que chaque développeur fasse la même migration à la main, on écrit la règle une fois et on l'applique partout en quelques minutes. J'ai créé des recettes spécifiques à LCL en plus des recettes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l'IA, chaque développeur aurait fait sa propre migration, à sa façon, en consommant des tokens à chaque fois, et on n'aurait eu aucun standard. Avec les recettes, la règle est écrite une seule fois, validée, et appliquée de la même manière partout. Ce n'est pas contre l'IA : chacun à sa place. Dans une banque, la confidentialité du code et l'auditabilité comptent.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fois la base à jour, j'ai standardisé les logs. Le starter est intégré automatiquement dans chaque projet par une recette OpenRewrite. Les équipes ont tout : traçabilité de bout en bout, conformité et supervision, sans écrire une ligne de code. Le masquage RGPD/PCI-DSS est actif par défaut : aucune équipe ne peut l'oublier.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créé le parent POM pour centraliser toutes les versions, puis une recette OpenRewrite qui rattache automatiquement chaque microservice à ce parent. Renovate analyse ensuite les dépendances, détecte les CVE et crée lui-même une branche avec les versions corrigées. Le développeur n'a plus qu'à relire et fusionner. Je ne me suis pas contenté de créer des outils : pour chacun, j'ai créé la recette qui le déploie automatiquement sur tous les microservices.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revient aux trois irritants du début : chacun est traité, et chaque solution est déployée automatiquement par une recette. Terminer par une demande concrète au directeur : une équipe pilote, du temps ou un sponsor.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2000" cy="762000"/>
          </a:xfrm>
          <a:prstGeom prst="rect">
            <a:avLst/>
          </a:prstGeom>
          <a:solidFill>
            <a:srgbClr val="10296B"/>
          </a:solidFill>
          <a:ln/>
        </p:spPr>
      </p:sp>
      <p:sp>
        <p:nvSpPr>
          <p:cNvPr id="3" name="Shape 1"/>
          <p:cNvSpPr/>
          <p:nvPr/>
        </p:nvSpPr>
        <p:spPr>
          <a:xfrm>
            <a:off x="812800" y="762000"/>
            <a:ext cx="2032000" cy="88900"/>
          </a:xfrm>
          <a:prstGeom prst="rect">
            <a:avLst/>
          </a:prstGeom>
          <a:solidFill>
            <a:srgbClr val="FFCC00"/>
          </a:solidFill>
          <a:ln/>
        </p:spPr>
      </p:sp>
      <p:sp>
        <p:nvSpPr>
          <p:cNvPr id="4" name="Shape 2"/>
          <p:cNvSpPr/>
          <p:nvPr/>
        </p:nvSpPr>
        <p:spPr>
          <a:xfrm>
            <a:off x="812800" y="2929769"/>
            <a:ext cx="254000" cy="38100"/>
          </a:xfrm>
          <a:prstGeom prst="roundRect">
            <a:avLst>
              <a:gd name="adj" fmla="val 50000"/>
            </a:avLst>
          </a:prstGeom>
          <a:solidFill>
            <a:srgbClr val="FFCC00"/>
          </a:solidFill>
          <a:ln/>
        </p:spPr>
      </p:sp>
      <p:sp>
        <p:nvSpPr>
          <p:cNvPr id="5" name="Text 3"/>
          <p:cNvSpPr/>
          <p:nvPr/>
        </p:nvSpPr>
        <p:spPr>
          <a:xfrm>
            <a:off x="1168400" y="2805680"/>
            <a:ext cx="2527397"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3F8F"/>
                </a:solidFill>
                <a:latin typeface="JetBrains Mono" pitchFamily="34" charset="0"/>
                <a:ea typeface="JetBrains Mono" pitchFamily="34" charset="-122"/>
                <a:cs typeface="JetBrains Mono" pitchFamily="34" charset="-120"/>
              </a:rPr>
              <a:t>LCL · Paiements SEPA</a:t>
            </a:r>
            <a:endParaRPr lang="en-US" sz="1400" dirty="0"/>
          </a:p>
        </p:txBody>
      </p:sp>
      <p:sp>
        <p:nvSpPr>
          <p:cNvPr id="6" name="Text 4"/>
          <p:cNvSpPr/>
          <p:nvPr/>
        </p:nvSpPr>
        <p:spPr>
          <a:xfrm>
            <a:off x="812800" y="3345959"/>
            <a:ext cx="10464800" cy="1497542"/>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10296B"/>
                </a:solidFill>
                <a:latin typeface="Space Grotesk" pitchFamily="34" charset="0"/>
                <a:ea typeface="Space Grotesk" pitchFamily="34" charset="-122"/>
                <a:cs typeface="Space Grotesk" pitchFamily="34" charset="-120"/>
              </a:rPr>
              <a:t>Moderniser le parc SEPA, automatiquement</a:t>
            </a:r>
            <a:endParaRPr lang="en-US" sz="4800" dirty="0"/>
          </a:p>
        </p:txBody>
      </p:sp>
      <p:sp>
        <p:nvSpPr>
          <p:cNvPr id="7" name="Text 5"/>
          <p:cNvSpPr/>
          <p:nvPr/>
        </p:nvSpPr>
        <p:spPr>
          <a:xfrm>
            <a:off x="812800" y="5072100"/>
            <a:ext cx="10883392"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478"/>
                </a:solidFill>
                <a:latin typeface="Inter" pitchFamily="34" charset="0"/>
                <a:ea typeface="Inter" pitchFamily="34" charset="-122"/>
                <a:cs typeface="Inter" pitchFamily="34" charset="-120"/>
              </a:rPr>
              <a:t>Ce que j'ai construit depuis janvier 2026 · Ghaith, Ingénieur logiciel / Architecte Java</a:t>
            </a:r>
            <a:endParaRPr lang="en-US" sz="1400" dirty="0"/>
          </a:p>
        </p:txBody>
      </p:sp>
      <p:sp>
        <p:nvSpPr>
          <p:cNvPr id="8" name="Shape 6"/>
          <p:cNvSpPr/>
          <p:nvPr/>
        </p:nvSpPr>
        <p:spPr>
          <a:xfrm>
            <a:off x="815975" y="5615555"/>
            <a:ext cx="1464847" cy="426471"/>
          </a:xfrm>
          <a:prstGeom prst="roundRect">
            <a:avLst>
              <a:gd name="adj" fmla="val 50000"/>
            </a:avLst>
          </a:prstGeom>
          <a:solidFill>
            <a:srgbClr val="FFFFFF"/>
          </a:solidFill>
          <a:ln w="6350">
            <a:solidFill>
              <a:srgbClr val="DFE4EE"/>
            </a:solidFill>
            <a:prstDash val="solid"/>
          </a:ln>
        </p:spPr>
      </p:sp>
      <p:sp>
        <p:nvSpPr>
          <p:cNvPr id="9" name="Text 7"/>
          <p:cNvSpPr/>
          <p:nvPr/>
        </p:nvSpPr>
        <p:spPr>
          <a:xfrm>
            <a:off x="970038" y="5706118"/>
            <a:ext cx="1207521"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61F"/>
                </a:solidFill>
                <a:latin typeface="JetBrains Mono" pitchFamily="34" charset="0"/>
                <a:ea typeface="JetBrains Mono" pitchFamily="34" charset="-122"/>
                <a:cs typeface="JetBrains Mono" pitchFamily="34" charset="-120"/>
              </a:rPr>
              <a:t>3 problèmes</a:t>
            </a:r>
            <a:endParaRPr lang="en-US" sz="1200" dirty="0"/>
          </a:p>
        </p:txBody>
      </p:sp>
      <p:sp>
        <p:nvSpPr>
          <p:cNvPr id="10" name="Shape 8"/>
          <p:cNvSpPr/>
          <p:nvPr/>
        </p:nvSpPr>
        <p:spPr>
          <a:xfrm>
            <a:off x="2388772" y="5615555"/>
            <a:ext cx="1149388" cy="426471"/>
          </a:xfrm>
          <a:prstGeom prst="roundRect">
            <a:avLst>
              <a:gd name="adj" fmla="val 50000"/>
            </a:avLst>
          </a:prstGeom>
          <a:solidFill>
            <a:srgbClr val="FFFFFF"/>
          </a:solidFill>
          <a:ln w="6350">
            <a:solidFill>
              <a:srgbClr val="DFE4EE"/>
            </a:solidFill>
            <a:prstDash val="solid"/>
          </a:ln>
        </p:spPr>
      </p:sp>
      <p:sp>
        <p:nvSpPr>
          <p:cNvPr id="11" name="Text 9"/>
          <p:cNvSpPr/>
          <p:nvPr/>
        </p:nvSpPr>
        <p:spPr>
          <a:xfrm>
            <a:off x="2542835" y="5706118"/>
            <a:ext cx="892062"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3F8F"/>
                </a:solidFill>
                <a:latin typeface="JetBrains Mono" pitchFamily="34" charset="0"/>
                <a:ea typeface="JetBrains Mono" pitchFamily="34" charset="-122"/>
                <a:cs typeface="JetBrains Mono" pitchFamily="34" charset="-120"/>
              </a:rPr>
              <a:t>3 étapes</a:t>
            </a:r>
            <a:endParaRPr lang="en-US" sz="1200" dirty="0"/>
          </a:p>
        </p:txBody>
      </p:sp>
      <p:sp>
        <p:nvSpPr>
          <p:cNvPr id="12" name="Shape 10"/>
          <p:cNvSpPr/>
          <p:nvPr/>
        </p:nvSpPr>
        <p:spPr>
          <a:xfrm>
            <a:off x="3646110" y="5615555"/>
            <a:ext cx="2621567" cy="426471"/>
          </a:xfrm>
          <a:prstGeom prst="roundRect">
            <a:avLst>
              <a:gd name="adj" fmla="val 50000"/>
            </a:avLst>
          </a:prstGeom>
          <a:solidFill>
            <a:srgbClr val="FFFFFF"/>
          </a:solidFill>
          <a:ln w="6350">
            <a:solidFill>
              <a:srgbClr val="DFE4EE"/>
            </a:solidFill>
            <a:prstDash val="solid"/>
          </a:ln>
        </p:spPr>
      </p:sp>
      <p:sp>
        <p:nvSpPr>
          <p:cNvPr id="13" name="Text 11"/>
          <p:cNvSpPr/>
          <p:nvPr/>
        </p:nvSpPr>
        <p:spPr>
          <a:xfrm>
            <a:off x="3800173" y="5706118"/>
            <a:ext cx="2382844"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8A60"/>
                </a:solidFill>
                <a:latin typeface="JetBrains Mono" pitchFamily="34" charset="0"/>
                <a:ea typeface="JetBrains Mono" pitchFamily="34" charset="-122"/>
                <a:cs typeface="JetBrains Mono" pitchFamily="34" charset="-120"/>
              </a:rPr>
              <a:t>1 moteur : OpenRewrite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10296B"/>
          </a:solidFill>
          <a:ln/>
        </p:spPr>
      </p:sp>
      <p:sp>
        <p:nvSpPr>
          <p:cNvPr id="3" name="Shape 1"/>
          <p:cNvSpPr/>
          <p:nvPr/>
        </p:nvSpPr>
        <p:spPr>
          <a:xfrm>
            <a:off x="812800" y="0"/>
            <a:ext cx="1016000" cy="88900"/>
          </a:xfrm>
          <a:prstGeom prst="rect">
            <a:avLst/>
          </a:prstGeom>
          <a:solidFill>
            <a:srgbClr val="FFCC00"/>
          </a:solidFill>
          <a:ln/>
        </p:spPr>
      </p:sp>
      <p:sp>
        <p:nvSpPr>
          <p:cNvPr id="4" name="Shape 2"/>
          <p:cNvSpPr/>
          <p:nvPr/>
        </p:nvSpPr>
        <p:spPr>
          <a:xfrm>
            <a:off x="812800" y="916404"/>
            <a:ext cx="254000" cy="38100"/>
          </a:xfrm>
          <a:prstGeom prst="roundRect">
            <a:avLst>
              <a:gd name="adj" fmla="val 50000"/>
            </a:avLst>
          </a:prstGeom>
          <a:solidFill>
            <a:srgbClr val="FFCC00"/>
          </a:solidFill>
          <a:ln/>
        </p:spPr>
      </p:sp>
      <p:sp>
        <p:nvSpPr>
          <p:cNvPr id="5" name="Text 3"/>
          <p:cNvSpPr/>
          <p:nvPr/>
        </p:nvSpPr>
        <p:spPr>
          <a:xfrm>
            <a:off x="1168400" y="812800"/>
            <a:ext cx="1949575"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61F"/>
                </a:solidFill>
                <a:latin typeface="JetBrains Mono" pitchFamily="34" charset="0"/>
                <a:ea typeface="JetBrains Mono" pitchFamily="34" charset="-122"/>
                <a:cs typeface="JetBrains Mono" pitchFamily="34" charset="-120"/>
              </a:rPr>
              <a:t>Le point de départ</a:t>
            </a:r>
            <a:endParaRPr lang="en-US" sz="1200" dirty="0"/>
          </a:p>
        </p:txBody>
      </p:sp>
      <p:sp>
        <p:nvSpPr>
          <p:cNvPr id="6" name="Text 4"/>
          <p:cNvSpPr/>
          <p:nvPr/>
        </p:nvSpPr>
        <p:spPr>
          <a:xfrm>
            <a:off x="812800" y="1159745"/>
            <a:ext cx="10883392" cy="539485"/>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0296B"/>
                </a:solidFill>
                <a:latin typeface="Space Grotesk" pitchFamily="34" charset="0"/>
                <a:ea typeface="Space Grotesk" pitchFamily="34" charset="-122"/>
                <a:cs typeface="Space Grotesk" pitchFamily="34" charset="-120"/>
              </a:rPr>
              <a:t>Trois irritants remontés par l'équipe à mon arrivée</a:t>
            </a:r>
            <a:endParaRPr lang="en-US" sz="3200" dirty="0"/>
          </a:p>
        </p:txBody>
      </p:sp>
      <p:sp>
        <p:nvSpPr>
          <p:cNvPr id="7" name="Shape 5"/>
          <p:cNvSpPr/>
          <p:nvPr/>
        </p:nvSpPr>
        <p:spPr>
          <a:xfrm>
            <a:off x="815975" y="1981805"/>
            <a:ext cx="3380317" cy="1950697"/>
          </a:xfrm>
          <a:prstGeom prst="roundRect">
            <a:avLst>
              <a:gd name="adj" fmla="val 5046"/>
            </a:avLst>
          </a:prstGeom>
          <a:solidFill>
            <a:srgbClr val="FFFFFF"/>
          </a:solidFill>
          <a:ln w="6350">
            <a:solidFill>
              <a:srgbClr val="DFE4EE"/>
            </a:solidFill>
            <a:prstDash val="solid"/>
          </a:ln>
        </p:spPr>
      </p:sp>
      <p:sp>
        <p:nvSpPr>
          <p:cNvPr id="8" name="Text 6"/>
          <p:cNvSpPr/>
          <p:nvPr/>
        </p:nvSpPr>
        <p:spPr>
          <a:xfrm>
            <a:off x="1046238" y="2212068"/>
            <a:ext cx="3007384"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2461F"/>
                </a:solidFill>
                <a:latin typeface="JetBrains Mono" pitchFamily="34" charset="0"/>
                <a:ea typeface="JetBrains Mono" pitchFamily="34" charset="-122"/>
                <a:cs typeface="JetBrains Mono" pitchFamily="34" charset="-120"/>
              </a:rPr>
              <a:t>01</a:t>
            </a:r>
            <a:endParaRPr lang="en-US" sz="1400" dirty="0"/>
          </a:p>
        </p:txBody>
      </p:sp>
      <p:sp>
        <p:nvSpPr>
          <p:cNvPr id="9" name="Text 7"/>
          <p:cNvSpPr/>
          <p:nvPr/>
        </p:nvSpPr>
        <p:spPr>
          <a:xfrm>
            <a:off x="1046238" y="2574548"/>
            <a:ext cx="3007384" cy="340859"/>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033"/>
                </a:solidFill>
                <a:latin typeface="Space Grotesk" pitchFamily="34" charset="0"/>
                <a:ea typeface="Space Grotesk" pitchFamily="34" charset="-122"/>
                <a:cs typeface="Space Grotesk" pitchFamily="34" charset="-120"/>
              </a:rPr>
              <a:t>Logs non standardisés</a:t>
            </a:r>
            <a:endParaRPr lang="en-US" sz="1800" dirty="0"/>
          </a:p>
        </p:txBody>
      </p:sp>
      <p:sp>
        <p:nvSpPr>
          <p:cNvPr id="10" name="Text 8"/>
          <p:cNvSpPr/>
          <p:nvPr/>
        </p:nvSpPr>
        <p:spPr>
          <a:xfrm>
            <a:off x="1046238" y="2966206"/>
            <a:ext cx="3007384" cy="76143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Inter" pitchFamily="34" charset="0"/>
                <a:ea typeface="Inter" pitchFamily="34" charset="-122"/>
                <a:cs typeface="Inter" pitchFamily="34" charset="-120"/>
              </a:rPr>
              <a:t>Chaque projet loggue à sa façon : traçabilité REST ↔ CICS incomplète, conformité vérifiée à la main</a:t>
            </a:r>
            <a:endParaRPr lang="en-US" sz="1200" dirty="0"/>
          </a:p>
        </p:txBody>
      </p:sp>
      <p:sp>
        <p:nvSpPr>
          <p:cNvPr id="11" name="Shape 9"/>
          <p:cNvSpPr/>
          <p:nvPr/>
        </p:nvSpPr>
        <p:spPr>
          <a:xfrm>
            <a:off x="4405842" y="1981805"/>
            <a:ext cx="3380317" cy="1950697"/>
          </a:xfrm>
          <a:prstGeom prst="roundRect">
            <a:avLst>
              <a:gd name="adj" fmla="val 5046"/>
            </a:avLst>
          </a:prstGeom>
          <a:solidFill>
            <a:srgbClr val="FFFFFF"/>
          </a:solidFill>
          <a:ln w="6350">
            <a:solidFill>
              <a:srgbClr val="DFE4EE"/>
            </a:solidFill>
            <a:prstDash val="solid"/>
          </a:ln>
        </p:spPr>
      </p:sp>
      <p:sp>
        <p:nvSpPr>
          <p:cNvPr id="12" name="Text 10"/>
          <p:cNvSpPr/>
          <p:nvPr/>
        </p:nvSpPr>
        <p:spPr>
          <a:xfrm>
            <a:off x="4636105" y="2212068"/>
            <a:ext cx="3007384"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2461F"/>
                </a:solidFill>
                <a:latin typeface="JetBrains Mono" pitchFamily="34" charset="0"/>
                <a:ea typeface="JetBrains Mono" pitchFamily="34" charset="-122"/>
                <a:cs typeface="JetBrains Mono" pitchFamily="34" charset="-120"/>
              </a:rPr>
              <a:t>02</a:t>
            </a:r>
            <a:endParaRPr lang="en-US" sz="1400" dirty="0"/>
          </a:p>
        </p:txBody>
      </p:sp>
      <p:sp>
        <p:nvSpPr>
          <p:cNvPr id="13" name="Text 11"/>
          <p:cNvSpPr/>
          <p:nvPr/>
        </p:nvSpPr>
        <p:spPr>
          <a:xfrm>
            <a:off x="4636105" y="2574548"/>
            <a:ext cx="3007384" cy="340859"/>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033"/>
                </a:solidFill>
                <a:latin typeface="Space Grotesk" pitchFamily="34" charset="0"/>
                <a:ea typeface="Space Grotesk" pitchFamily="34" charset="-122"/>
                <a:cs typeface="Space Grotesk" pitchFamily="34" charset="-120"/>
              </a:rPr>
              <a:t>Migrations difficiles</a:t>
            </a:r>
            <a:endParaRPr lang="en-US" sz="1800" dirty="0"/>
          </a:p>
        </p:txBody>
      </p:sp>
      <p:sp>
        <p:nvSpPr>
          <p:cNvPr id="14" name="Text 12"/>
          <p:cNvSpPr/>
          <p:nvPr/>
        </p:nvSpPr>
        <p:spPr>
          <a:xfrm>
            <a:off x="4636105" y="2966206"/>
            <a:ext cx="3007384" cy="76143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Inter" pitchFamily="34" charset="0"/>
                <a:ea typeface="Inter" pitchFamily="34" charset="-122"/>
                <a:cs typeface="Inter" pitchFamily="34" charset="-120"/>
              </a:rPr>
              <a:t>Versions Java et Spring dispersées : chaque montée de version est un projet manuel et risqué</a:t>
            </a:r>
            <a:endParaRPr lang="en-US" sz="1200" dirty="0"/>
          </a:p>
        </p:txBody>
      </p:sp>
      <p:sp>
        <p:nvSpPr>
          <p:cNvPr id="15" name="Shape 13"/>
          <p:cNvSpPr/>
          <p:nvPr/>
        </p:nvSpPr>
        <p:spPr>
          <a:xfrm>
            <a:off x="7995709" y="1981805"/>
            <a:ext cx="3380317" cy="1950697"/>
          </a:xfrm>
          <a:prstGeom prst="roundRect">
            <a:avLst>
              <a:gd name="adj" fmla="val 5046"/>
            </a:avLst>
          </a:prstGeom>
          <a:solidFill>
            <a:srgbClr val="FFFFFF"/>
          </a:solidFill>
          <a:ln w="6350">
            <a:solidFill>
              <a:srgbClr val="DFE4EE"/>
            </a:solidFill>
            <a:prstDash val="solid"/>
          </a:ln>
        </p:spPr>
      </p:sp>
      <p:sp>
        <p:nvSpPr>
          <p:cNvPr id="16" name="Text 14"/>
          <p:cNvSpPr/>
          <p:nvPr/>
        </p:nvSpPr>
        <p:spPr>
          <a:xfrm>
            <a:off x="8225972" y="2212068"/>
            <a:ext cx="3007384"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2461F"/>
                </a:solidFill>
                <a:latin typeface="JetBrains Mono" pitchFamily="34" charset="0"/>
                <a:ea typeface="JetBrains Mono" pitchFamily="34" charset="-122"/>
                <a:cs typeface="JetBrains Mono" pitchFamily="34" charset="-120"/>
              </a:rPr>
              <a:t>03</a:t>
            </a:r>
            <a:endParaRPr lang="en-US" sz="1400" dirty="0"/>
          </a:p>
        </p:txBody>
      </p:sp>
      <p:sp>
        <p:nvSpPr>
          <p:cNvPr id="17" name="Text 15"/>
          <p:cNvSpPr/>
          <p:nvPr/>
        </p:nvSpPr>
        <p:spPr>
          <a:xfrm>
            <a:off x="8225972" y="2574548"/>
            <a:ext cx="3007384" cy="340859"/>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033"/>
                </a:solidFill>
                <a:latin typeface="Space Grotesk" pitchFamily="34" charset="0"/>
                <a:ea typeface="Space Grotesk" pitchFamily="34" charset="-122"/>
                <a:cs typeface="Space Grotesk" pitchFamily="34" charset="-120"/>
              </a:rPr>
              <a:t>CVE longues à corriger</a:t>
            </a:r>
            <a:endParaRPr lang="en-US" sz="1800" dirty="0"/>
          </a:p>
        </p:txBody>
      </p:sp>
      <p:sp>
        <p:nvSpPr>
          <p:cNvPr id="18" name="Text 16"/>
          <p:cNvSpPr/>
          <p:nvPr/>
        </p:nvSpPr>
        <p:spPr>
          <a:xfrm>
            <a:off x="8225972" y="2966206"/>
            <a:ext cx="3007384" cy="76143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Inter" pitchFamily="34" charset="0"/>
                <a:ea typeface="Inter" pitchFamily="34" charset="-122"/>
                <a:cs typeface="Inter" pitchFamily="34" charset="-120"/>
              </a:rPr>
              <a:t>Versions dupliquées dans chaque projet : une faille signifie une correction par microservice</a:t>
            </a:r>
            <a:endParaRPr lang="en-US" sz="1200" dirty="0"/>
          </a:p>
        </p:txBody>
      </p:sp>
      <p:sp>
        <p:nvSpPr>
          <p:cNvPr id="19" name="Text 17"/>
          <p:cNvSpPr/>
          <p:nvPr/>
        </p:nvSpPr>
        <p:spPr>
          <a:xfrm>
            <a:off x="812800" y="4367364"/>
            <a:ext cx="1207521"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JetBrains Mono" pitchFamily="34" charset="0"/>
                <a:ea typeface="JetBrains Mono" pitchFamily="34" charset="-122"/>
                <a:cs typeface="JetBrains Mono" pitchFamily="34" charset="-120"/>
              </a:rPr>
              <a:t>Ma démarche</a:t>
            </a:r>
            <a:endParaRPr lang="en-US" sz="1200" dirty="0"/>
          </a:p>
        </p:txBody>
      </p:sp>
      <p:sp>
        <p:nvSpPr>
          <p:cNvPr id="20" name="Shape 18"/>
          <p:cNvSpPr/>
          <p:nvPr/>
        </p:nvSpPr>
        <p:spPr>
          <a:xfrm>
            <a:off x="2099695" y="4243653"/>
            <a:ext cx="1198260" cy="492805"/>
          </a:xfrm>
          <a:prstGeom prst="roundRect">
            <a:avLst>
              <a:gd name="adj" fmla="val 14818"/>
            </a:avLst>
          </a:prstGeom>
          <a:noFill/>
          <a:ln w="6350">
            <a:solidFill>
              <a:srgbClr val="1A3F8F"/>
            </a:solidFill>
            <a:prstDash val="solid"/>
          </a:ln>
        </p:spPr>
      </p:sp>
      <p:sp>
        <p:nvSpPr>
          <p:cNvPr id="21" name="Text 19"/>
          <p:cNvSpPr/>
          <p:nvPr/>
        </p:nvSpPr>
        <p:spPr>
          <a:xfrm>
            <a:off x="2253759" y="4367364"/>
            <a:ext cx="261144"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3F8F"/>
                </a:solidFill>
                <a:latin typeface="JetBrains Mono" pitchFamily="34" charset="0"/>
                <a:ea typeface="JetBrains Mono" pitchFamily="34" charset="-122"/>
                <a:cs typeface="JetBrains Mono" pitchFamily="34" charset="-120"/>
              </a:rPr>
              <a:t>01</a:t>
            </a:r>
            <a:endParaRPr lang="en-US" sz="1200" dirty="0"/>
          </a:p>
        </p:txBody>
      </p:sp>
      <p:sp>
        <p:nvSpPr>
          <p:cNvPr id="22" name="Text 20"/>
          <p:cNvSpPr/>
          <p:nvPr/>
        </p:nvSpPr>
        <p:spPr>
          <a:xfrm>
            <a:off x="2540303" y="4346915"/>
            <a:ext cx="654390"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52033"/>
                </a:solidFill>
                <a:latin typeface="Inter" pitchFamily="34" charset="0"/>
                <a:ea typeface="Inter" pitchFamily="34" charset="-122"/>
                <a:cs typeface="Inter" pitchFamily="34" charset="-120"/>
              </a:rPr>
              <a:t>Migrer</a:t>
            </a:r>
            <a:endParaRPr lang="en-US" sz="1400" dirty="0"/>
          </a:p>
        </p:txBody>
      </p:sp>
      <p:sp>
        <p:nvSpPr>
          <p:cNvPr id="23" name="Text 21"/>
          <p:cNvSpPr/>
          <p:nvPr/>
        </p:nvSpPr>
        <p:spPr>
          <a:xfrm>
            <a:off x="3428131" y="4306019"/>
            <a:ext cx="300529" cy="393435"/>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3F8F"/>
                </a:solidFill>
                <a:latin typeface="Inter" pitchFamily="34" charset="0"/>
                <a:ea typeface="Inter" pitchFamily="34" charset="-122"/>
                <a:cs typeface="Inter" pitchFamily="34" charset="-120"/>
              </a:rPr>
              <a:t>→</a:t>
            </a:r>
            <a:endParaRPr lang="en-US" sz="1800" dirty="0"/>
          </a:p>
        </p:txBody>
      </p:sp>
      <p:sp>
        <p:nvSpPr>
          <p:cNvPr id="24" name="Shape 22"/>
          <p:cNvSpPr/>
          <p:nvPr/>
        </p:nvSpPr>
        <p:spPr>
          <a:xfrm>
            <a:off x="3808035" y="4243653"/>
            <a:ext cx="2525750" cy="492805"/>
          </a:xfrm>
          <a:prstGeom prst="roundRect">
            <a:avLst>
              <a:gd name="adj" fmla="val 14818"/>
            </a:avLst>
          </a:prstGeom>
          <a:noFill/>
          <a:ln w="6350">
            <a:solidFill>
              <a:srgbClr val="1A3F8F"/>
            </a:solidFill>
            <a:prstDash val="solid"/>
          </a:ln>
        </p:spPr>
      </p:sp>
      <p:sp>
        <p:nvSpPr>
          <p:cNvPr id="25" name="Text 23"/>
          <p:cNvSpPr/>
          <p:nvPr/>
        </p:nvSpPr>
        <p:spPr>
          <a:xfrm>
            <a:off x="3962098" y="4367364"/>
            <a:ext cx="261144"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3F8F"/>
                </a:solidFill>
                <a:latin typeface="JetBrains Mono" pitchFamily="34" charset="0"/>
                <a:ea typeface="JetBrains Mono" pitchFamily="34" charset="-122"/>
                <a:cs typeface="JetBrains Mono" pitchFamily="34" charset="-120"/>
              </a:rPr>
              <a:t>02</a:t>
            </a:r>
            <a:endParaRPr lang="en-US" sz="1200" dirty="0"/>
          </a:p>
        </p:txBody>
      </p:sp>
      <p:sp>
        <p:nvSpPr>
          <p:cNvPr id="26" name="Text 24"/>
          <p:cNvSpPr/>
          <p:nvPr/>
        </p:nvSpPr>
        <p:spPr>
          <a:xfrm>
            <a:off x="4248641" y="4346915"/>
            <a:ext cx="1989013"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52033"/>
                </a:solidFill>
                <a:latin typeface="Inter" pitchFamily="34" charset="0"/>
                <a:ea typeface="Inter" pitchFamily="34" charset="-122"/>
                <a:cs typeface="Inter" pitchFamily="34" charset="-120"/>
              </a:rPr>
              <a:t>Standardiser les logs</a:t>
            </a:r>
            <a:endParaRPr lang="en-US" sz="1400" dirty="0"/>
          </a:p>
        </p:txBody>
      </p:sp>
      <p:sp>
        <p:nvSpPr>
          <p:cNvPr id="27" name="Text 25"/>
          <p:cNvSpPr/>
          <p:nvPr/>
        </p:nvSpPr>
        <p:spPr>
          <a:xfrm>
            <a:off x="6463960" y="4306019"/>
            <a:ext cx="300529" cy="393435"/>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3F8F"/>
                </a:solidFill>
                <a:latin typeface="Inter" pitchFamily="34" charset="0"/>
                <a:ea typeface="Inter" pitchFamily="34" charset="-122"/>
                <a:cs typeface="Inter" pitchFamily="34" charset="-120"/>
              </a:rPr>
              <a:t>→</a:t>
            </a:r>
            <a:endParaRPr lang="en-US" sz="1800" dirty="0"/>
          </a:p>
        </p:txBody>
      </p:sp>
      <p:sp>
        <p:nvSpPr>
          <p:cNvPr id="28" name="Shape 26"/>
          <p:cNvSpPr/>
          <p:nvPr/>
        </p:nvSpPr>
        <p:spPr>
          <a:xfrm>
            <a:off x="6843864" y="4243653"/>
            <a:ext cx="2095803" cy="492805"/>
          </a:xfrm>
          <a:prstGeom prst="roundRect">
            <a:avLst>
              <a:gd name="adj" fmla="val 14818"/>
            </a:avLst>
          </a:prstGeom>
          <a:noFill/>
          <a:ln w="6350">
            <a:solidFill>
              <a:srgbClr val="1A3F8F"/>
            </a:solidFill>
            <a:prstDash val="solid"/>
          </a:ln>
        </p:spPr>
      </p:sp>
      <p:sp>
        <p:nvSpPr>
          <p:cNvPr id="29" name="Text 27"/>
          <p:cNvSpPr/>
          <p:nvPr/>
        </p:nvSpPr>
        <p:spPr>
          <a:xfrm>
            <a:off x="6997927" y="4367364"/>
            <a:ext cx="261144"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3F8F"/>
                </a:solidFill>
                <a:latin typeface="JetBrains Mono" pitchFamily="34" charset="0"/>
                <a:ea typeface="JetBrains Mono" pitchFamily="34" charset="-122"/>
                <a:cs typeface="JetBrains Mono" pitchFamily="34" charset="-120"/>
              </a:rPr>
              <a:t>03</a:t>
            </a:r>
            <a:endParaRPr lang="en-US" sz="1200" dirty="0"/>
          </a:p>
        </p:txBody>
      </p:sp>
      <p:sp>
        <p:nvSpPr>
          <p:cNvPr id="30" name="Text 28"/>
          <p:cNvSpPr/>
          <p:nvPr/>
        </p:nvSpPr>
        <p:spPr>
          <a:xfrm>
            <a:off x="7284471" y="4346915"/>
            <a:ext cx="1551933"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52033"/>
                </a:solidFill>
                <a:latin typeface="Inter" pitchFamily="34" charset="0"/>
                <a:ea typeface="Inter" pitchFamily="34" charset="-122"/>
                <a:cs typeface="Inter" pitchFamily="34" charset="-120"/>
              </a:rPr>
              <a:t>Corriger les CVE</a:t>
            </a:r>
            <a:endParaRPr lang="en-US" sz="1400" dirty="0"/>
          </a:p>
        </p:txBody>
      </p:sp>
      <p:sp>
        <p:nvSpPr>
          <p:cNvPr id="31" name="Shape 29"/>
          <p:cNvSpPr/>
          <p:nvPr/>
        </p:nvSpPr>
        <p:spPr>
          <a:xfrm>
            <a:off x="812800" y="6278110"/>
            <a:ext cx="101600" cy="101600"/>
          </a:xfrm>
          <a:prstGeom prst="rect">
            <a:avLst/>
          </a:prstGeom>
          <a:solidFill>
            <a:srgbClr val="FFCC00"/>
          </a:solidFill>
          <a:ln/>
        </p:spPr>
      </p:sp>
      <p:sp>
        <p:nvSpPr>
          <p:cNvPr id="32" name="Text 30"/>
          <p:cNvSpPr/>
          <p:nvPr/>
        </p:nvSpPr>
        <p:spPr>
          <a:xfrm>
            <a:off x="990600" y="6206255"/>
            <a:ext cx="2166229"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JetBrains Mono" pitchFamily="34" charset="0"/>
                <a:ea typeface="JetBrains Mono" pitchFamily="34" charset="-122"/>
                <a:cs typeface="JetBrains Mono" pitchFamily="34" charset="-120"/>
              </a:rPr>
              <a:t>LCL · Paiements SEPA</a:t>
            </a:r>
            <a:endParaRPr lang="en-US" sz="1200" dirty="0"/>
          </a:p>
        </p:txBody>
      </p:sp>
      <p:sp>
        <p:nvSpPr>
          <p:cNvPr id="33" name="Text 31"/>
          <p:cNvSpPr/>
          <p:nvPr/>
        </p:nvSpPr>
        <p:spPr>
          <a:xfrm>
            <a:off x="10643091" y="6206255"/>
            <a:ext cx="786909"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JetBrains Mono" pitchFamily="34" charset="0"/>
                <a:ea typeface="JetBrains Mono" pitchFamily="34" charset="-122"/>
                <a:cs typeface="JetBrains Mono" pitchFamily="34" charset="-120"/>
              </a:rPr>
              <a:t>02 / 08</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10296B"/>
          </a:solidFill>
          <a:ln/>
        </p:spPr>
      </p:sp>
      <p:sp>
        <p:nvSpPr>
          <p:cNvPr id="3" name="Shape 1"/>
          <p:cNvSpPr/>
          <p:nvPr/>
        </p:nvSpPr>
        <p:spPr>
          <a:xfrm>
            <a:off x="812800" y="0"/>
            <a:ext cx="1016000" cy="88900"/>
          </a:xfrm>
          <a:prstGeom prst="rect">
            <a:avLst/>
          </a:prstGeom>
          <a:solidFill>
            <a:srgbClr val="FFCC00"/>
          </a:solidFill>
          <a:ln/>
        </p:spPr>
      </p:sp>
      <p:sp>
        <p:nvSpPr>
          <p:cNvPr id="4" name="Shape 2"/>
          <p:cNvSpPr/>
          <p:nvPr/>
        </p:nvSpPr>
        <p:spPr>
          <a:xfrm>
            <a:off x="812800" y="916403"/>
            <a:ext cx="254000" cy="38100"/>
          </a:xfrm>
          <a:prstGeom prst="roundRect">
            <a:avLst>
              <a:gd name="adj" fmla="val 50000"/>
            </a:avLst>
          </a:prstGeom>
          <a:solidFill>
            <a:srgbClr val="FFCC00"/>
          </a:solidFill>
          <a:ln/>
        </p:spPr>
      </p:sp>
      <p:sp>
        <p:nvSpPr>
          <p:cNvPr id="5" name="Text 3"/>
          <p:cNvSpPr/>
          <p:nvPr/>
        </p:nvSpPr>
        <p:spPr>
          <a:xfrm>
            <a:off x="1168400" y="812800"/>
            <a:ext cx="3682535"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3F8F"/>
                </a:solidFill>
                <a:latin typeface="JetBrains Mono" pitchFamily="34" charset="0"/>
                <a:ea typeface="JetBrains Mono" pitchFamily="34" charset="-122"/>
                <a:cs typeface="JetBrains Mono" pitchFamily="34" charset="-120"/>
              </a:rPr>
              <a:t>Étape 1 · Garantir une base à jour</a:t>
            </a:r>
            <a:endParaRPr lang="en-US" sz="1200" dirty="0"/>
          </a:p>
        </p:txBody>
      </p:sp>
      <p:sp>
        <p:nvSpPr>
          <p:cNvPr id="6" name="Text 4"/>
          <p:cNvSpPr/>
          <p:nvPr/>
        </p:nvSpPr>
        <p:spPr>
          <a:xfrm>
            <a:off x="812800" y="1159745"/>
            <a:ext cx="10883392" cy="539485"/>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0296B"/>
                </a:solidFill>
                <a:latin typeface="Space Grotesk" pitchFamily="34" charset="0"/>
                <a:ea typeface="Space Grotesk" pitchFamily="34" charset="-122"/>
                <a:cs typeface="Space Grotesk" pitchFamily="34" charset="-120"/>
              </a:rPr>
              <a:t>Une migration complète en une seule commande</a:t>
            </a:r>
            <a:endParaRPr lang="en-US" sz="3200" dirty="0"/>
          </a:p>
        </p:txBody>
      </p:sp>
      <p:sp>
        <p:nvSpPr>
          <p:cNvPr id="7" name="Shape 5"/>
          <p:cNvSpPr/>
          <p:nvPr/>
        </p:nvSpPr>
        <p:spPr>
          <a:xfrm>
            <a:off x="815975" y="1981805"/>
            <a:ext cx="5383288" cy="2767428"/>
          </a:xfrm>
          <a:prstGeom prst="roundRect">
            <a:avLst>
              <a:gd name="adj" fmla="val 3557"/>
            </a:avLst>
          </a:prstGeom>
          <a:solidFill>
            <a:srgbClr val="131B2B"/>
          </a:solidFill>
          <a:ln w="6350">
            <a:solidFill>
              <a:srgbClr val="131B2B"/>
            </a:solidFill>
            <a:prstDash val="solid"/>
          </a:ln>
        </p:spPr>
      </p:sp>
      <p:sp>
        <p:nvSpPr>
          <p:cNvPr id="8" name="Text 6"/>
          <p:cNvSpPr/>
          <p:nvPr/>
        </p:nvSpPr>
        <p:spPr>
          <a:xfrm>
            <a:off x="1071638" y="2237468"/>
            <a:ext cx="5018121" cy="329142"/>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7AA2FF"/>
                </a:solidFill>
                <a:latin typeface="JetBrains Mono" pitchFamily="34" charset="0"/>
                <a:ea typeface="JetBrains Mono" pitchFamily="34" charset="-122"/>
                <a:cs typeface="JetBrains Mono" pitchFamily="34" charset="-120"/>
              </a:rPr>
              <a:t>$ mvn rewrite:run</a:t>
            </a:r>
            <a:endParaRPr lang="en-US" sz="1300" dirty="0"/>
          </a:p>
        </p:txBody>
      </p:sp>
      <p:sp>
        <p:nvSpPr>
          <p:cNvPr id="9" name="Text 7"/>
          <p:cNvSpPr/>
          <p:nvPr/>
        </p:nvSpPr>
        <p:spPr>
          <a:xfrm>
            <a:off x="1071638" y="2566609"/>
            <a:ext cx="5018121" cy="30582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9AA7BD"/>
                </a:solidFill>
                <a:latin typeface="JetBrains Mono" pitchFamily="34" charset="0"/>
                <a:ea typeface="JetBrains Mono" pitchFamily="34" charset="-122"/>
                <a:cs typeface="JetBrains Mono" pitchFamily="34" charset="-120"/>
              </a:rPr>
              <a:t># recettes LCL publiées sur Nexus</a:t>
            </a:r>
            <a:endParaRPr lang="en-US" sz="1200" dirty="0"/>
          </a:p>
        </p:txBody>
      </p:sp>
      <p:sp>
        <p:nvSpPr>
          <p:cNvPr id="10" name="Text 8"/>
          <p:cNvSpPr/>
          <p:nvPr/>
        </p:nvSpPr>
        <p:spPr>
          <a:xfrm>
            <a:off x="1071638" y="2872431"/>
            <a:ext cx="5018121" cy="329142"/>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3DDC97"/>
                </a:solidFill>
                <a:latin typeface="JetBrains Mono" pitchFamily="34" charset="0"/>
                <a:ea typeface="JetBrains Mono" pitchFamily="34" charset="-122"/>
                <a:cs typeface="JetBrains Mono" pitchFamily="34" charset="-120"/>
              </a:rPr>
              <a:t>✓</a:t>
            </a:r>
            <a:r>
              <a:rPr lang="en-US" sz="1300" dirty="0">
                <a:solidFill>
                  <a:srgbClr val="EEF2F8"/>
                </a:solidFill>
                <a:latin typeface="JetBrains Mono" pitchFamily="34" charset="0"/>
                <a:ea typeface="JetBrains Mono" pitchFamily="34" charset="-122"/>
                <a:cs typeface="JetBrains Mono" pitchFamily="34" charset="-120"/>
              </a:rPr>
              <a:t> Java 11 → 25</a:t>
            </a:r>
            <a:endParaRPr lang="en-US" sz="1300" dirty="0"/>
          </a:p>
        </p:txBody>
      </p:sp>
      <p:sp>
        <p:nvSpPr>
          <p:cNvPr id="11" name="Text 9"/>
          <p:cNvSpPr/>
          <p:nvPr/>
        </p:nvSpPr>
        <p:spPr>
          <a:xfrm>
            <a:off x="1071638" y="3201572"/>
            <a:ext cx="5018121" cy="329142"/>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3DDC97"/>
                </a:solidFill>
                <a:latin typeface="JetBrains Mono" pitchFamily="34" charset="0"/>
                <a:ea typeface="JetBrains Mono" pitchFamily="34" charset="-122"/>
                <a:cs typeface="JetBrains Mono" pitchFamily="34" charset="-120"/>
              </a:rPr>
              <a:t>✓</a:t>
            </a:r>
            <a:r>
              <a:rPr lang="en-US" sz="1300" dirty="0">
                <a:solidFill>
                  <a:srgbClr val="EEF2F8"/>
                </a:solidFill>
                <a:latin typeface="JetBrains Mono" pitchFamily="34" charset="0"/>
                <a:ea typeface="JetBrains Mono" pitchFamily="34" charset="-122"/>
                <a:cs typeface="JetBrains Mono" pitchFamily="34" charset="-120"/>
              </a:rPr>
              <a:t> Spring Boot 4 / Spring 7</a:t>
            </a:r>
            <a:endParaRPr lang="en-US" sz="1300" dirty="0"/>
          </a:p>
        </p:txBody>
      </p:sp>
      <p:sp>
        <p:nvSpPr>
          <p:cNvPr id="12" name="Text 10"/>
          <p:cNvSpPr/>
          <p:nvPr/>
        </p:nvSpPr>
        <p:spPr>
          <a:xfrm>
            <a:off x="1071638" y="3530713"/>
            <a:ext cx="5018121" cy="329142"/>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3DDC97"/>
                </a:solidFill>
                <a:latin typeface="JetBrains Mono" pitchFamily="34" charset="0"/>
                <a:ea typeface="JetBrains Mono" pitchFamily="34" charset="-122"/>
                <a:cs typeface="JetBrains Mono" pitchFamily="34" charset="-120"/>
              </a:rPr>
              <a:t>✓</a:t>
            </a:r>
            <a:r>
              <a:rPr lang="en-US" sz="1300" dirty="0">
                <a:solidFill>
                  <a:srgbClr val="EEF2F8"/>
                </a:solidFill>
                <a:latin typeface="JetBrains Mono" pitchFamily="34" charset="0"/>
                <a:ea typeface="JetBrains Mono" pitchFamily="34" charset="-122"/>
                <a:cs typeface="JetBrains Mono" pitchFamily="34" charset="-120"/>
              </a:rPr>
              <a:t> Prometheus intégré</a:t>
            </a:r>
            <a:endParaRPr lang="en-US" sz="1300" dirty="0"/>
          </a:p>
        </p:txBody>
      </p:sp>
      <p:sp>
        <p:nvSpPr>
          <p:cNvPr id="13" name="Text 11"/>
          <p:cNvSpPr/>
          <p:nvPr/>
        </p:nvSpPr>
        <p:spPr>
          <a:xfrm>
            <a:off x="1071638" y="3859856"/>
            <a:ext cx="5018121" cy="329142"/>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3DDC97"/>
                </a:solidFill>
                <a:latin typeface="JetBrains Mono" pitchFamily="34" charset="0"/>
                <a:ea typeface="JetBrains Mono" pitchFamily="34" charset="-122"/>
                <a:cs typeface="JetBrains Mono" pitchFamily="34" charset="-120"/>
              </a:rPr>
              <a:t>✓</a:t>
            </a:r>
            <a:r>
              <a:rPr lang="en-US" sz="1300" dirty="0">
                <a:solidFill>
                  <a:srgbClr val="EEF2F8"/>
                </a:solidFill>
                <a:latin typeface="JetBrains Mono" pitchFamily="34" charset="0"/>
                <a:ea typeface="JetBrains Mono" pitchFamily="34" charset="-122"/>
                <a:cs typeface="JetBrains Mono" pitchFamily="34" charset="-120"/>
              </a:rPr>
              <a:t> Parent POM LCL rattaché</a:t>
            </a:r>
            <a:endParaRPr lang="en-US" sz="1300" dirty="0"/>
          </a:p>
        </p:txBody>
      </p:sp>
      <p:sp>
        <p:nvSpPr>
          <p:cNvPr id="14" name="Text 12"/>
          <p:cNvSpPr/>
          <p:nvPr/>
        </p:nvSpPr>
        <p:spPr>
          <a:xfrm>
            <a:off x="6507238" y="1978630"/>
            <a:ext cx="5018121" cy="340859"/>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033"/>
                </a:solidFill>
                <a:latin typeface="Space Grotesk" pitchFamily="34" charset="0"/>
                <a:ea typeface="Space Grotesk" pitchFamily="34" charset="-122"/>
                <a:cs typeface="Space Grotesk" pitchFamily="34" charset="-120"/>
              </a:rPr>
              <a:t>Java Migration Tool</a:t>
            </a:r>
            <a:endParaRPr lang="en-US" sz="1800" dirty="0"/>
          </a:p>
        </p:txBody>
      </p:sp>
      <p:sp>
        <p:nvSpPr>
          <p:cNvPr id="15" name="Text 13"/>
          <p:cNvSpPr/>
          <p:nvPr/>
        </p:nvSpPr>
        <p:spPr>
          <a:xfrm>
            <a:off x="6507238" y="2421089"/>
            <a:ext cx="5018121" cy="59795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478"/>
                </a:solidFill>
                <a:latin typeface="Inter" pitchFamily="34" charset="0"/>
                <a:ea typeface="Inter" pitchFamily="34" charset="-122"/>
                <a:cs typeface="Inter" pitchFamily="34" charset="-120"/>
              </a:rPr>
              <a:t>Un catalogue de recettes OpenRewrite, utilisable par toutes les équipes.</a:t>
            </a:r>
            <a:endParaRPr lang="en-US" sz="1400" dirty="0"/>
          </a:p>
        </p:txBody>
      </p:sp>
      <p:sp>
        <p:nvSpPr>
          <p:cNvPr id="16" name="Text 14"/>
          <p:cNvSpPr/>
          <p:nvPr/>
        </p:nvSpPr>
        <p:spPr>
          <a:xfrm>
            <a:off x="6507238" y="3120647"/>
            <a:ext cx="5018121" cy="59795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478"/>
                </a:solidFill>
                <a:latin typeface="Inter" pitchFamily="34" charset="0"/>
                <a:ea typeface="Inter" pitchFamily="34" charset="-122"/>
                <a:cs typeface="Inter" pitchFamily="34" charset="-120"/>
              </a:rPr>
              <a:t>Spring Boot 4 préparé par une stratégie en 12 phases : Jackson 3, Kafka 4, Security 7.</a:t>
            </a:r>
            <a:endParaRPr lang="en-US" sz="1400" dirty="0"/>
          </a:p>
        </p:txBody>
      </p:sp>
      <p:sp>
        <p:nvSpPr>
          <p:cNvPr id="17" name="Shape 15"/>
          <p:cNvSpPr/>
          <p:nvPr/>
        </p:nvSpPr>
        <p:spPr>
          <a:xfrm>
            <a:off x="6507238" y="3823381"/>
            <a:ext cx="4871962" cy="0"/>
          </a:xfrm>
          <a:prstGeom prst="line">
            <a:avLst/>
          </a:prstGeom>
          <a:noFill/>
          <a:ln w="6350">
            <a:solidFill>
              <a:srgbClr val="DFE4EE"/>
            </a:solidFill>
            <a:prstDash val="solid"/>
          </a:ln>
        </p:spPr>
      </p:sp>
      <p:sp>
        <p:nvSpPr>
          <p:cNvPr id="18" name="Text 16"/>
          <p:cNvSpPr/>
          <p:nvPr/>
        </p:nvSpPr>
        <p:spPr>
          <a:xfrm>
            <a:off x="6507238" y="3901244"/>
            <a:ext cx="5018121" cy="539485"/>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A3F8F"/>
                </a:solidFill>
                <a:latin typeface="Space Grotesk" pitchFamily="34" charset="0"/>
                <a:ea typeface="Space Grotesk" pitchFamily="34" charset="-122"/>
                <a:cs typeface="Space Grotesk" pitchFamily="34" charset="-120"/>
              </a:rPr>
              <a:t>[X j] → [X h]</a:t>
            </a:r>
            <a:endParaRPr lang="en-US" sz="3200" dirty="0"/>
          </a:p>
        </p:txBody>
      </p:sp>
      <p:sp>
        <p:nvSpPr>
          <p:cNvPr id="19" name="Text 17"/>
          <p:cNvSpPr/>
          <p:nvPr/>
        </p:nvSpPr>
        <p:spPr>
          <a:xfrm>
            <a:off x="6507238" y="4466129"/>
            <a:ext cx="5018121"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478"/>
                </a:solidFill>
                <a:latin typeface="Inter" pitchFamily="34" charset="0"/>
                <a:ea typeface="Inter" pitchFamily="34" charset="-122"/>
                <a:cs typeface="Inter" pitchFamily="34" charset="-120"/>
              </a:rPr>
              <a:t>par migration de service</a:t>
            </a:r>
            <a:endParaRPr lang="en-US" sz="1400" dirty="0"/>
          </a:p>
        </p:txBody>
      </p:sp>
      <p:sp>
        <p:nvSpPr>
          <p:cNvPr id="20" name="Shape 18"/>
          <p:cNvSpPr/>
          <p:nvPr/>
        </p:nvSpPr>
        <p:spPr>
          <a:xfrm>
            <a:off x="812800" y="6278110"/>
            <a:ext cx="101600" cy="101600"/>
          </a:xfrm>
          <a:prstGeom prst="rect">
            <a:avLst/>
          </a:prstGeom>
          <a:solidFill>
            <a:srgbClr val="FFCC00"/>
          </a:solidFill>
          <a:ln/>
        </p:spPr>
      </p:sp>
      <p:sp>
        <p:nvSpPr>
          <p:cNvPr id="21" name="Text 19"/>
          <p:cNvSpPr/>
          <p:nvPr/>
        </p:nvSpPr>
        <p:spPr>
          <a:xfrm>
            <a:off x="990600" y="6206255"/>
            <a:ext cx="2166229"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JetBrains Mono" pitchFamily="34" charset="0"/>
                <a:ea typeface="JetBrains Mono" pitchFamily="34" charset="-122"/>
                <a:cs typeface="JetBrains Mono" pitchFamily="34" charset="-120"/>
              </a:rPr>
              <a:t>LCL · Paiements SEPA</a:t>
            </a:r>
            <a:endParaRPr lang="en-US" sz="1200" dirty="0"/>
          </a:p>
        </p:txBody>
      </p:sp>
      <p:sp>
        <p:nvSpPr>
          <p:cNvPr id="22" name="Text 20"/>
          <p:cNvSpPr/>
          <p:nvPr/>
        </p:nvSpPr>
        <p:spPr>
          <a:xfrm>
            <a:off x="10643091" y="6206255"/>
            <a:ext cx="786909"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JetBrains Mono" pitchFamily="34" charset="0"/>
                <a:ea typeface="JetBrains Mono" pitchFamily="34" charset="-122"/>
                <a:cs typeface="JetBrains Mono" pitchFamily="34" charset="-120"/>
              </a:rPr>
              <a:t>03 / 08</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10296B"/>
          </a:solidFill>
          <a:ln/>
        </p:spPr>
      </p:sp>
      <p:sp>
        <p:nvSpPr>
          <p:cNvPr id="3" name="Shape 1"/>
          <p:cNvSpPr/>
          <p:nvPr/>
        </p:nvSpPr>
        <p:spPr>
          <a:xfrm>
            <a:off x="812800" y="0"/>
            <a:ext cx="1016000" cy="88900"/>
          </a:xfrm>
          <a:prstGeom prst="rect">
            <a:avLst/>
          </a:prstGeom>
          <a:solidFill>
            <a:srgbClr val="FFCC00"/>
          </a:solidFill>
          <a:ln/>
        </p:spPr>
      </p:sp>
      <p:sp>
        <p:nvSpPr>
          <p:cNvPr id="4" name="Shape 2"/>
          <p:cNvSpPr/>
          <p:nvPr/>
        </p:nvSpPr>
        <p:spPr>
          <a:xfrm>
            <a:off x="812800" y="916403"/>
            <a:ext cx="254000" cy="38100"/>
          </a:xfrm>
          <a:prstGeom prst="roundRect">
            <a:avLst>
              <a:gd name="adj" fmla="val 50000"/>
            </a:avLst>
          </a:prstGeom>
          <a:solidFill>
            <a:srgbClr val="FFCC00"/>
          </a:solidFill>
          <a:ln/>
        </p:spPr>
      </p:sp>
      <p:sp>
        <p:nvSpPr>
          <p:cNvPr id="5" name="Text 3"/>
          <p:cNvSpPr/>
          <p:nvPr/>
        </p:nvSpPr>
        <p:spPr>
          <a:xfrm>
            <a:off x="1168400" y="812800"/>
            <a:ext cx="259946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3F8F"/>
                </a:solidFill>
                <a:latin typeface="JetBrains Mono" pitchFamily="34" charset="0"/>
                <a:ea typeface="JetBrains Mono" pitchFamily="34" charset="-122"/>
                <a:cs typeface="JetBrains Mono" pitchFamily="34" charset="-120"/>
              </a:rPr>
              <a:t>Le moteur de la démarche</a:t>
            </a:r>
            <a:endParaRPr lang="en-US" sz="1200" dirty="0"/>
          </a:p>
        </p:txBody>
      </p:sp>
      <p:sp>
        <p:nvSpPr>
          <p:cNvPr id="6" name="Text 4"/>
          <p:cNvSpPr/>
          <p:nvPr/>
        </p:nvSpPr>
        <p:spPr>
          <a:xfrm>
            <a:off x="812800" y="1159745"/>
            <a:ext cx="10883392" cy="1053571"/>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0296B"/>
                </a:solidFill>
                <a:latin typeface="Space Grotesk" pitchFamily="34" charset="0"/>
                <a:ea typeface="Space Grotesk" pitchFamily="34" charset="-122"/>
                <a:cs typeface="Space Grotesk" pitchFamily="34" charset="-120"/>
              </a:rPr>
              <a:t>OpenRewrite : le code modifié automatiquement, en toute sécurité</a:t>
            </a:r>
            <a:endParaRPr lang="en-US" sz="3200" dirty="0"/>
          </a:p>
        </p:txBody>
      </p:sp>
      <p:sp>
        <p:nvSpPr>
          <p:cNvPr id="7" name="Shape 5"/>
          <p:cNvSpPr/>
          <p:nvPr/>
        </p:nvSpPr>
        <p:spPr>
          <a:xfrm>
            <a:off x="815975" y="2495891"/>
            <a:ext cx="3380317" cy="1915357"/>
          </a:xfrm>
          <a:prstGeom prst="roundRect">
            <a:avLst>
              <a:gd name="adj" fmla="val 5139"/>
            </a:avLst>
          </a:prstGeom>
          <a:solidFill>
            <a:srgbClr val="FFFFFF"/>
          </a:solidFill>
          <a:ln w="6350">
            <a:solidFill>
              <a:srgbClr val="DFE4EE"/>
            </a:solidFill>
            <a:prstDash val="solid"/>
          </a:ln>
        </p:spPr>
      </p:sp>
      <p:sp>
        <p:nvSpPr>
          <p:cNvPr id="8" name="Text 6"/>
          <p:cNvSpPr/>
          <p:nvPr/>
        </p:nvSpPr>
        <p:spPr>
          <a:xfrm>
            <a:off x="1046238" y="2726153"/>
            <a:ext cx="3007384" cy="340859"/>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033"/>
                </a:solidFill>
                <a:latin typeface="Space Grotesk" pitchFamily="34" charset="0"/>
                <a:ea typeface="Space Grotesk" pitchFamily="34" charset="-122"/>
                <a:cs typeface="Space Grotesk" pitchFamily="34" charset="-120"/>
              </a:rPr>
              <a:t>Écrit une fois</a:t>
            </a:r>
            <a:endParaRPr lang="en-US" sz="1800" dirty="0"/>
          </a:p>
        </p:txBody>
      </p:sp>
      <p:sp>
        <p:nvSpPr>
          <p:cNvPr id="9" name="Text 7"/>
          <p:cNvSpPr/>
          <p:nvPr/>
        </p:nvSpPr>
        <p:spPr>
          <a:xfrm>
            <a:off x="1046238" y="3117813"/>
            <a:ext cx="3007384" cy="8227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478"/>
                </a:solidFill>
                <a:latin typeface="Inter" pitchFamily="34" charset="0"/>
                <a:ea typeface="Inter" pitchFamily="34" charset="-122"/>
                <a:cs typeface="Inter" pitchFamily="34" charset="-120"/>
              </a:rPr>
              <a:t>Chaque modification est décrite dans une recette, appliquée de la même façon à tous les projets.</a:t>
            </a:r>
            <a:endParaRPr lang="en-US" sz="1300" dirty="0"/>
          </a:p>
        </p:txBody>
      </p:sp>
      <p:sp>
        <p:nvSpPr>
          <p:cNvPr id="10" name="Shape 8"/>
          <p:cNvSpPr/>
          <p:nvPr/>
        </p:nvSpPr>
        <p:spPr>
          <a:xfrm>
            <a:off x="4405842" y="2495891"/>
            <a:ext cx="3380317" cy="1915357"/>
          </a:xfrm>
          <a:prstGeom prst="roundRect">
            <a:avLst>
              <a:gd name="adj" fmla="val 5139"/>
            </a:avLst>
          </a:prstGeom>
          <a:solidFill>
            <a:srgbClr val="FFFFFF"/>
          </a:solidFill>
          <a:ln w="6350">
            <a:solidFill>
              <a:srgbClr val="DFE4EE"/>
            </a:solidFill>
            <a:prstDash val="solid"/>
          </a:ln>
        </p:spPr>
      </p:sp>
      <p:sp>
        <p:nvSpPr>
          <p:cNvPr id="11" name="Text 9"/>
          <p:cNvSpPr/>
          <p:nvPr/>
        </p:nvSpPr>
        <p:spPr>
          <a:xfrm>
            <a:off x="4636105" y="2726153"/>
            <a:ext cx="3007384" cy="340859"/>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033"/>
                </a:solidFill>
                <a:latin typeface="Space Grotesk" pitchFamily="34" charset="0"/>
                <a:ea typeface="Space Grotesk" pitchFamily="34" charset="-122"/>
                <a:cs typeface="Space Grotesk" pitchFamily="34" charset="-120"/>
              </a:rPr>
              <a:t>Comprend le code</a:t>
            </a:r>
            <a:endParaRPr lang="en-US" sz="1800" dirty="0"/>
          </a:p>
        </p:txBody>
      </p:sp>
      <p:sp>
        <p:nvSpPr>
          <p:cNvPr id="12" name="Text 10"/>
          <p:cNvSpPr/>
          <p:nvPr/>
        </p:nvSpPr>
        <p:spPr>
          <a:xfrm>
            <a:off x="4636105" y="3117813"/>
            <a:ext cx="3007384" cy="8227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478"/>
                </a:solidFill>
                <a:latin typeface="Inter" pitchFamily="34" charset="0"/>
                <a:ea typeface="Inter" pitchFamily="34" charset="-122"/>
                <a:cs typeface="Inter" pitchFamily="34" charset="-120"/>
              </a:rPr>
              <a:t>Pas un rechercher-remplacer : il analyse types, imports et dépendances. Le résultat compile.</a:t>
            </a:r>
            <a:endParaRPr lang="en-US" sz="1300" dirty="0"/>
          </a:p>
        </p:txBody>
      </p:sp>
      <p:sp>
        <p:nvSpPr>
          <p:cNvPr id="13" name="Shape 11"/>
          <p:cNvSpPr/>
          <p:nvPr/>
        </p:nvSpPr>
        <p:spPr>
          <a:xfrm>
            <a:off x="7995709" y="2495891"/>
            <a:ext cx="3380317" cy="1915357"/>
          </a:xfrm>
          <a:prstGeom prst="roundRect">
            <a:avLst>
              <a:gd name="adj" fmla="val 5139"/>
            </a:avLst>
          </a:prstGeom>
          <a:solidFill>
            <a:srgbClr val="FFFFFF"/>
          </a:solidFill>
          <a:ln w="6350">
            <a:solidFill>
              <a:srgbClr val="DFE4EE"/>
            </a:solidFill>
            <a:prstDash val="solid"/>
          </a:ln>
        </p:spPr>
      </p:sp>
      <p:sp>
        <p:nvSpPr>
          <p:cNvPr id="14" name="Text 12"/>
          <p:cNvSpPr/>
          <p:nvPr/>
        </p:nvSpPr>
        <p:spPr>
          <a:xfrm>
            <a:off x="8225972" y="2726153"/>
            <a:ext cx="3007384" cy="340859"/>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033"/>
                </a:solidFill>
                <a:latin typeface="Space Grotesk" pitchFamily="34" charset="0"/>
                <a:ea typeface="Space Grotesk" pitchFamily="34" charset="-122"/>
                <a:cs typeface="Space Grotesk" pitchFamily="34" charset="-120"/>
              </a:rPr>
              <a:t>Standard du marché</a:t>
            </a:r>
            <a:endParaRPr lang="en-US" sz="1800" dirty="0"/>
          </a:p>
        </p:txBody>
      </p:sp>
      <p:sp>
        <p:nvSpPr>
          <p:cNvPr id="15" name="Text 13"/>
          <p:cNvSpPr/>
          <p:nvPr/>
        </p:nvSpPr>
        <p:spPr>
          <a:xfrm>
            <a:off x="8225972" y="3117813"/>
            <a:ext cx="3007384" cy="108857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478"/>
                </a:solidFill>
                <a:latin typeface="Inter" pitchFamily="34" charset="0"/>
                <a:ea typeface="Inter" pitchFamily="34" charset="-122"/>
                <a:cs typeface="Inter" pitchFamily="34" charset="-120"/>
              </a:rPr>
              <a:t>Open source, avec des recettes officielles maintenues par Moderne et la communauté Spring.</a:t>
            </a:r>
            <a:endParaRPr lang="en-US" sz="1300" dirty="0"/>
          </a:p>
        </p:txBody>
      </p:sp>
      <p:sp>
        <p:nvSpPr>
          <p:cNvPr id="16" name="Shape 14"/>
          <p:cNvSpPr/>
          <p:nvPr/>
        </p:nvSpPr>
        <p:spPr>
          <a:xfrm>
            <a:off x="815975" y="4845769"/>
            <a:ext cx="2257425" cy="554907"/>
          </a:xfrm>
          <a:prstGeom prst="roundRect">
            <a:avLst>
              <a:gd name="adj" fmla="val 13160"/>
            </a:avLst>
          </a:prstGeom>
          <a:solidFill>
            <a:srgbClr val="1A3F8F"/>
          </a:solidFill>
          <a:ln w="6350">
            <a:solidFill>
              <a:srgbClr val="1A3F8F"/>
            </a:solidFill>
            <a:prstDash val="solid"/>
          </a:ln>
        </p:spPr>
      </p:sp>
      <p:sp>
        <p:nvSpPr>
          <p:cNvPr id="17" name="Text 15"/>
          <p:cNvSpPr/>
          <p:nvPr/>
        </p:nvSpPr>
        <p:spPr>
          <a:xfrm>
            <a:off x="970038" y="4999831"/>
            <a:ext cx="2007778" cy="272181"/>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FFFFF"/>
                </a:solidFill>
                <a:latin typeface="Inter" pitchFamily="34" charset="0"/>
                <a:ea typeface="Inter" pitchFamily="34" charset="-122"/>
                <a:cs typeface="Inter" pitchFamily="34" charset="-120"/>
              </a:rPr>
              <a:t>Recette écrite une fois</a:t>
            </a:r>
            <a:endParaRPr lang="en-US" sz="1300" dirty="0"/>
          </a:p>
        </p:txBody>
      </p:sp>
      <p:sp>
        <p:nvSpPr>
          <p:cNvPr id="18" name="Text 16"/>
          <p:cNvSpPr/>
          <p:nvPr/>
        </p:nvSpPr>
        <p:spPr>
          <a:xfrm>
            <a:off x="3203575" y="4939204"/>
            <a:ext cx="300529" cy="393435"/>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3F8F"/>
                </a:solidFill>
                <a:latin typeface="Inter" pitchFamily="34" charset="0"/>
                <a:ea typeface="Inter" pitchFamily="34" charset="-122"/>
                <a:cs typeface="Inter" pitchFamily="34" charset="-120"/>
              </a:rPr>
              <a:t>→</a:t>
            </a:r>
            <a:endParaRPr lang="en-US" sz="1800" dirty="0"/>
          </a:p>
        </p:txBody>
      </p:sp>
      <p:sp>
        <p:nvSpPr>
          <p:cNvPr id="19" name="Shape 17"/>
          <p:cNvSpPr/>
          <p:nvPr/>
        </p:nvSpPr>
        <p:spPr>
          <a:xfrm>
            <a:off x="3583479" y="4722397"/>
            <a:ext cx="2257463" cy="801688"/>
          </a:xfrm>
          <a:prstGeom prst="roundRect">
            <a:avLst>
              <a:gd name="adj" fmla="val 9109"/>
            </a:avLst>
          </a:prstGeom>
          <a:solidFill>
            <a:srgbClr val="FFFFFF"/>
          </a:solidFill>
          <a:ln w="6350">
            <a:solidFill>
              <a:srgbClr val="DFE4EE"/>
            </a:solidFill>
            <a:prstDash val="solid"/>
          </a:ln>
        </p:spPr>
      </p:sp>
      <p:sp>
        <p:nvSpPr>
          <p:cNvPr id="20" name="Text 18"/>
          <p:cNvSpPr/>
          <p:nvPr/>
        </p:nvSpPr>
        <p:spPr>
          <a:xfrm>
            <a:off x="3737542" y="4876460"/>
            <a:ext cx="2007817" cy="518961"/>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52033"/>
                </a:solidFill>
                <a:latin typeface="Inter" pitchFamily="34" charset="0"/>
                <a:ea typeface="Inter" pitchFamily="34" charset="-122"/>
                <a:cs typeface="Inter" pitchFamily="34" charset="-120"/>
              </a:rPr>
              <a:t>Appliquée sur [X] projets</a:t>
            </a:r>
            <a:endParaRPr lang="en-US" sz="1300" dirty="0"/>
          </a:p>
        </p:txBody>
      </p:sp>
      <p:sp>
        <p:nvSpPr>
          <p:cNvPr id="21" name="Text 19"/>
          <p:cNvSpPr/>
          <p:nvPr/>
        </p:nvSpPr>
        <p:spPr>
          <a:xfrm>
            <a:off x="5971117" y="4939204"/>
            <a:ext cx="300529" cy="393435"/>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3F8F"/>
                </a:solidFill>
                <a:latin typeface="Inter" pitchFamily="34" charset="0"/>
                <a:ea typeface="Inter" pitchFamily="34" charset="-122"/>
                <a:cs typeface="Inter" pitchFamily="34" charset="-120"/>
              </a:rPr>
              <a:t>→</a:t>
            </a:r>
            <a:endParaRPr lang="en-US" sz="1800" dirty="0"/>
          </a:p>
        </p:txBody>
      </p:sp>
      <p:sp>
        <p:nvSpPr>
          <p:cNvPr id="22" name="Shape 20"/>
          <p:cNvSpPr/>
          <p:nvPr/>
        </p:nvSpPr>
        <p:spPr>
          <a:xfrm>
            <a:off x="6351020" y="4845769"/>
            <a:ext cx="2257463" cy="554907"/>
          </a:xfrm>
          <a:prstGeom prst="roundRect">
            <a:avLst>
              <a:gd name="adj" fmla="val 13160"/>
            </a:avLst>
          </a:prstGeom>
          <a:solidFill>
            <a:srgbClr val="FFFFFF"/>
          </a:solidFill>
          <a:ln w="6350">
            <a:solidFill>
              <a:srgbClr val="DFE4EE"/>
            </a:solidFill>
            <a:prstDash val="solid"/>
          </a:ln>
        </p:spPr>
      </p:sp>
      <p:sp>
        <p:nvSpPr>
          <p:cNvPr id="23" name="Text 21"/>
          <p:cNvSpPr/>
          <p:nvPr/>
        </p:nvSpPr>
        <p:spPr>
          <a:xfrm>
            <a:off x="6505084" y="4999831"/>
            <a:ext cx="2007817" cy="272181"/>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52033"/>
                </a:solidFill>
                <a:latin typeface="Inter" pitchFamily="34" charset="0"/>
                <a:ea typeface="Inter" pitchFamily="34" charset="-122"/>
                <a:cs typeface="Inter" pitchFamily="34" charset="-120"/>
              </a:rPr>
              <a:t>Code migré + revue</a:t>
            </a:r>
            <a:endParaRPr lang="en-US" sz="1300" dirty="0"/>
          </a:p>
        </p:txBody>
      </p:sp>
      <p:sp>
        <p:nvSpPr>
          <p:cNvPr id="24" name="Text 22"/>
          <p:cNvSpPr/>
          <p:nvPr/>
        </p:nvSpPr>
        <p:spPr>
          <a:xfrm>
            <a:off x="8738659" y="4939204"/>
            <a:ext cx="300529" cy="393435"/>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3F8F"/>
                </a:solidFill>
                <a:latin typeface="Inter" pitchFamily="34" charset="0"/>
                <a:ea typeface="Inter" pitchFamily="34" charset="-122"/>
                <a:cs typeface="Inter" pitchFamily="34" charset="-120"/>
              </a:rPr>
              <a:t>→</a:t>
            </a:r>
            <a:endParaRPr lang="en-US" sz="1800" dirty="0"/>
          </a:p>
        </p:txBody>
      </p:sp>
      <p:sp>
        <p:nvSpPr>
          <p:cNvPr id="25" name="Shape 23"/>
          <p:cNvSpPr/>
          <p:nvPr/>
        </p:nvSpPr>
        <p:spPr>
          <a:xfrm>
            <a:off x="9118562" y="4845769"/>
            <a:ext cx="2257463" cy="554907"/>
          </a:xfrm>
          <a:prstGeom prst="roundRect">
            <a:avLst>
              <a:gd name="adj" fmla="val 13160"/>
            </a:avLst>
          </a:prstGeom>
          <a:solidFill>
            <a:srgbClr val="FFFFFF"/>
          </a:solidFill>
          <a:ln w="6350">
            <a:solidFill>
              <a:srgbClr val="DFE4EE"/>
            </a:solidFill>
            <a:prstDash val="solid"/>
          </a:ln>
        </p:spPr>
      </p:sp>
      <p:sp>
        <p:nvSpPr>
          <p:cNvPr id="26" name="Text 24"/>
          <p:cNvSpPr/>
          <p:nvPr/>
        </p:nvSpPr>
        <p:spPr>
          <a:xfrm>
            <a:off x="9272625" y="4999831"/>
            <a:ext cx="2007817" cy="272181"/>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F8A60"/>
                </a:solidFill>
                <a:latin typeface="Inter" pitchFamily="34" charset="0"/>
                <a:ea typeface="Inter" pitchFamily="34" charset="-122"/>
                <a:cs typeface="Inter" pitchFamily="34" charset="-120"/>
              </a:rPr>
              <a:t>Livré</a:t>
            </a:r>
            <a:endParaRPr lang="en-US" sz="1300" dirty="0"/>
          </a:p>
        </p:txBody>
      </p:sp>
      <p:sp>
        <p:nvSpPr>
          <p:cNvPr id="27" name="Shape 25"/>
          <p:cNvSpPr/>
          <p:nvPr/>
        </p:nvSpPr>
        <p:spPr>
          <a:xfrm>
            <a:off x="812800" y="6278110"/>
            <a:ext cx="101600" cy="101600"/>
          </a:xfrm>
          <a:prstGeom prst="rect">
            <a:avLst/>
          </a:prstGeom>
          <a:solidFill>
            <a:srgbClr val="FFCC00"/>
          </a:solidFill>
          <a:ln/>
        </p:spPr>
      </p:sp>
      <p:sp>
        <p:nvSpPr>
          <p:cNvPr id="28" name="Text 26"/>
          <p:cNvSpPr/>
          <p:nvPr/>
        </p:nvSpPr>
        <p:spPr>
          <a:xfrm>
            <a:off x="990600" y="6206257"/>
            <a:ext cx="2166229"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JetBrains Mono" pitchFamily="34" charset="0"/>
                <a:ea typeface="JetBrains Mono" pitchFamily="34" charset="-122"/>
                <a:cs typeface="JetBrains Mono" pitchFamily="34" charset="-120"/>
              </a:rPr>
              <a:t>LCL · Paiements SEPA</a:t>
            </a:r>
            <a:endParaRPr lang="en-US" sz="1200" dirty="0"/>
          </a:p>
        </p:txBody>
      </p:sp>
      <p:sp>
        <p:nvSpPr>
          <p:cNvPr id="29" name="Text 27"/>
          <p:cNvSpPr/>
          <p:nvPr/>
        </p:nvSpPr>
        <p:spPr>
          <a:xfrm>
            <a:off x="10643091" y="6206257"/>
            <a:ext cx="786909"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JetBrains Mono" pitchFamily="34" charset="0"/>
                <a:ea typeface="JetBrains Mono" pitchFamily="34" charset="-122"/>
                <a:cs typeface="JetBrains Mono" pitchFamily="34" charset="-120"/>
              </a:rPr>
              <a:t>04 / 08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10296B"/>
          </a:solidFill>
          <a:ln/>
        </p:spPr>
      </p:sp>
      <p:sp>
        <p:nvSpPr>
          <p:cNvPr id="3" name="Shape 1"/>
          <p:cNvSpPr/>
          <p:nvPr/>
        </p:nvSpPr>
        <p:spPr>
          <a:xfrm>
            <a:off x="812800" y="0"/>
            <a:ext cx="1016000" cy="88900"/>
          </a:xfrm>
          <a:prstGeom prst="rect">
            <a:avLst/>
          </a:prstGeom>
          <a:solidFill>
            <a:srgbClr val="FFCC00"/>
          </a:solidFill>
          <a:ln/>
        </p:spPr>
      </p:sp>
      <p:sp>
        <p:nvSpPr>
          <p:cNvPr id="4" name="Shape 2"/>
          <p:cNvSpPr/>
          <p:nvPr/>
        </p:nvSpPr>
        <p:spPr>
          <a:xfrm>
            <a:off x="812800" y="906425"/>
            <a:ext cx="254000" cy="38100"/>
          </a:xfrm>
          <a:prstGeom prst="roundRect">
            <a:avLst>
              <a:gd name="adj" fmla="val 50000"/>
            </a:avLst>
          </a:prstGeom>
          <a:solidFill>
            <a:srgbClr val="FFCC00"/>
          </a:solidFill>
          <a:ln/>
        </p:spPr>
      </p:sp>
      <p:sp>
        <p:nvSpPr>
          <p:cNvPr id="5" name="Text 3"/>
          <p:cNvSpPr/>
          <p:nvPr/>
        </p:nvSpPr>
        <p:spPr>
          <a:xfrm>
            <a:off x="1168400" y="802822"/>
            <a:ext cx="892062"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3F8F"/>
                </a:solidFill>
                <a:latin typeface="JetBrains Mono" pitchFamily="34" charset="0"/>
                <a:ea typeface="JetBrains Mono" pitchFamily="34" charset="-122"/>
                <a:cs typeface="JetBrains Mono" pitchFamily="34" charset="-120"/>
              </a:rPr>
              <a:t>Le choix</a:t>
            </a:r>
            <a:endParaRPr lang="en-US" sz="1200" dirty="0"/>
          </a:p>
        </p:txBody>
      </p:sp>
      <p:sp>
        <p:nvSpPr>
          <p:cNvPr id="6" name="Text 4"/>
          <p:cNvSpPr/>
          <p:nvPr/>
        </p:nvSpPr>
        <p:spPr>
          <a:xfrm>
            <a:off x="812800" y="1139751"/>
            <a:ext cx="10883392" cy="969698"/>
          </a:xfrm>
          <a:prstGeom prst="rect">
            <a:avLst/>
          </a:prstGeom>
          <a:noFill/>
          <a:ln/>
        </p:spPr>
        <p:txBody>
          <a:bodyPr wrap="square" lIns="0" tIns="0" rIns="0" bIns="0" rtlCol="0" anchor="t">
            <a:normAutofit/>
          </a:bodyPr>
          <a:lstStyle/>
          <a:p>
            <a:pPr algn="l" indent="0" marL="0">
              <a:lnSpc>
                <a:spcPts val="3245"/>
              </a:lnSpc>
              <a:buNone/>
            </a:pPr>
            <a:r>
              <a:rPr lang="en-US" sz="2950" b="1" dirty="0">
                <a:solidFill>
                  <a:srgbClr val="10296B"/>
                </a:solidFill>
                <a:latin typeface="Space Grotesk" pitchFamily="34" charset="0"/>
                <a:ea typeface="Space Grotesk" pitchFamily="34" charset="-122"/>
                <a:cs typeface="Space Grotesk" pitchFamily="34" charset="-120"/>
              </a:rPr>
              <a:t>Pourquoi des recettes plutôt que l'IA sur chaque microservice</a:t>
            </a:r>
            <a:endParaRPr lang="en-US" sz="2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2800" y="2338046"/>
          <a:ext cx="10566400" cy="2668436"/>
        </p:xfrm>
        <a:graphic>
          <a:graphicData uri="http://schemas.openxmlformats.org/drawingml/2006/table">
            <a:tbl>
              <a:tblPr/>
              <a:tblGrid>
                <a:gridCol w="1479296"/>
                <a:gridCol w="4543552"/>
                <a:gridCol w="4543552"/>
              </a:tblGrid>
              <a:tr h="444727">
                <a:tc>
                  <a:txBody>
                    <a:bodyPr/>
                    <a:lstStyle/>
                    <a:p>
                      <a:pPr indent="0" marL="0">
                        <a:lnSpc>
                          <a:spcPts val="1570"/>
                        </a:lnSpc>
                        <a:buNone/>
                      </a:pPr>
                      <a:endParaRPr lang="en-US" sz="1121" dirty="0">
                        <a:latin typeface="Inter" charset="0"/>
                        <a:ea typeface="Inter" charset="0"/>
                        <a:cs typeface="Inter" charset="0"/>
                      </a:endParaRPr>
                    </a:p>
                  </a:txBody>
                  <a:tcPr marL="152400" marR="152400" marT="101600" marB="101600" anchor="t">
                    <a:lnL w="12700" cap="flat" cmpd="sng" algn="ctr">
                      <a:solidFill>
                        <a:srgbClr val="C5C8CE"/>
                      </a:solidFill>
                      <a:prstDash val="solid"/>
                      <a:round/>
                      <a:headEnd type="none" w="med" len="med"/>
                      <a:tailEnd type="none" w="med" len="med"/>
                    </a:lnL>
                    <a:lnR w="12700" cap="flat" cmpd="sng" algn="ctr">
                      <a:solidFill>
                        <a:srgbClr val="C5C8CE"/>
                      </a:solidFill>
                      <a:prstDash val="solid"/>
                      <a:round/>
                      <a:headEnd type="none" w="med" len="med"/>
                      <a:tailEnd type="none" w="med" len="med"/>
                    </a:lnR>
                    <a:lnT w="12700" cap="flat" cmpd="sng" algn="ctr">
                      <a:solidFill>
                        <a:srgbClr val="C5C8CE"/>
                      </a:solidFill>
                      <a:prstDash val="solid"/>
                      <a:round/>
                      <a:headEnd type="none" w="med" len="med"/>
                      <a:tailEnd type="none" w="med" len="med"/>
                    </a:lnT>
                    <a:lnB w="12700" cap="flat" cmpd="sng" algn="ctr">
                      <a:solidFill>
                        <a:srgbClr val="C5C8CE"/>
                      </a:solidFill>
                      <a:prstDash val="solid"/>
                      <a:round/>
                      <a:headEnd type="none" w="med" len="med"/>
                      <a:tailEnd type="none" w="med" len="med"/>
                    </a:lnB>
                    <a:solidFill>
                      <a:srgbClr val="E4E6EA"/>
                    </a:solidFill>
                  </a:tcPr>
                </a:tc>
                <a:tc>
                  <a:txBody>
                    <a:bodyPr/>
                    <a:lstStyle/>
                    <a:p>
                      <a:pPr indent="0" marL="0">
                        <a:lnSpc>
                          <a:spcPts val="1570"/>
                        </a:lnSpc>
                        <a:buNone/>
                      </a:pPr>
                      <a:r>
                        <a:rPr lang="en-US" sz="1121" b="1" dirty="0">
                          <a:solidFill>
                            <a:srgbClr val="5A6478"/>
                          </a:solidFill>
                          <a:latin typeface="Inter" pitchFamily="34" charset="0"/>
                          <a:ea typeface="Inter" pitchFamily="34" charset="-122"/>
                          <a:cs typeface="Inter" pitchFamily="34" charset="-120"/>
                        </a:rPr>
                        <a:t>IA sur chaque projet</a:t>
                      </a:r>
                      <a:endParaRPr lang="en-US" sz="1121" dirty="0">
                        <a:latin typeface="Inter" charset="0"/>
                        <a:ea typeface="Inter" charset="0"/>
                        <a:cs typeface="Inter" charset="0"/>
                      </a:endParaRPr>
                    </a:p>
                  </a:txBody>
                  <a:tcPr marL="152400" marR="152400" marT="101600" marB="101600" anchor="t">
                    <a:lnL w="12700" cap="flat" cmpd="sng" algn="ctr">
                      <a:solidFill>
                        <a:srgbClr val="C5C8CE"/>
                      </a:solidFill>
                      <a:prstDash val="solid"/>
                      <a:round/>
                      <a:headEnd type="none" w="med" len="med"/>
                      <a:tailEnd type="none" w="med" len="med"/>
                    </a:lnL>
                    <a:lnR w="12700" cap="flat" cmpd="sng" algn="ctr">
                      <a:solidFill>
                        <a:srgbClr val="C5C8CE"/>
                      </a:solidFill>
                      <a:prstDash val="solid"/>
                      <a:round/>
                      <a:headEnd type="none" w="med" len="med"/>
                      <a:tailEnd type="none" w="med" len="med"/>
                    </a:lnR>
                    <a:lnT w="12700" cap="flat" cmpd="sng" algn="ctr">
                      <a:solidFill>
                        <a:srgbClr val="C5C8CE"/>
                      </a:solidFill>
                      <a:prstDash val="solid"/>
                      <a:round/>
                      <a:headEnd type="none" w="med" len="med"/>
                      <a:tailEnd type="none" w="med" len="med"/>
                    </a:lnT>
                    <a:lnB w="12700" cap="flat" cmpd="sng" algn="ctr">
                      <a:solidFill>
                        <a:srgbClr val="C5C8CE"/>
                      </a:solidFill>
                      <a:prstDash val="solid"/>
                      <a:round/>
                      <a:headEnd type="none" w="med" len="med"/>
                      <a:tailEnd type="none" w="med" len="med"/>
                    </a:lnB>
                    <a:solidFill>
                      <a:srgbClr val="E4E6EA"/>
                    </a:solidFill>
                  </a:tcPr>
                </a:tc>
                <a:tc>
                  <a:txBody>
                    <a:bodyPr/>
                    <a:lstStyle/>
                    <a:p>
                      <a:pPr indent="0" marL="0">
                        <a:lnSpc>
                          <a:spcPts val="1570"/>
                        </a:lnSpc>
                        <a:buNone/>
                      </a:pPr>
                      <a:r>
                        <a:rPr lang="en-US" sz="1121" b="1" dirty="0">
                          <a:solidFill>
                            <a:srgbClr val="1A3F8F"/>
                          </a:solidFill>
                          <a:latin typeface="Inter" pitchFamily="34" charset="0"/>
                          <a:ea typeface="Inter" pitchFamily="34" charset="-122"/>
                          <a:cs typeface="Inter" pitchFamily="34" charset="-120"/>
                        </a:rPr>
                        <a:t>Recette OpenRewrite</a:t>
                      </a:r>
                      <a:endParaRPr lang="en-US" sz="1121" dirty="0">
                        <a:latin typeface="Inter" charset="0"/>
                        <a:ea typeface="Inter" charset="0"/>
                        <a:cs typeface="Inter" charset="0"/>
                      </a:endParaRPr>
                    </a:p>
                  </a:txBody>
                  <a:tcPr marL="152400" marR="152400" marT="101600" marB="101600" anchor="t">
                    <a:lnL w="12700" cap="flat" cmpd="sng" algn="ctr">
                      <a:solidFill>
                        <a:srgbClr val="C5C8CE"/>
                      </a:solidFill>
                      <a:prstDash val="solid"/>
                      <a:round/>
                      <a:headEnd type="none" w="med" len="med"/>
                      <a:tailEnd type="none" w="med" len="med"/>
                    </a:lnL>
                    <a:lnR w="12700" cap="flat" cmpd="sng" algn="ctr">
                      <a:solidFill>
                        <a:srgbClr val="C5C8CE"/>
                      </a:solidFill>
                      <a:prstDash val="solid"/>
                      <a:round/>
                      <a:headEnd type="none" w="med" len="med"/>
                      <a:tailEnd type="none" w="med" len="med"/>
                    </a:lnR>
                    <a:lnT w="12700" cap="flat" cmpd="sng" algn="ctr">
                      <a:solidFill>
                        <a:srgbClr val="C5C8CE"/>
                      </a:solidFill>
                      <a:prstDash val="solid"/>
                      <a:round/>
                      <a:headEnd type="none" w="med" len="med"/>
                      <a:tailEnd type="none" w="med" len="med"/>
                    </a:lnT>
                    <a:lnB w="12700" cap="flat" cmpd="sng" algn="ctr">
                      <a:solidFill>
                        <a:srgbClr val="C5C8CE"/>
                      </a:solidFill>
                      <a:prstDash val="solid"/>
                      <a:round/>
                      <a:headEnd type="none" w="med" len="med"/>
                      <a:tailEnd type="none" w="med" len="med"/>
                    </a:lnB>
                    <a:solidFill>
                      <a:srgbClr val="E4E6EA"/>
                    </a:solidFill>
                  </a:tcPr>
                </a:tc>
              </a:tr>
              <a:tr h="444727">
                <a:tc>
                  <a:txBody>
                    <a:bodyPr/>
                    <a:lstStyle/>
                    <a:p>
                      <a:pPr indent="0" marL="0">
                        <a:lnSpc>
                          <a:spcPts val="1570"/>
                        </a:lnSpc>
                        <a:buNone/>
                      </a:pPr>
                      <a:r>
                        <a:rPr lang="en-US" sz="1121" dirty="0">
                          <a:solidFill>
                            <a:srgbClr val="152033"/>
                          </a:solidFill>
                          <a:latin typeface="Inter" pitchFamily="34" charset="0"/>
                          <a:ea typeface="Inter" pitchFamily="34" charset="-122"/>
                          <a:cs typeface="Inter" pitchFamily="34" charset="-120"/>
                        </a:rPr>
                        <a:t>Coût</a:t>
                      </a:r>
                      <a:endParaRPr lang="en-US" sz="1121" dirty="0">
                        <a:latin typeface="Inter" charset="0"/>
                        <a:ea typeface="Inter" charset="0"/>
                        <a:cs typeface="Inter" charset="0"/>
                      </a:endParaRPr>
                    </a:p>
                  </a:txBody>
                  <a:tcPr marL="152400" marR="152400" marT="101600" marB="101600" anchor="t">
                    <a:lnL w="12700" cap="flat" cmpd="sng" algn="ctr">
                      <a:solidFill>
                        <a:srgbClr val="C5C8CE"/>
                      </a:solidFill>
                      <a:prstDash val="solid"/>
                      <a:round/>
                      <a:headEnd type="none" w="med" len="med"/>
                      <a:tailEnd type="none" w="med" len="med"/>
                    </a:lnL>
                    <a:lnR w="12700" cap="flat" cmpd="sng" algn="ctr">
                      <a:solidFill>
                        <a:srgbClr val="C5C8CE"/>
                      </a:solidFill>
                      <a:prstDash val="solid"/>
                      <a:round/>
                      <a:headEnd type="none" w="med" len="med"/>
                      <a:tailEnd type="none" w="med" len="med"/>
                    </a:lnR>
                    <a:lnT w="12700" cap="flat" cmpd="sng" algn="ctr">
                      <a:solidFill>
                        <a:srgbClr val="C5C8CE"/>
                      </a:solidFill>
                      <a:prstDash val="solid"/>
                      <a:round/>
                      <a:headEnd type="none" w="med" len="med"/>
                      <a:tailEnd type="none" w="med" len="med"/>
                    </a:lnT>
                    <a:lnB w="12700" cap="flat" cmpd="sng" algn="ctr">
                      <a:solidFill>
                        <a:srgbClr val="C5C8CE"/>
                      </a:solidFill>
                      <a:prstDash val="solid"/>
                      <a:round/>
                      <a:headEnd type="none" w="med" len="med"/>
                      <a:tailEnd type="none" w="med" len="med"/>
                    </a:lnB>
                  </a:tcPr>
                </a:tc>
                <a:tc>
                  <a:txBody>
                    <a:bodyPr/>
                    <a:lstStyle/>
                    <a:p>
                      <a:pPr indent="0" marL="0">
                        <a:lnSpc>
                          <a:spcPts val="1570"/>
                        </a:lnSpc>
                        <a:buNone/>
                      </a:pPr>
                      <a:r>
                        <a:rPr lang="en-US" sz="1121" dirty="0">
                          <a:solidFill>
                            <a:srgbClr val="5A6478"/>
                          </a:solidFill>
                          <a:latin typeface="Inter" pitchFamily="34" charset="0"/>
                          <a:ea typeface="Inter" pitchFamily="34" charset="-122"/>
                          <a:cs typeface="Inter" pitchFamily="34" charset="-120"/>
                        </a:rPr>
                        <a:t>Tokens consommés × [X] services</a:t>
                      </a:r>
                      <a:endParaRPr lang="en-US" sz="1121" dirty="0">
                        <a:latin typeface="Inter" charset="0"/>
                        <a:ea typeface="Inter" charset="0"/>
                        <a:cs typeface="Inter" charset="0"/>
                      </a:endParaRPr>
                    </a:p>
                  </a:txBody>
                  <a:tcPr marL="152400" marR="152400" marT="101600" marB="101600" anchor="t">
                    <a:lnL w="12700" cap="flat" cmpd="sng" algn="ctr">
                      <a:solidFill>
                        <a:srgbClr val="C5C8CE"/>
                      </a:solidFill>
                      <a:prstDash val="solid"/>
                      <a:round/>
                      <a:headEnd type="none" w="med" len="med"/>
                      <a:tailEnd type="none" w="med" len="med"/>
                    </a:lnL>
                    <a:lnR w="12700" cap="flat" cmpd="sng" algn="ctr">
                      <a:solidFill>
                        <a:srgbClr val="C5C8CE"/>
                      </a:solidFill>
                      <a:prstDash val="solid"/>
                      <a:round/>
                      <a:headEnd type="none" w="med" len="med"/>
                      <a:tailEnd type="none" w="med" len="med"/>
                    </a:lnR>
                    <a:lnT w="12700" cap="flat" cmpd="sng" algn="ctr">
                      <a:solidFill>
                        <a:srgbClr val="C5C8CE"/>
                      </a:solidFill>
                      <a:prstDash val="solid"/>
                      <a:round/>
                      <a:headEnd type="none" w="med" len="med"/>
                      <a:tailEnd type="none" w="med" len="med"/>
                    </a:lnT>
                    <a:lnB w="12700" cap="flat" cmpd="sng" algn="ctr">
                      <a:solidFill>
                        <a:srgbClr val="C5C8CE"/>
                      </a:solidFill>
                      <a:prstDash val="solid"/>
                      <a:round/>
                      <a:headEnd type="none" w="med" len="med"/>
                      <a:tailEnd type="none" w="med" len="med"/>
                    </a:lnB>
                  </a:tcPr>
                </a:tc>
                <a:tc>
                  <a:txBody>
                    <a:bodyPr/>
                    <a:lstStyle/>
                    <a:p>
                      <a:pPr indent="0" marL="0">
                        <a:lnSpc>
                          <a:spcPts val="1570"/>
                        </a:lnSpc>
                        <a:buNone/>
                      </a:pPr>
                      <a:r>
                        <a:rPr lang="en-US" sz="1121" dirty="0">
                          <a:solidFill>
                            <a:srgbClr val="152033"/>
                          </a:solidFill>
                          <a:latin typeface="Inter" pitchFamily="34" charset="0"/>
                          <a:ea typeface="Inter" pitchFamily="34" charset="-122"/>
                          <a:cs typeface="Inter" pitchFamily="34" charset="-120"/>
                        </a:rPr>
                        <a:t>✓ Écrite une fois, rejouée sans coût</a:t>
                      </a:r>
                      <a:endParaRPr lang="en-US" sz="1121" dirty="0">
                        <a:latin typeface="Inter" charset="0"/>
                        <a:ea typeface="Inter" charset="0"/>
                        <a:cs typeface="Inter" charset="0"/>
                      </a:endParaRPr>
                    </a:p>
                  </a:txBody>
                  <a:tcPr marL="152400" marR="152400" marT="101600" marB="101600" anchor="t">
                    <a:lnL w="12700" cap="flat" cmpd="sng" algn="ctr">
                      <a:solidFill>
                        <a:srgbClr val="C5C8CE"/>
                      </a:solidFill>
                      <a:prstDash val="solid"/>
                      <a:round/>
                      <a:headEnd type="none" w="med" len="med"/>
                      <a:tailEnd type="none" w="med" len="med"/>
                    </a:lnL>
                    <a:lnR w="12700" cap="flat" cmpd="sng" algn="ctr">
                      <a:solidFill>
                        <a:srgbClr val="C5C8CE"/>
                      </a:solidFill>
                      <a:prstDash val="solid"/>
                      <a:round/>
                      <a:headEnd type="none" w="med" len="med"/>
                      <a:tailEnd type="none" w="med" len="med"/>
                    </a:lnR>
                    <a:lnT w="12700" cap="flat" cmpd="sng" algn="ctr">
                      <a:solidFill>
                        <a:srgbClr val="C5C8CE"/>
                      </a:solidFill>
                      <a:prstDash val="solid"/>
                      <a:round/>
                      <a:headEnd type="none" w="med" len="med"/>
                      <a:tailEnd type="none" w="med" len="med"/>
                    </a:lnT>
                    <a:lnB w="12700" cap="flat" cmpd="sng" algn="ctr">
                      <a:solidFill>
                        <a:srgbClr val="C5C8CE"/>
                      </a:solidFill>
                      <a:prstDash val="solid"/>
                      <a:round/>
                      <a:headEnd type="none" w="med" len="med"/>
                      <a:tailEnd type="none" w="med" len="med"/>
                    </a:lnB>
                  </a:tcPr>
                </a:tc>
              </a:tr>
              <a:tr h="444727">
                <a:tc>
                  <a:txBody>
                    <a:bodyPr/>
                    <a:lstStyle/>
                    <a:p>
                      <a:pPr indent="0" marL="0">
                        <a:lnSpc>
                          <a:spcPts val="1570"/>
                        </a:lnSpc>
                        <a:buNone/>
                      </a:pPr>
                      <a:r>
                        <a:rPr lang="en-US" sz="1121" dirty="0">
                          <a:solidFill>
                            <a:srgbClr val="152033"/>
                          </a:solidFill>
                          <a:latin typeface="Inter" pitchFamily="34" charset="0"/>
                          <a:ea typeface="Inter" pitchFamily="34" charset="-122"/>
                          <a:cs typeface="Inter" pitchFamily="34" charset="-120"/>
                        </a:rPr>
                        <a:t>Temps</a:t>
                      </a:r>
                      <a:endParaRPr lang="en-US" sz="1121" dirty="0">
                        <a:latin typeface="Inter" charset="0"/>
                        <a:ea typeface="Inter" charset="0"/>
                        <a:cs typeface="Inter" charset="0"/>
                      </a:endParaRPr>
                    </a:p>
                  </a:txBody>
                  <a:tcPr marL="152400" marR="152400" marT="101600" marB="101600" anchor="t">
                    <a:lnL w="12700" cap="flat" cmpd="sng" algn="ctr">
                      <a:solidFill>
                        <a:srgbClr val="C5C8CE"/>
                      </a:solidFill>
                      <a:prstDash val="solid"/>
                      <a:round/>
                      <a:headEnd type="none" w="med" len="med"/>
                      <a:tailEnd type="none" w="med" len="med"/>
                    </a:lnL>
                    <a:lnR w="12700" cap="flat" cmpd="sng" algn="ctr">
                      <a:solidFill>
                        <a:srgbClr val="C5C8CE"/>
                      </a:solidFill>
                      <a:prstDash val="solid"/>
                      <a:round/>
                      <a:headEnd type="none" w="med" len="med"/>
                      <a:tailEnd type="none" w="med" len="med"/>
                    </a:lnR>
                    <a:lnT w="12700" cap="flat" cmpd="sng" algn="ctr">
                      <a:solidFill>
                        <a:srgbClr val="C5C8CE"/>
                      </a:solidFill>
                      <a:prstDash val="solid"/>
                      <a:round/>
                      <a:headEnd type="none" w="med" len="med"/>
                      <a:tailEnd type="none" w="med" len="med"/>
                    </a:lnT>
                    <a:lnB w="12700" cap="flat" cmpd="sng" algn="ctr">
                      <a:solidFill>
                        <a:srgbClr val="C5C8CE"/>
                      </a:solidFill>
                      <a:prstDash val="solid"/>
                      <a:round/>
                      <a:headEnd type="none" w="med" len="med"/>
                      <a:tailEnd type="none" w="med" len="med"/>
                    </a:lnB>
                  </a:tcPr>
                </a:tc>
                <a:tc>
                  <a:txBody>
                    <a:bodyPr/>
                    <a:lstStyle/>
                    <a:p>
                      <a:pPr indent="0" marL="0">
                        <a:lnSpc>
                          <a:spcPts val="1570"/>
                        </a:lnSpc>
                        <a:buNone/>
                      </a:pPr>
                      <a:r>
                        <a:rPr lang="en-US" sz="1121" dirty="0">
                          <a:solidFill>
                            <a:srgbClr val="5A6478"/>
                          </a:solidFill>
                          <a:latin typeface="Inter" pitchFamily="34" charset="0"/>
                          <a:ea typeface="Inter" pitchFamily="34" charset="-122"/>
                          <a:cs typeface="Inter" pitchFamily="34" charset="-120"/>
                        </a:rPr>
                        <a:t>Prompts et corrections, projet par projet</a:t>
                      </a:r>
                      <a:endParaRPr lang="en-US" sz="1121" dirty="0">
                        <a:latin typeface="Inter" charset="0"/>
                        <a:ea typeface="Inter" charset="0"/>
                        <a:cs typeface="Inter" charset="0"/>
                      </a:endParaRPr>
                    </a:p>
                  </a:txBody>
                  <a:tcPr marL="152400" marR="152400" marT="101600" marB="101600" anchor="t">
                    <a:lnL w="12700" cap="flat" cmpd="sng" algn="ctr">
                      <a:solidFill>
                        <a:srgbClr val="C5C8CE"/>
                      </a:solidFill>
                      <a:prstDash val="solid"/>
                      <a:round/>
                      <a:headEnd type="none" w="med" len="med"/>
                      <a:tailEnd type="none" w="med" len="med"/>
                    </a:lnL>
                    <a:lnR w="12700" cap="flat" cmpd="sng" algn="ctr">
                      <a:solidFill>
                        <a:srgbClr val="C5C8CE"/>
                      </a:solidFill>
                      <a:prstDash val="solid"/>
                      <a:round/>
                      <a:headEnd type="none" w="med" len="med"/>
                      <a:tailEnd type="none" w="med" len="med"/>
                    </a:lnR>
                    <a:lnT w="12700" cap="flat" cmpd="sng" algn="ctr">
                      <a:solidFill>
                        <a:srgbClr val="C5C8CE"/>
                      </a:solidFill>
                      <a:prstDash val="solid"/>
                      <a:round/>
                      <a:headEnd type="none" w="med" len="med"/>
                      <a:tailEnd type="none" w="med" len="med"/>
                    </a:lnT>
                    <a:lnB w="12700" cap="flat" cmpd="sng" algn="ctr">
                      <a:solidFill>
                        <a:srgbClr val="C5C8CE"/>
                      </a:solidFill>
                      <a:prstDash val="solid"/>
                      <a:round/>
                      <a:headEnd type="none" w="med" len="med"/>
                      <a:tailEnd type="none" w="med" len="med"/>
                    </a:lnB>
                  </a:tcPr>
                </a:tc>
                <a:tc>
                  <a:txBody>
                    <a:bodyPr/>
                    <a:lstStyle/>
                    <a:p>
                      <a:pPr indent="0" marL="0">
                        <a:lnSpc>
                          <a:spcPts val="1570"/>
                        </a:lnSpc>
                        <a:buNone/>
                      </a:pPr>
                      <a:r>
                        <a:rPr lang="en-US" sz="1121" dirty="0">
                          <a:solidFill>
                            <a:srgbClr val="152033"/>
                          </a:solidFill>
                          <a:latin typeface="Inter" pitchFamily="34" charset="0"/>
                          <a:ea typeface="Inter" pitchFamily="34" charset="-122"/>
                          <a:cs typeface="Inter" pitchFamily="34" charset="-120"/>
                        </a:rPr>
                        <a:t>✓ Une commande, quelques minutes</a:t>
                      </a:r>
                      <a:endParaRPr lang="en-US" sz="1121" dirty="0">
                        <a:latin typeface="Inter" charset="0"/>
                        <a:ea typeface="Inter" charset="0"/>
                        <a:cs typeface="Inter" charset="0"/>
                      </a:endParaRPr>
                    </a:p>
                  </a:txBody>
                  <a:tcPr marL="152400" marR="152400" marT="101600" marB="101600" anchor="t">
                    <a:lnL w="12700" cap="flat" cmpd="sng" algn="ctr">
                      <a:solidFill>
                        <a:srgbClr val="C5C8CE"/>
                      </a:solidFill>
                      <a:prstDash val="solid"/>
                      <a:round/>
                      <a:headEnd type="none" w="med" len="med"/>
                      <a:tailEnd type="none" w="med" len="med"/>
                    </a:lnL>
                    <a:lnR w="12700" cap="flat" cmpd="sng" algn="ctr">
                      <a:solidFill>
                        <a:srgbClr val="C5C8CE"/>
                      </a:solidFill>
                      <a:prstDash val="solid"/>
                      <a:round/>
                      <a:headEnd type="none" w="med" len="med"/>
                      <a:tailEnd type="none" w="med" len="med"/>
                    </a:lnR>
                    <a:lnT w="12700" cap="flat" cmpd="sng" algn="ctr">
                      <a:solidFill>
                        <a:srgbClr val="C5C8CE"/>
                      </a:solidFill>
                      <a:prstDash val="solid"/>
                      <a:round/>
                      <a:headEnd type="none" w="med" len="med"/>
                      <a:tailEnd type="none" w="med" len="med"/>
                    </a:lnT>
                    <a:lnB w="12700" cap="flat" cmpd="sng" algn="ctr">
                      <a:solidFill>
                        <a:srgbClr val="C5C8CE"/>
                      </a:solidFill>
                      <a:prstDash val="solid"/>
                      <a:round/>
                      <a:headEnd type="none" w="med" len="med"/>
                      <a:tailEnd type="none" w="med" len="med"/>
                    </a:lnB>
                  </a:tcPr>
                </a:tc>
              </a:tr>
              <a:tr h="444727">
                <a:tc>
                  <a:txBody>
                    <a:bodyPr/>
                    <a:lstStyle/>
                    <a:p>
                      <a:pPr indent="0" marL="0">
                        <a:lnSpc>
                          <a:spcPts val="1570"/>
                        </a:lnSpc>
                        <a:buNone/>
                      </a:pPr>
                      <a:r>
                        <a:rPr lang="en-US" sz="1121" dirty="0">
                          <a:solidFill>
                            <a:srgbClr val="152033"/>
                          </a:solidFill>
                          <a:latin typeface="Inter" pitchFamily="34" charset="0"/>
                          <a:ea typeface="Inter" pitchFamily="34" charset="-122"/>
                          <a:cs typeface="Inter" pitchFamily="34" charset="-120"/>
                        </a:rPr>
                        <a:t>Résultat</a:t>
                      </a:r>
                      <a:endParaRPr lang="en-US" sz="1121" dirty="0">
                        <a:latin typeface="Inter" charset="0"/>
                        <a:ea typeface="Inter" charset="0"/>
                        <a:cs typeface="Inter" charset="0"/>
                      </a:endParaRPr>
                    </a:p>
                  </a:txBody>
                  <a:tcPr marL="152400" marR="152400" marT="101600" marB="101600" anchor="t">
                    <a:lnL w="12700" cap="flat" cmpd="sng" algn="ctr">
                      <a:solidFill>
                        <a:srgbClr val="C5C8CE"/>
                      </a:solidFill>
                      <a:prstDash val="solid"/>
                      <a:round/>
                      <a:headEnd type="none" w="med" len="med"/>
                      <a:tailEnd type="none" w="med" len="med"/>
                    </a:lnL>
                    <a:lnR w="12700" cap="flat" cmpd="sng" algn="ctr">
                      <a:solidFill>
                        <a:srgbClr val="C5C8CE"/>
                      </a:solidFill>
                      <a:prstDash val="solid"/>
                      <a:round/>
                      <a:headEnd type="none" w="med" len="med"/>
                      <a:tailEnd type="none" w="med" len="med"/>
                    </a:lnR>
                    <a:lnT w="12700" cap="flat" cmpd="sng" algn="ctr">
                      <a:solidFill>
                        <a:srgbClr val="C5C8CE"/>
                      </a:solidFill>
                      <a:prstDash val="solid"/>
                      <a:round/>
                      <a:headEnd type="none" w="med" len="med"/>
                      <a:tailEnd type="none" w="med" len="med"/>
                    </a:lnT>
                    <a:lnB w="12700" cap="flat" cmpd="sng" algn="ctr">
                      <a:solidFill>
                        <a:srgbClr val="C5C8CE"/>
                      </a:solidFill>
                      <a:prstDash val="solid"/>
                      <a:round/>
                      <a:headEnd type="none" w="med" len="med"/>
                      <a:tailEnd type="none" w="med" len="med"/>
                    </a:lnB>
                  </a:tcPr>
                </a:tc>
                <a:tc>
                  <a:txBody>
                    <a:bodyPr/>
                    <a:lstStyle/>
                    <a:p>
                      <a:pPr indent="0" marL="0">
                        <a:lnSpc>
                          <a:spcPts val="1570"/>
                        </a:lnSpc>
                        <a:buNone/>
                      </a:pPr>
                      <a:r>
                        <a:rPr lang="en-US" sz="1121" dirty="0">
                          <a:solidFill>
                            <a:srgbClr val="5A6478"/>
                          </a:solidFill>
                          <a:latin typeface="Inter" pitchFamily="34" charset="0"/>
                          <a:ea typeface="Inter" pitchFamily="34" charset="-122"/>
                          <a:cs typeface="Inter" pitchFamily="34" charset="-120"/>
                        </a:rPr>
                        <a:t>Varie selon le développeur et le prompt</a:t>
                      </a:r>
                      <a:endParaRPr lang="en-US" sz="1121" dirty="0">
                        <a:latin typeface="Inter" charset="0"/>
                        <a:ea typeface="Inter" charset="0"/>
                        <a:cs typeface="Inter" charset="0"/>
                      </a:endParaRPr>
                    </a:p>
                  </a:txBody>
                  <a:tcPr marL="152400" marR="152400" marT="101600" marB="101600" anchor="t">
                    <a:lnL w="12700" cap="flat" cmpd="sng" algn="ctr">
                      <a:solidFill>
                        <a:srgbClr val="C5C8CE"/>
                      </a:solidFill>
                      <a:prstDash val="solid"/>
                      <a:round/>
                      <a:headEnd type="none" w="med" len="med"/>
                      <a:tailEnd type="none" w="med" len="med"/>
                    </a:lnL>
                    <a:lnR w="12700" cap="flat" cmpd="sng" algn="ctr">
                      <a:solidFill>
                        <a:srgbClr val="C5C8CE"/>
                      </a:solidFill>
                      <a:prstDash val="solid"/>
                      <a:round/>
                      <a:headEnd type="none" w="med" len="med"/>
                      <a:tailEnd type="none" w="med" len="med"/>
                    </a:lnR>
                    <a:lnT w="12700" cap="flat" cmpd="sng" algn="ctr">
                      <a:solidFill>
                        <a:srgbClr val="C5C8CE"/>
                      </a:solidFill>
                      <a:prstDash val="solid"/>
                      <a:round/>
                      <a:headEnd type="none" w="med" len="med"/>
                      <a:tailEnd type="none" w="med" len="med"/>
                    </a:lnT>
                    <a:lnB w="12700" cap="flat" cmpd="sng" algn="ctr">
                      <a:solidFill>
                        <a:srgbClr val="C5C8CE"/>
                      </a:solidFill>
                      <a:prstDash val="solid"/>
                      <a:round/>
                      <a:headEnd type="none" w="med" len="med"/>
                      <a:tailEnd type="none" w="med" len="med"/>
                    </a:lnB>
                  </a:tcPr>
                </a:tc>
                <a:tc>
                  <a:txBody>
                    <a:bodyPr/>
                    <a:lstStyle/>
                    <a:p>
                      <a:pPr indent="0" marL="0">
                        <a:lnSpc>
                          <a:spcPts val="1570"/>
                        </a:lnSpc>
                        <a:buNone/>
                      </a:pPr>
                      <a:r>
                        <a:rPr lang="en-US" sz="1121" dirty="0">
                          <a:solidFill>
                            <a:srgbClr val="152033"/>
                          </a:solidFill>
                          <a:latin typeface="Inter" pitchFamily="34" charset="0"/>
                          <a:ea typeface="Inter" pitchFamily="34" charset="-122"/>
                          <a:cs typeface="Inter" pitchFamily="34" charset="-120"/>
                        </a:rPr>
                        <a:t>✓ Identique sur tous les projets</a:t>
                      </a:r>
                      <a:endParaRPr lang="en-US" sz="1121" dirty="0">
                        <a:latin typeface="Inter" charset="0"/>
                        <a:ea typeface="Inter" charset="0"/>
                        <a:cs typeface="Inter" charset="0"/>
                      </a:endParaRPr>
                    </a:p>
                  </a:txBody>
                  <a:tcPr marL="152400" marR="152400" marT="101600" marB="101600" anchor="t">
                    <a:lnL w="12700" cap="flat" cmpd="sng" algn="ctr">
                      <a:solidFill>
                        <a:srgbClr val="C5C8CE"/>
                      </a:solidFill>
                      <a:prstDash val="solid"/>
                      <a:round/>
                      <a:headEnd type="none" w="med" len="med"/>
                      <a:tailEnd type="none" w="med" len="med"/>
                    </a:lnL>
                    <a:lnR w="12700" cap="flat" cmpd="sng" algn="ctr">
                      <a:solidFill>
                        <a:srgbClr val="C5C8CE"/>
                      </a:solidFill>
                      <a:prstDash val="solid"/>
                      <a:round/>
                      <a:headEnd type="none" w="med" len="med"/>
                      <a:tailEnd type="none" w="med" len="med"/>
                    </a:lnR>
                    <a:lnT w="12700" cap="flat" cmpd="sng" algn="ctr">
                      <a:solidFill>
                        <a:srgbClr val="C5C8CE"/>
                      </a:solidFill>
                      <a:prstDash val="solid"/>
                      <a:round/>
                      <a:headEnd type="none" w="med" len="med"/>
                      <a:tailEnd type="none" w="med" len="med"/>
                    </a:lnT>
                    <a:lnB w="12700" cap="flat" cmpd="sng" algn="ctr">
                      <a:solidFill>
                        <a:srgbClr val="C5C8CE"/>
                      </a:solidFill>
                      <a:prstDash val="solid"/>
                      <a:round/>
                      <a:headEnd type="none" w="med" len="med"/>
                      <a:tailEnd type="none" w="med" len="med"/>
                    </a:lnB>
                  </a:tcPr>
                </a:tc>
              </a:tr>
              <a:tr h="444765">
                <a:tc>
                  <a:txBody>
                    <a:bodyPr/>
                    <a:lstStyle/>
                    <a:p>
                      <a:pPr indent="0" marL="0">
                        <a:lnSpc>
                          <a:spcPts val="1570"/>
                        </a:lnSpc>
                        <a:buNone/>
                      </a:pPr>
                      <a:r>
                        <a:rPr lang="en-US" sz="1121" dirty="0">
                          <a:solidFill>
                            <a:srgbClr val="152033"/>
                          </a:solidFill>
                          <a:latin typeface="Inter" pitchFamily="34" charset="0"/>
                          <a:ea typeface="Inter" pitchFamily="34" charset="-122"/>
                          <a:cs typeface="Inter" pitchFamily="34" charset="-120"/>
                        </a:rPr>
                        <a:t>Fiabilité</a:t>
                      </a:r>
                      <a:endParaRPr lang="en-US" sz="1121" dirty="0">
                        <a:latin typeface="Inter" charset="0"/>
                        <a:ea typeface="Inter" charset="0"/>
                        <a:cs typeface="Inter" charset="0"/>
                      </a:endParaRPr>
                    </a:p>
                  </a:txBody>
                  <a:tcPr marL="152400" marR="152400" marT="101600" marB="101600" anchor="t">
                    <a:lnL w="12700" cap="flat" cmpd="sng" algn="ctr">
                      <a:solidFill>
                        <a:srgbClr val="C5C8CE"/>
                      </a:solidFill>
                      <a:prstDash val="solid"/>
                      <a:round/>
                      <a:headEnd type="none" w="med" len="med"/>
                      <a:tailEnd type="none" w="med" len="med"/>
                    </a:lnL>
                    <a:lnR w="12700" cap="flat" cmpd="sng" algn="ctr">
                      <a:solidFill>
                        <a:srgbClr val="C5C8CE"/>
                      </a:solidFill>
                      <a:prstDash val="solid"/>
                      <a:round/>
                      <a:headEnd type="none" w="med" len="med"/>
                      <a:tailEnd type="none" w="med" len="med"/>
                    </a:lnR>
                    <a:lnT w="12700" cap="flat" cmpd="sng" algn="ctr">
                      <a:solidFill>
                        <a:srgbClr val="C5C8CE"/>
                      </a:solidFill>
                      <a:prstDash val="solid"/>
                      <a:round/>
                      <a:headEnd type="none" w="med" len="med"/>
                      <a:tailEnd type="none" w="med" len="med"/>
                    </a:lnT>
                    <a:lnB w="12700" cap="flat" cmpd="sng" algn="ctr">
                      <a:solidFill>
                        <a:srgbClr val="C5C8CE"/>
                      </a:solidFill>
                      <a:prstDash val="solid"/>
                      <a:round/>
                      <a:headEnd type="none" w="med" len="med"/>
                      <a:tailEnd type="none" w="med" len="med"/>
                    </a:lnB>
                  </a:tcPr>
                </a:tc>
                <a:tc>
                  <a:txBody>
                    <a:bodyPr/>
                    <a:lstStyle/>
                    <a:p>
                      <a:pPr indent="0" marL="0">
                        <a:lnSpc>
                          <a:spcPts val="1570"/>
                        </a:lnSpc>
                        <a:buNone/>
                      </a:pPr>
                      <a:r>
                        <a:rPr lang="en-US" sz="1121" dirty="0">
                          <a:solidFill>
                            <a:srgbClr val="5A6478"/>
                          </a:solidFill>
                          <a:latin typeface="Inter" pitchFamily="34" charset="0"/>
                          <a:ea typeface="Inter" pitchFamily="34" charset="-122"/>
                          <a:cs typeface="Inter" pitchFamily="34" charset="-120"/>
                        </a:rPr>
                        <a:t>Peut oublier ou inventer des changements</a:t>
                      </a:r>
                      <a:endParaRPr lang="en-US" sz="1121" dirty="0">
                        <a:latin typeface="Inter" charset="0"/>
                        <a:ea typeface="Inter" charset="0"/>
                        <a:cs typeface="Inter" charset="0"/>
                      </a:endParaRPr>
                    </a:p>
                  </a:txBody>
                  <a:tcPr marL="152400" marR="152400" marT="101600" marB="101600" anchor="t">
                    <a:lnL w="12700" cap="flat" cmpd="sng" algn="ctr">
                      <a:solidFill>
                        <a:srgbClr val="C5C8CE"/>
                      </a:solidFill>
                      <a:prstDash val="solid"/>
                      <a:round/>
                      <a:headEnd type="none" w="med" len="med"/>
                      <a:tailEnd type="none" w="med" len="med"/>
                    </a:lnL>
                    <a:lnR w="12700" cap="flat" cmpd="sng" algn="ctr">
                      <a:solidFill>
                        <a:srgbClr val="C5C8CE"/>
                      </a:solidFill>
                      <a:prstDash val="solid"/>
                      <a:round/>
                      <a:headEnd type="none" w="med" len="med"/>
                      <a:tailEnd type="none" w="med" len="med"/>
                    </a:lnR>
                    <a:lnT w="12700" cap="flat" cmpd="sng" algn="ctr">
                      <a:solidFill>
                        <a:srgbClr val="C5C8CE"/>
                      </a:solidFill>
                      <a:prstDash val="solid"/>
                      <a:round/>
                      <a:headEnd type="none" w="med" len="med"/>
                      <a:tailEnd type="none" w="med" len="med"/>
                    </a:lnT>
                    <a:lnB w="12700" cap="flat" cmpd="sng" algn="ctr">
                      <a:solidFill>
                        <a:srgbClr val="C5C8CE"/>
                      </a:solidFill>
                      <a:prstDash val="solid"/>
                      <a:round/>
                      <a:headEnd type="none" w="med" len="med"/>
                      <a:tailEnd type="none" w="med" len="med"/>
                    </a:lnB>
                  </a:tcPr>
                </a:tc>
                <a:tc>
                  <a:txBody>
                    <a:bodyPr/>
                    <a:lstStyle/>
                    <a:p>
                      <a:pPr indent="0" marL="0">
                        <a:lnSpc>
                          <a:spcPts val="1570"/>
                        </a:lnSpc>
                        <a:buNone/>
                      </a:pPr>
                      <a:r>
                        <a:rPr lang="en-US" sz="1121" dirty="0">
                          <a:solidFill>
                            <a:srgbClr val="152033"/>
                          </a:solidFill>
                          <a:latin typeface="Inter" pitchFamily="34" charset="0"/>
                          <a:ea typeface="Inter" pitchFamily="34" charset="-122"/>
                          <a:cs typeface="Inter" pitchFamily="34" charset="-120"/>
                        </a:rPr>
                        <a:t>✓ Déterministe, le code compile</a:t>
                      </a:r>
                      <a:endParaRPr lang="en-US" sz="1121" dirty="0">
                        <a:latin typeface="Inter" charset="0"/>
                        <a:ea typeface="Inter" charset="0"/>
                        <a:cs typeface="Inter" charset="0"/>
                      </a:endParaRPr>
                    </a:p>
                  </a:txBody>
                  <a:tcPr marL="152400" marR="152400" marT="101600" marB="101600" anchor="t">
                    <a:lnL w="12700" cap="flat" cmpd="sng" algn="ctr">
                      <a:solidFill>
                        <a:srgbClr val="C5C8CE"/>
                      </a:solidFill>
                      <a:prstDash val="solid"/>
                      <a:round/>
                      <a:headEnd type="none" w="med" len="med"/>
                      <a:tailEnd type="none" w="med" len="med"/>
                    </a:lnL>
                    <a:lnR w="12700" cap="flat" cmpd="sng" algn="ctr">
                      <a:solidFill>
                        <a:srgbClr val="C5C8CE"/>
                      </a:solidFill>
                      <a:prstDash val="solid"/>
                      <a:round/>
                      <a:headEnd type="none" w="med" len="med"/>
                      <a:tailEnd type="none" w="med" len="med"/>
                    </a:lnR>
                    <a:lnT w="12700" cap="flat" cmpd="sng" algn="ctr">
                      <a:solidFill>
                        <a:srgbClr val="C5C8CE"/>
                      </a:solidFill>
                      <a:prstDash val="solid"/>
                      <a:round/>
                      <a:headEnd type="none" w="med" len="med"/>
                      <a:tailEnd type="none" w="med" len="med"/>
                    </a:lnT>
                    <a:lnB w="12700" cap="flat" cmpd="sng" algn="ctr">
                      <a:solidFill>
                        <a:srgbClr val="C5C8CE"/>
                      </a:solidFill>
                      <a:prstDash val="solid"/>
                      <a:round/>
                      <a:headEnd type="none" w="med" len="med"/>
                      <a:tailEnd type="none" w="med" len="med"/>
                    </a:lnB>
                  </a:tcPr>
                </a:tc>
              </a:tr>
              <a:tr h="444765">
                <a:tc>
                  <a:txBody>
                    <a:bodyPr/>
                    <a:lstStyle/>
                    <a:p>
                      <a:pPr indent="0" marL="0">
                        <a:lnSpc>
                          <a:spcPts val="1570"/>
                        </a:lnSpc>
                        <a:buNone/>
                      </a:pPr>
                      <a:r>
                        <a:rPr lang="en-US" sz="1121" dirty="0">
                          <a:solidFill>
                            <a:srgbClr val="152033"/>
                          </a:solidFill>
                          <a:latin typeface="Inter" pitchFamily="34" charset="0"/>
                          <a:ea typeface="Inter" pitchFamily="34" charset="-122"/>
                          <a:cs typeface="Inter" pitchFamily="34" charset="-120"/>
                        </a:rPr>
                        <a:t>Contrôle</a:t>
                      </a:r>
                      <a:endParaRPr lang="en-US" sz="1121" dirty="0">
                        <a:latin typeface="Inter" charset="0"/>
                        <a:ea typeface="Inter" charset="0"/>
                        <a:cs typeface="Inter" charset="0"/>
                      </a:endParaRPr>
                    </a:p>
                  </a:txBody>
                  <a:tcPr marL="152400" marR="152400" marT="101600" marB="101600" anchor="t">
                    <a:lnL w="12700" cap="flat" cmpd="sng" algn="ctr">
                      <a:solidFill>
                        <a:srgbClr val="C5C8CE"/>
                      </a:solidFill>
                      <a:prstDash val="solid"/>
                      <a:round/>
                      <a:headEnd type="none" w="med" len="med"/>
                      <a:tailEnd type="none" w="med" len="med"/>
                    </a:lnL>
                    <a:lnR w="12700" cap="flat" cmpd="sng" algn="ctr">
                      <a:solidFill>
                        <a:srgbClr val="C5C8CE"/>
                      </a:solidFill>
                      <a:prstDash val="solid"/>
                      <a:round/>
                      <a:headEnd type="none" w="med" len="med"/>
                      <a:tailEnd type="none" w="med" len="med"/>
                    </a:lnR>
                    <a:lnT w="12700" cap="flat" cmpd="sng" algn="ctr">
                      <a:solidFill>
                        <a:srgbClr val="C5C8CE"/>
                      </a:solidFill>
                      <a:prstDash val="solid"/>
                      <a:round/>
                      <a:headEnd type="none" w="med" len="med"/>
                      <a:tailEnd type="none" w="med" len="med"/>
                    </a:lnT>
                    <a:lnB w="12700" cap="flat" cmpd="sng" algn="ctr">
                      <a:solidFill>
                        <a:srgbClr val="C5C8CE"/>
                      </a:solidFill>
                      <a:prstDash val="solid"/>
                      <a:round/>
                      <a:headEnd type="none" w="med" len="med"/>
                      <a:tailEnd type="none" w="med" len="med"/>
                    </a:lnB>
                  </a:tcPr>
                </a:tc>
                <a:tc>
                  <a:txBody>
                    <a:bodyPr/>
                    <a:lstStyle/>
                    <a:p>
                      <a:pPr indent="0" marL="0">
                        <a:lnSpc>
                          <a:spcPts val="1570"/>
                        </a:lnSpc>
                        <a:buNone/>
                      </a:pPr>
                      <a:r>
                        <a:rPr lang="en-US" sz="1121" dirty="0">
                          <a:solidFill>
                            <a:srgbClr val="5A6478"/>
                          </a:solidFill>
                          <a:latin typeface="Inter" pitchFamily="34" charset="0"/>
                          <a:ea typeface="Inter" pitchFamily="34" charset="-122"/>
                          <a:cs typeface="Inter" pitchFamily="34" charset="-120"/>
                        </a:rPr>
                        <a:t>Code envoyé à un modèle, difficile à auditer</a:t>
                      </a:r>
                      <a:endParaRPr lang="en-US" sz="1121" dirty="0">
                        <a:latin typeface="Inter" charset="0"/>
                        <a:ea typeface="Inter" charset="0"/>
                        <a:cs typeface="Inter" charset="0"/>
                      </a:endParaRPr>
                    </a:p>
                  </a:txBody>
                  <a:tcPr marL="152400" marR="152400" marT="101600" marB="101600" anchor="t">
                    <a:lnL w="12700" cap="flat" cmpd="sng" algn="ctr">
                      <a:solidFill>
                        <a:srgbClr val="C5C8CE"/>
                      </a:solidFill>
                      <a:prstDash val="solid"/>
                      <a:round/>
                      <a:headEnd type="none" w="med" len="med"/>
                      <a:tailEnd type="none" w="med" len="med"/>
                    </a:lnL>
                    <a:lnR w="12700" cap="flat" cmpd="sng" algn="ctr">
                      <a:solidFill>
                        <a:srgbClr val="C5C8CE"/>
                      </a:solidFill>
                      <a:prstDash val="solid"/>
                      <a:round/>
                      <a:headEnd type="none" w="med" len="med"/>
                      <a:tailEnd type="none" w="med" len="med"/>
                    </a:lnR>
                    <a:lnT w="12700" cap="flat" cmpd="sng" algn="ctr">
                      <a:solidFill>
                        <a:srgbClr val="C5C8CE"/>
                      </a:solidFill>
                      <a:prstDash val="solid"/>
                      <a:round/>
                      <a:headEnd type="none" w="med" len="med"/>
                      <a:tailEnd type="none" w="med" len="med"/>
                    </a:lnT>
                    <a:lnB w="12700" cap="flat" cmpd="sng" algn="ctr">
                      <a:solidFill>
                        <a:srgbClr val="C5C8CE"/>
                      </a:solidFill>
                      <a:prstDash val="solid"/>
                      <a:round/>
                      <a:headEnd type="none" w="med" len="med"/>
                      <a:tailEnd type="none" w="med" len="med"/>
                    </a:lnB>
                  </a:tcPr>
                </a:tc>
                <a:tc>
                  <a:txBody>
                    <a:bodyPr/>
                    <a:lstStyle/>
                    <a:p>
                      <a:pPr indent="0" marL="0">
                        <a:lnSpc>
                          <a:spcPts val="1570"/>
                        </a:lnSpc>
                        <a:buNone/>
                      </a:pPr>
                      <a:r>
                        <a:rPr lang="en-US" sz="1121" dirty="0">
                          <a:solidFill>
                            <a:srgbClr val="152033"/>
                          </a:solidFill>
                          <a:latin typeface="Inter" pitchFamily="34" charset="0"/>
                          <a:ea typeface="Inter" pitchFamily="34" charset="-122"/>
                          <a:cs typeface="Inter" pitchFamily="34" charset="-120"/>
                        </a:rPr>
                        <a:t>✓ Règle versionnée, relue, traçable</a:t>
                      </a:r>
                      <a:endParaRPr lang="en-US" sz="1121" dirty="0">
                        <a:latin typeface="Inter" charset="0"/>
                        <a:ea typeface="Inter" charset="0"/>
                        <a:cs typeface="Inter" charset="0"/>
                      </a:endParaRPr>
                    </a:p>
                  </a:txBody>
                  <a:tcPr marL="152400" marR="152400" marT="101600" marB="101600" anchor="t">
                    <a:lnL w="12700" cap="flat" cmpd="sng" algn="ctr">
                      <a:solidFill>
                        <a:srgbClr val="C5C8CE"/>
                      </a:solidFill>
                      <a:prstDash val="solid"/>
                      <a:round/>
                      <a:headEnd type="none" w="med" len="med"/>
                      <a:tailEnd type="none" w="med" len="med"/>
                    </a:lnL>
                    <a:lnR w="12700" cap="flat" cmpd="sng" algn="ctr">
                      <a:solidFill>
                        <a:srgbClr val="C5C8CE"/>
                      </a:solidFill>
                      <a:prstDash val="solid"/>
                      <a:round/>
                      <a:headEnd type="none" w="med" len="med"/>
                      <a:tailEnd type="none" w="med" len="med"/>
                    </a:lnR>
                    <a:lnT w="12700" cap="flat" cmpd="sng" algn="ctr">
                      <a:solidFill>
                        <a:srgbClr val="C5C8CE"/>
                      </a:solidFill>
                      <a:prstDash val="solid"/>
                      <a:round/>
                      <a:headEnd type="none" w="med" len="med"/>
                      <a:tailEnd type="none" w="med" len="med"/>
                    </a:lnT>
                    <a:lnB w="12700" cap="flat" cmpd="sng" algn="ctr">
                      <a:solidFill>
                        <a:srgbClr val="C5C8CE"/>
                      </a:solidFill>
                      <a:prstDash val="solid"/>
                      <a:round/>
                      <a:headEnd type="none" w="med" len="med"/>
                      <a:tailEnd type="none" w="med" len="med"/>
                    </a:lnB>
                  </a:tcPr>
                </a:tc>
              </a:tr>
            </a:tbl>
          </a:graphicData>
        </a:graphic>
      </p:graphicFrame>
      <p:sp>
        <p:nvSpPr>
          <p:cNvPr id="8" name="Shape 5"/>
          <p:cNvSpPr/>
          <p:nvPr/>
        </p:nvSpPr>
        <p:spPr>
          <a:xfrm>
            <a:off x="812800" y="5272580"/>
            <a:ext cx="10566400" cy="569421"/>
          </a:xfrm>
          <a:prstGeom prst="roundRect">
            <a:avLst>
              <a:gd name="adj" fmla="val 13382"/>
            </a:avLst>
          </a:prstGeom>
          <a:solidFill>
            <a:srgbClr val="FFFFFF"/>
          </a:solidFill>
          <a:ln/>
        </p:spPr>
      </p:sp>
      <p:sp>
        <p:nvSpPr>
          <p:cNvPr id="9" name="Shape 6"/>
          <p:cNvSpPr/>
          <p:nvPr/>
        </p:nvSpPr>
        <p:spPr>
          <a:xfrm>
            <a:off x="825500" y="5272580"/>
            <a:ext cx="0" cy="569421"/>
          </a:xfrm>
          <a:prstGeom prst="line">
            <a:avLst/>
          </a:prstGeom>
          <a:noFill/>
          <a:ln w="25400">
            <a:solidFill>
              <a:srgbClr val="0F8A60"/>
            </a:solidFill>
            <a:prstDash val="solid"/>
          </a:ln>
        </p:spPr>
      </p:sp>
      <p:sp>
        <p:nvSpPr>
          <p:cNvPr id="10" name="Text 7"/>
          <p:cNvSpPr/>
          <p:nvPr/>
        </p:nvSpPr>
        <p:spPr>
          <a:xfrm>
            <a:off x="1040190" y="5424980"/>
            <a:ext cx="10439884" cy="290021"/>
          </a:xfrm>
          <a:prstGeom prst="rect">
            <a:avLst/>
          </a:prstGeom>
          <a:noFill/>
          <a:ln/>
        </p:spPr>
        <p:txBody>
          <a:bodyPr wrap="square" lIns="0" tIns="0" rIns="0" bIns="0" rtlCol="0" anchor="t">
            <a:normAutofit/>
          </a:bodyPr>
          <a:lstStyle/>
          <a:p>
            <a:pPr algn="l" indent="0" marL="0">
              <a:lnSpc>
                <a:spcPts val="1844"/>
              </a:lnSpc>
              <a:buNone/>
            </a:pPr>
            <a:r>
              <a:rPr lang="en-US" sz="1317" dirty="0">
                <a:solidFill>
                  <a:srgbClr val="152033"/>
                </a:solidFill>
                <a:latin typeface="Inter" pitchFamily="34" charset="0"/>
                <a:ea typeface="Inter" pitchFamily="34" charset="-122"/>
                <a:cs typeface="Inter" pitchFamily="34" charset="-120"/>
              </a:rPr>
              <a:t>L'IA m'aide à </a:t>
            </a:r>
            <a:r>
              <a:rPr lang="en-US" sz="1317" b="1" dirty="0">
                <a:solidFill>
                  <a:srgbClr val="152033"/>
                </a:solidFill>
                <a:latin typeface="Inter" pitchFamily="34" charset="0"/>
                <a:ea typeface="Inter" pitchFamily="34" charset="-122"/>
                <a:cs typeface="Inter" pitchFamily="34" charset="-120"/>
              </a:rPr>
              <a:t>écrire</a:t>
            </a:r>
            <a:r>
              <a:rPr lang="en-US" sz="1317" dirty="0">
                <a:solidFill>
                  <a:srgbClr val="152033"/>
                </a:solidFill>
                <a:latin typeface="Inter" pitchFamily="34" charset="0"/>
                <a:ea typeface="Inter" pitchFamily="34" charset="-122"/>
                <a:cs typeface="Inter" pitchFamily="34" charset="-120"/>
              </a:rPr>
              <a:t> les recettes ; la recette garantit le </a:t>
            </a:r>
            <a:r>
              <a:rPr lang="en-US" sz="1317" b="1" dirty="0">
                <a:solidFill>
                  <a:srgbClr val="152033"/>
                </a:solidFill>
                <a:latin typeface="Inter" pitchFamily="34" charset="0"/>
                <a:ea typeface="Inter" pitchFamily="34" charset="-122"/>
                <a:cs typeface="Inter" pitchFamily="34" charset="-120"/>
              </a:rPr>
              <a:t>standard</a:t>
            </a:r>
            <a:r>
              <a:rPr lang="en-US" sz="1317" dirty="0">
                <a:solidFill>
                  <a:srgbClr val="152033"/>
                </a:solidFill>
                <a:latin typeface="Inter" pitchFamily="34" charset="0"/>
                <a:ea typeface="Inter" pitchFamily="34" charset="-122"/>
                <a:cs typeface="Inter" pitchFamily="34" charset="-120"/>
              </a:rPr>
              <a:t>, la </a:t>
            </a:r>
            <a:r>
              <a:rPr lang="en-US" sz="1317" b="1" dirty="0">
                <a:solidFill>
                  <a:srgbClr val="152033"/>
                </a:solidFill>
                <a:latin typeface="Inter" pitchFamily="34" charset="0"/>
                <a:ea typeface="Inter" pitchFamily="34" charset="-122"/>
                <a:cs typeface="Inter" pitchFamily="34" charset="-120"/>
              </a:rPr>
              <a:t>confidentialité</a:t>
            </a:r>
            <a:r>
              <a:rPr lang="en-US" sz="1317" dirty="0">
                <a:solidFill>
                  <a:srgbClr val="152033"/>
                </a:solidFill>
                <a:latin typeface="Inter" pitchFamily="34" charset="0"/>
                <a:ea typeface="Inter" pitchFamily="34" charset="-122"/>
                <a:cs typeface="Inter" pitchFamily="34" charset="-120"/>
              </a:rPr>
              <a:t> et l'</a:t>
            </a:r>
            <a:r>
              <a:rPr lang="en-US" sz="1317" b="1" dirty="0">
                <a:solidFill>
                  <a:srgbClr val="152033"/>
                </a:solidFill>
                <a:latin typeface="Inter" pitchFamily="34" charset="0"/>
                <a:ea typeface="Inter" pitchFamily="34" charset="-122"/>
                <a:cs typeface="Inter" pitchFamily="34" charset="-120"/>
              </a:rPr>
              <a:t>auditabilité</a:t>
            </a:r>
            <a:r>
              <a:rPr lang="en-US" sz="1317" dirty="0">
                <a:solidFill>
                  <a:srgbClr val="152033"/>
                </a:solidFill>
                <a:latin typeface="Inter" pitchFamily="34" charset="0"/>
                <a:ea typeface="Inter" pitchFamily="34" charset="-122"/>
                <a:cs typeface="Inter" pitchFamily="34" charset="-120"/>
              </a:rPr>
              <a:t>.</a:t>
            </a:r>
            <a:endParaRPr lang="en-US" sz="1317" dirty="0"/>
          </a:p>
        </p:txBody>
      </p:sp>
      <p:sp>
        <p:nvSpPr>
          <p:cNvPr id="11" name="Shape 8"/>
          <p:cNvSpPr/>
          <p:nvPr/>
        </p:nvSpPr>
        <p:spPr>
          <a:xfrm>
            <a:off x="812800" y="6278110"/>
            <a:ext cx="101600" cy="101600"/>
          </a:xfrm>
          <a:prstGeom prst="rect">
            <a:avLst/>
          </a:prstGeom>
          <a:solidFill>
            <a:srgbClr val="FFCC00"/>
          </a:solidFill>
          <a:ln/>
        </p:spPr>
      </p:sp>
      <p:sp>
        <p:nvSpPr>
          <p:cNvPr id="12" name="Text 9"/>
          <p:cNvSpPr/>
          <p:nvPr/>
        </p:nvSpPr>
        <p:spPr>
          <a:xfrm>
            <a:off x="990600" y="6206257"/>
            <a:ext cx="2166229"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JetBrains Mono" pitchFamily="34" charset="0"/>
                <a:ea typeface="JetBrains Mono" pitchFamily="34" charset="-122"/>
                <a:cs typeface="JetBrains Mono" pitchFamily="34" charset="-120"/>
              </a:rPr>
              <a:t>LCL · Paiements SEPA</a:t>
            </a:r>
            <a:endParaRPr lang="en-US" sz="1200" dirty="0"/>
          </a:p>
        </p:txBody>
      </p:sp>
      <p:sp>
        <p:nvSpPr>
          <p:cNvPr id="13" name="Text 10"/>
          <p:cNvSpPr/>
          <p:nvPr/>
        </p:nvSpPr>
        <p:spPr>
          <a:xfrm>
            <a:off x="10643091" y="6206257"/>
            <a:ext cx="786909"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JetBrains Mono" pitchFamily="34" charset="0"/>
                <a:ea typeface="JetBrains Mono" pitchFamily="34" charset="-122"/>
                <a:cs typeface="JetBrains Mono" pitchFamily="34" charset="-120"/>
              </a:rPr>
              <a:t>05 / 08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10296B"/>
          </a:solidFill>
          <a:ln/>
        </p:spPr>
      </p:sp>
      <p:sp>
        <p:nvSpPr>
          <p:cNvPr id="3" name="Shape 1"/>
          <p:cNvSpPr/>
          <p:nvPr/>
        </p:nvSpPr>
        <p:spPr>
          <a:xfrm>
            <a:off x="812800" y="0"/>
            <a:ext cx="1016000" cy="88900"/>
          </a:xfrm>
          <a:prstGeom prst="rect">
            <a:avLst/>
          </a:prstGeom>
          <a:solidFill>
            <a:srgbClr val="FFCC00"/>
          </a:solidFill>
          <a:ln/>
        </p:spPr>
      </p:sp>
      <p:sp>
        <p:nvSpPr>
          <p:cNvPr id="4" name="Shape 2"/>
          <p:cNvSpPr/>
          <p:nvPr/>
        </p:nvSpPr>
        <p:spPr>
          <a:xfrm>
            <a:off x="812800" y="916403"/>
            <a:ext cx="254000" cy="38100"/>
          </a:xfrm>
          <a:prstGeom prst="roundRect">
            <a:avLst>
              <a:gd name="adj" fmla="val 50000"/>
            </a:avLst>
          </a:prstGeom>
          <a:solidFill>
            <a:srgbClr val="FFCC00"/>
          </a:solidFill>
          <a:ln/>
        </p:spPr>
      </p:sp>
      <p:sp>
        <p:nvSpPr>
          <p:cNvPr id="5" name="Text 3"/>
          <p:cNvSpPr/>
          <p:nvPr/>
        </p:nvSpPr>
        <p:spPr>
          <a:xfrm>
            <a:off x="1168400" y="812800"/>
            <a:ext cx="3357613"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3F8F"/>
                </a:solidFill>
                <a:latin typeface="JetBrains Mono" pitchFamily="34" charset="0"/>
                <a:ea typeface="JetBrains Mono" pitchFamily="34" charset="-122"/>
                <a:cs typeface="JetBrains Mono" pitchFamily="34" charset="-120"/>
              </a:rPr>
              <a:t>Étape 2 · Standardiser les logs</a:t>
            </a:r>
            <a:endParaRPr lang="en-US" sz="1200" dirty="0"/>
          </a:p>
        </p:txBody>
      </p:sp>
      <p:sp>
        <p:nvSpPr>
          <p:cNvPr id="6" name="Text 4"/>
          <p:cNvSpPr/>
          <p:nvPr/>
        </p:nvSpPr>
        <p:spPr>
          <a:xfrm>
            <a:off x="812800" y="1159746"/>
            <a:ext cx="10883392" cy="539485"/>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0296B"/>
                </a:solidFill>
                <a:latin typeface="Space Grotesk" pitchFamily="34" charset="0"/>
                <a:ea typeface="Space Grotesk" pitchFamily="34" charset="-122"/>
                <a:cs typeface="Space Grotesk" pitchFamily="34" charset="-120"/>
              </a:rPr>
              <a:t>Des logs standard, tracés et conformes par défaut</a:t>
            </a:r>
            <a:endParaRPr lang="en-US" sz="3200" dirty="0"/>
          </a:p>
        </p:txBody>
      </p:sp>
      <p:sp>
        <p:nvSpPr>
          <p:cNvPr id="7" name="Text 5"/>
          <p:cNvSpPr/>
          <p:nvPr/>
        </p:nvSpPr>
        <p:spPr>
          <a:xfrm>
            <a:off x="812800" y="1877030"/>
            <a:ext cx="5284724"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JetBrains Mono" pitchFamily="34" charset="0"/>
                <a:ea typeface="JetBrains Mono" pitchFamily="34" charset="-122"/>
                <a:cs typeface="JetBrains Mono" pitchFamily="34" charset="-120"/>
              </a:rPr>
              <a:t>afx-logging-starter · 3 modules</a:t>
            </a:r>
            <a:endParaRPr lang="en-US" sz="1200" dirty="0"/>
          </a:p>
        </p:txBody>
      </p:sp>
      <p:sp>
        <p:nvSpPr>
          <p:cNvPr id="8" name="Shape 6"/>
          <p:cNvSpPr/>
          <p:nvPr/>
        </p:nvSpPr>
        <p:spPr>
          <a:xfrm>
            <a:off x="815975" y="2201751"/>
            <a:ext cx="5124450" cy="827050"/>
          </a:xfrm>
          <a:prstGeom prst="roundRect">
            <a:avLst>
              <a:gd name="adj" fmla="val 8830"/>
            </a:avLst>
          </a:prstGeom>
          <a:solidFill>
            <a:srgbClr val="FFFFFF"/>
          </a:solidFill>
          <a:ln w="6350">
            <a:solidFill>
              <a:srgbClr val="DFE4EE"/>
            </a:solidFill>
            <a:prstDash val="solid"/>
          </a:ln>
        </p:spPr>
      </p:sp>
      <p:sp>
        <p:nvSpPr>
          <p:cNvPr id="9" name="Text 7"/>
          <p:cNvSpPr/>
          <p:nvPr/>
        </p:nvSpPr>
        <p:spPr>
          <a:xfrm>
            <a:off x="995438" y="2330413"/>
            <a:ext cx="4908490"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3F8F"/>
                </a:solidFill>
                <a:latin typeface="JetBrains Mono" pitchFamily="34" charset="0"/>
                <a:ea typeface="JetBrains Mono" pitchFamily="34" charset="-122"/>
                <a:cs typeface="JetBrains Mono" pitchFamily="34" charset="-120"/>
              </a:rPr>
              <a:t>core</a:t>
            </a:r>
            <a:endParaRPr lang="en-US" sz="1400" dirty="0"/>
          </a:p>
        </p:txBody>
      </p:sp>
      <p:sp>
        <p:nvSpPr>
          <p:cNvPr id="10" name="Text 8"/>
          <p:cNvSpPr/>
          <p:nvPr/>
        </p:nvSpPr>
        <p:spPr>
          <a:xfrm>
            <a:off x="995438" y="2654793"/>
            <a:ext cx="490849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Inter" pitchFamily="34" charset="0"/>
                <a:ea typeface="Inter" pitchFamily="34" charset="-122"/>
                <a:cs typeface="Inter" pitchFamily="34" charset="-120"/>
              </a:rPr>
              <a:t>AOP, MDC, corr_id, masquage RGPD/PCI-DSS</a:t>
            </a:r>
            <a:endParaRPr lang="en-US" sz="1200" dirty="0"/>
          </a:p>
        </p:txBody>
      </p:sp>
      <p:sp>
        <p:nvSpPr>
          <p:cNvPr id="11" name="Shape 9"/>
          <p:cNvSpPr/>
          <p:nvPr/>
        </p:nvSpPr>
        <p:spPr>
          <a:xfrm>
            <a:off x="815975" y="3111348"/>
            <a:ext cx="5124450" cy="827050"/>
          </a:xfrm>
          <a:prstGeom prst="roundRect">
            <a:avLst>
              <a:gd name="adj" fmla="val 8830"/>
            </a:avLst>
          </a:prstGeom>
          <a:solidFill>
            <a:srgbClr val="FFFFFF"/>
          </a:solidFill>
          <a:ln w="6350">
            <a:solidFill>
              <a:srgbClr val="DFE4EE"/>
            </a:solidFill>
            <a:prstDash val="solid"/>
          </a:ln>
        </p:spPr>
      </p:sp>
      <p:sp>
        <p:nvSpPr>
          <p:cNvPr id="12" name="Text 10"/>
          <p:cNvSpPr/>
          <p:nvPr/>
        </p:nvSpPr>
        <p:spPr>
          <a:xfrm>
            <a:off x="995438" y="3240013"/>
            <a:ext cx="4908490"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3F8F"/>
                </a:solidFill>
                <a:latin typeface="JetBrains Mono" pitchFamily="34" charset="0"/>
                <a:ea typeface="JetBrains Mono" pitchFamily="34" charset="-122"/>
                <a:cs typeface="JetBrains Mono" pitchFamily="34" charset="-120"/>
              </a:rPr>
              <a:t>autoconfigure</a:t>
            </a:r>
            <a:endParaRPr lang="en-US" sz="1400" dirty="0"/>
          </a:p>
        </p:txBody>
      </p:sp>
      <p:sp>
        <p:nvSpPr>
          <p:cNvPr id="13" name="Text 11"/>
          <p:cNvSpPr/>
          <p:nvPr/>
        </p:nvSpPr>
        <p:spPr>
          <a:xfrm>
            <a:off x="995438" y="3564393"/>
            <a:ext cx="490849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Inter" pitchFamily="34" charset="0"/>
                <a:ea typeface="Inter" pitchFamily="34" charset="-122"/>
                <a:cs typeface="Inter" pitchFamily="34" charset="-120"/>
              </a:rPr>
              <a:t>Activation et configuration automatiques</a:t>
            </a:r>
            <a:endParaRPr lang="en-US" sz="1200" dirty="0"/>
          </a:p>
        </p:txBody>
      </p:sp>
      <p:sp>
        <p:nvSpPr>
          <p:cNvPr id="14" name="Shape 12"/>
          <p:cNvSpPr/>
          <p:nvPr/>
        </p:nvSpPr>
        <p:spPr>
          <a:xfrm>
            <a:off x="815975" y="4020948"/>
            <a:ext cx="5124450" cy="827050"/>
          </a:xfrm>
          <a:prstGeom prst="roundRect">
            <a:avLst>
              <a:gd name="adj" fmla="val 8830"/>
            </a:avLst>
          </a:prstGeom>
          <a:solidFill>
            <a:srgbClr val="1A3F8F"/>
          </a:solidFill>
          <a:ln w="6350">
            <a:solidFill>
              <a:srgbClr val="1A3F8F"/>
            </a:solidFill>
            <a:prstDash val="solid"/>
          </a:ln>
        </p:spPr>
      </p:sp>
      <p:sp>
        <p:nvSpPr>
          <p:cNvPr id="15" name="Text 13"/>
          <p:cNvSpPr/>
          <p:nvPr/>
        </p:nvSpPr>
        <p:spPr>
          <a:xfrm>
            <a:off x="995438" y="4149613"/>
            <a:ext cx="4908490"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JetBrains Mono" pitchFamily="34" charset="0"/>
                <a:ea typeface="JetBrains Mono" pitchFamily="34" charset="-122"/>
                <a:cs typeface="JetBrains Mono" pitchFamily="34" charset="-120"/>
              </a:rPr>
              <a:t>starter</a:t>
            </a:r>
            <a:endParaRPr lang="en-US" sz="1400" dirty="0"/>
          </a:p>
        </p:txBody>
      </p:sp>
      <p:sp>
        <p:nvSpPr>
          <p:cNvPr id="16" name="Text 14"/>
          <p:cNvSpPr/>
          <p:nvPr/>
        </p:nvSpPr>
        <p:spPr>
          <a:xfrm>
            <a:off x="995438" y="4473990"/>
            <a:ext cx="490849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Déployé dans chaque projet par une recette</a:t>
            </a:r>
            <a:endParaRPr lang="en-US" sz="1200" dirty="0"/>
          </a:p>
        </p:txBody>
      </p:sp>
      <p:sp>
        <p:nvSpPr>
          <p:cNvPr id="17" name="Text 15"/>
          <p:cNvSpPr/>
          <p:nvPr/>
        </p:nvSpPr>
        <p:spPr>
          <a:xfrm>
            <a:off x="6248400" y="1877030"/>
            <a:ext cx="5284724"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JetBrains Mono" pitchFamily="34" charset="0"/>
                <a:ea typeface="JetBrains Mono" pitchFamily="34" charset="-122"/>
                <a:cs typeface="JetBrains Mono" pitchFamily="34" charset="-120"/>
              </a:rPr>
              <a:t>À chaque appel</a:t>
            </a:r>
            <a:endParaRPr lang="en-US" sz="1200" dirty="0"/>
          </a:p>
        </p:txBody>
      </p:sp>
      <p:sp>
        <p:nvSpPr>
          <p:cNvPr id="18" name="Shape 16"/>
          <p:cNvSpPr/>
          <p:nvPr/>
        </p:nvSpPr>
        <p:spPr>
          <a:xfrm>
            <a:off x="6251575" y="2189051"/>
            <a:ext cx="5124450" cy="401071"/>
          </a:xfrm>
          <a:prstGeom prst="roundRect">
            <a:avLst>
              <a:gd name="adj" fmla="val 18207"/>
            </a:avLst>
          </a:prstGeom>
          <a:solidFill>
            <a:srgbClr val="FFFFFF"/>
          </a:solidFill>
          <a:ln w="6350">
            <a:solidFill>
              <a:srgbClr val="DFE4EE"/>
            </a:solidFill>
            <a:prstDash val="solid"/>
          </a:ln>
        </p:spPr>
      </p:sp>
      <p:sp>
        <p:nvSpPr>
          <p:cNvPr id="19" name="Text 17"/>
          <p:cNvSpPr/>
          <p:nvPr/>
        </p:nvSpPr>
        <p:spPr>
          <a:xfrm>
            <a:off x="6380238" y="2266913"/>
            <a:ext cx="261144"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3F8F"/>
                </a:solidFill>
                <a:latin typeface="JetBrains Mono" pitchFamily="34" charset="0"/>
                <a:ea typeface="JetBrains Mono" pitchFamily="34" charset="-122"/>
                <a:cs typeface="JetBrains Mono" pitchFamily="34" charset="-120"/>
              </a:rPr>
              <a:t>01</a:t>
            </a:r>
            <a:endParaRPr lang="en-US" sz="1200" dirty="0"/>
          </a:p>
        </p:txBody>
      </p:sp>
      <p:sp>
        <p:nvSpPr>
          <p:cNvPr id="20" name="Text 18"/>
          <p:cNvSpPr/>
          <p:nvPr/>
        </p:nvSpPr>
        <p:spPr>
          <a:xfrm>
            <a:off x="6692182" y="2266913"/>
            <a:ext cx="137984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2033"/>
                </a:solidFill>
                <a:latin typeface="Inter" pitchFamily="34" charset="0"/>
                <a:ea typeface="Inter" pitchFamily="34" charset="-122"/>
                <a:cs typeface="Inter" pitchFamily="34" charset="-120"/>
              </a:rPr>
              <a:t>Requête entrante</a:t>
            </a:r>
            <a:endParaRPr lang="en-US" sz="1200" dirty="0"/>
          </a:p>
        </p:txBody>
      </p:sp>
      <p:sp>
        <p:nvSpPr>
          <p:cNvPr id="21" name="Shape 19"/>
          <p:cNvSpPr/>
          <p:nvPr/>
        </p:nvSpPr>
        <p:spPr>
          <a:xfrm>
            <a:off x="6251575" y="2659971"/>
            <a:ext cx="5124450" cy="401071"/>
          </a:xfrm>
          <a:prstGeom prst="roundRect">
            <a:avLst>
              <a:gd name="adj" fmla="val 18207"/>
            </a:avLst>
          </a:prstGeom>
          <a:solidFill>
            <a:srgbClr val="FFFFFF"/>
          </a:solidFill>
          <a:ln w="6350">
            <a:solidFill>
              <a:srgbClr val="DFE4EE"/>
            </a:solidFill>
            <a:prstDash val="solid"/>
          </a:ln>
        </p:spPr>
      </p:sp>
      <p:sp>
        <p:nvSpPr>
          <p:cNvPr id="22" name="Text 20"/>
          <p:cNvSpPr/>
          <p:nvPr/>
        </p:nvSpPr>
        <p:spPr>
          <a:xfrm>
            <a:off x="6380238" y="2737833"/>
            <a:ext cx="261144"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3F8F"/>
                </a:solidFill>
                <a:latin typeface="JetBrains Mono" pitchFamily="34" charset="0"/>
                <a:ea typeface="JetBrains Mono" pitchFamily="34" charset="-122"/>
                <a:cs typeface="JetBrains Mono" pitchFamily="34" charset="-120"/>
              </a:rPr>
              <a:t>02</a:t>
            </a:r>
            <a:endParaRPr lang="en-US" sz="1200" dirty="0"/>
          </a:p>
        </p:txBody>
      </p:sp>
      <p:sp>
        <p:nvSpPr>
          <p:cNvPr id="23" name="Text 21"/>
          <p:cNvSpPr/>
          <p:nvPr/>
        </p:nvSpPr>
        <p:spPr>
          <a:xfrm>
            <a:off x="6692182" y="2737833"/>
            <a:ext cx="3706712"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2033"/>
                </a:solidFill>
                <a:latin typeface="Inter" pitchFamily="34" charset="0"/>
                <a:ea typeface="Inter" pitchFamily="34" charset="-122"/>
                <a:cs typeface="Inter" pitchFamily="34" charset="-120"/>
              </a:rPr>
              <a:t>corr_id récupéré ou généré, placé dans le MDC</a:t>
            </a:r>
            <a:endParaRPr lang="en-US" sz="1200" dirty="0"/>
          </a:p>
        </p:txBody>
      </p:sp>
      <p:sp>
        <p:nvSpPr>
          <p:cNvPr id="24" name="Shape 22"/>
          <p:cNvSpPr/>
          <p:nvPr/>
        </p:nvSpPr>
        <p:spPr>
          <a:xfrm>
            <a:off x="6251575" y="3130891"/>
            <a:ext cx="5124450" cy="401071"/>
          </a:xfrm>
          <a:prstGeom prst="roundRect">
            <a:avLst>
              <a:gd name="adj" fmla="val 18207"/>
            </a:avLst>
          </a:prstGeom>
          <a:solidFill>
            <a:srgbClr val="FFFFFF"/>
          </a:solidFill>
          <a:ln w="6350">
            <a:solidFill>
              <a:srgbClr val="DFE4EE"/>
            </a:solidFill>
            <a:prstDash val="solid"/>
          </a:ln>
        </p:spPr>
      </p:sp>
      <p:sp>
        <p:nvSpPr>
          <p:cNvPr id="25" name="Text 23"/>
          <p:cNvSpPr/>
          <p:nvPr/>
        </p:nvSpPr>
        <p:spPr>
          <a:xfrm>
            <a:off x="6380238" y="3208753"/>
            <a:ext cx="261144"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3F8F"/>
                </a:solidFill>
                <a:latin typeface="JetBrains Mono" pitchFamily="34" charset="0"/>
                <a:ea typeface="JetBrains Mono" pitchFamily="34" charset="-122"/>
                <a:cs typeface="JetBrains Mono" pitchFamily="34" charset="-120"/>
              </a:rPr>
              <a:t>03</a:t>
            </a:r>
            <a:endParaRPr lang="en-US" sz="1200" dirty="0"/>
          </a:p>
        </p:txBody>
      </p:sp>
      <p:sp>
        <p:nvSpPr>
          <p:cNvPr id="26" name="Text 24"/>
          <p:cNvSpPr/>
          <p:nvPr/>
        </p:nvSpPr>
        <p:spPr>
          <a:xfrm>
            <a:off x="6692182" y="3208753"/>
            <a:ext cx="3220067"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2033"/>
                </a:solidFill>
                <a:latin typeface="Inter" pitchFamily="34" charset="0"/>
                <a:ea typeface="Inter" pitchFamily="34" charset="-122"/>
                <a:cs typeface="Inter" pitchFamily="34" charset="-120"/>
              </a:rPr>
              <a:t>Logs AOP, données sensibles masquées</a:t>
            </a:r>
            <a:endParaRPr lang="en-US" sz="1200" dirty="0"/>
          </a:p>
        </p:txBody>
      </p:sp>
      <p:sp>
        <p:nvSpPr>
          <p:cNvPr id="27" name="Shape 25"/>
          <p:cNvSpPr/>
          <p:nvPr/>
        </p:nvSpPr>
        <p:spPr>
          <a:xfrm>
            <a:off x="6251575" y="3601811"/>
            <a:ext cx="5124450" cy="401071"/>
          </a:xfrm>
          <a:prstGeom prst="roundRect">
            <a:avLst>
              <a:gd name="adj" fmla="val 18207"/>
            </a:avLst>
          </a:prstGeom>
          <a:solidFill>
            <a:srgbClr val="FFFFFF"/>
          </a:solidFill>
          <a:ln w="6350">
            <a:solidFill>
              <a:srgbClr val="DFE4EE"/>
            </a:solidFill>
            <a:prstDash val="solid"/>
          </a:ln>
        </p:spPr>
      </p:sp>
      <p:sp>
        <p:nvSpPr>
          <p:cNvPr id="28" name="Text 26"/>
          <p:cNvSpPr/>
          <p:nvPr/>
        </p:nvSpPr>
        <p:spPr>
          <a:xfrm>
            <a:off x="6380238" y="3679673"/>
            <a:ext cx="261144"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3F8F"/>
                </a:solidFill>
                <a:latin typeface="JetBrains Mono" pitchFamily="34" charset="0"/>
                <a:ea typeface="JetBrains Mono" pitchFamily="34" charset="-122"/>
                <a:cs typeface="JetBrains Mono" pitchFamily="34" charset="-120"/>
              </a:rPr>
              <a:t>04</a:t>
            </a:r>
            <a:endParaRPr lang="en-US" sz="1200" dirty="0"/>
          </a:p>
        </p:txBody>
      </p:sp>
      <p:sp>
        <p:nvSpPr>
          <p:cNvPr id="29" name="Text 27"/>
          <p:cNvSpPr/>
          <p:nvPr/>
        </p:nvSpPr>
        <p:spPr>
          <a:xfrm>
            <a:off x="6692182" y="3679673"/>
            <a:ext cx="3267642"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2033"/>
                </a:solidFill>
                <a:latin typeface="Inter" pitchFamily="34" charset="0"/>
                <a:ea typeface="Inter" pitchFamily="34" charset="-122"/>
                <a:cs typeface="Inter" pitchFamily="34" charset="-120"/>
              </a:rPr>
              <a:t>corr_id propagé aux appels REST et CICS</a:t>
            </a:r>
            <a:endParaRPr lang="en-US" sz="1200" dirty="0"/>
          </a:p>
        </p:txBody>
      </p:sp>
      <p:sp>
        <p:nvSpPr>
          <p:cNvPr id="30" name="Shape 28"/>
          <p:cNvSpPr/>
          <p:nvPr/>
        </p:nvSpPr>
        <p:spPr>
          <a:xfrm>
            <a:off x="6251575" y="4072731"/>
            <a:ext cx="5124450" cy="401071"/>
          </a:xfrm>
          <a:prstGeom prst="roundRect">
            <a:avLst>
              <a:gd name="adj" fmla="val 18207"/>
            </a:avLst>
          </a:prstGeom>
          <a:solidFill>
            <a:srgbClr val="FFFFFF"/>
          </a:solidFill>
          <a:ln w="6350">
            <a:solidFill>
              <a:srgbClr val="DFE4EE"/>
            </a:solidFill>
            <a:prstDash val="solid"/>
          </a:ln>
        </p:spPr>
      </p:sp>
      <p:sp>
        <p:nvSpPr>
          <p:cNvPr id="31" name="Text 29"/>
          <p:cNvSpPr/>
          <p:nvPr/>
        </p:nvSpPr>
        <p:spPr>
          <a:xfrm>
            <a:off x="6380238" y="4150596"/>
            <a:ext cx="261144"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3F8F"/>
                </a:solidFill>
                <a:latin typeface="JetBrains Mono" pitchFamily="34" charset="0"/>
                <a:ea typeface="JetBrains Mono" pitchFamily="34" charset="-122"/>
                <a:cs typeface="JetBrains Mono" pitchFamily="34" charset="-120"/>
              </a:rPr>
              <a:t>05</a:t>
            </a:r>
            <a:endParaRPr lang="en-US" sz="1200" dirty="0"/>
          </a:p>
        </p:txBody>
      </p:sp>
      <p:sp>
        <p:nvSpPr>
          <p:cNvPr id="32" name="Text 30"/>
          <p:cNvSpPr/>
          <p:nvPr/>
        </p:nvSpPr>
        <p:spPr>
          <a:xfrm>
            <a:off x="6692182" y="4150596"/>
            <a:ext cx="2534327"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52033"/>
                </a:solidFill>
                <a:latin typeface="Inter" pitchFamily="34" charset="0"/>
                <a:ea typeface="Inter" pitchFamily="34" charset="-122"/>
                <a:cs typeface="Inter" pitchFamily="34" charset="-120"/>
              </a:rPr>
              <a:t>Supervision dans ELK / Grafana</a:t>
            </a:r>
            <a:endParaRPr lang="en-US" sz="1200" dirty="0"/>
          </a:p>
        </p:txBody>
      </p:sp>
      <p:sp>
        <p:nvSpPr>
          <p:cNvPr id="33" name="Shape 31"/>
          <p:cNvSpPr/>
          <p:nvPr/>
        </p:nvSpPr>
        <p:spPr>
          <a:xfrm>
            <a:off x="812800" y="5054374"/>
            <a:ext cx="10566400" cy="785586"/>
          </a:xfrm>
          <a:prstGeom prst="roundRect">
            <a:avLst>
              <a:gd name="adj" fmla="val 9700"/>
            </a:avLst>
          </a:prstGeom>
          <a:solidFill>
            <a:srgbClr val="FFFFFF"/>
          </a:solidFill>
          <a:ln/>
        </p:spPr>
      </p:sp>
      <p:sp>
        <p:nvSpPr>
          <p:cNvPr id="34" name="Shape 32"/>
          <p:cNvSpPr/>
          <p:nvPr/>
        </p:nvSpPr>
        <p:spPr>
          <a:xfrm>
            <a:off x="825500" y="5054374"/>
            <a:ext cx="0" cy="785586"/>
          </a:xfrm>
          <a:prstGeom prst="line">
            <a:avLst/>
          </a:prstGeom>
          <a:noFill/>
          <a:ln w="25400">
            <a:solidFill>
              <a:srgbClr val="0F8A60"/>
            </a:solidFill>
            <a:prstDash val="solid"/>
          </a:ln>
        </p:spPr>
      </p:sp>
      <p:sp>
        <p:nvSpPr>
          <p:cNvPr id="35" name="Text 33"/>
          <p:cNvSpPr/>
          <p:nvPr/>
        </p:nvSpPr>
        <p:spPr>
          <a:xfrm>
            <a:off x="1014790" y="5181374"/>
            <a:ext cx="10492208" cy="556986"/>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8A60"/>
                </a:solidFill>
                <a:latin typeface="Inter" pitchFamily="34" charset="0"/>
                <a:ea typeface="Inter" pitchFamily="34" charset="-122"/>
                <a:cs typeface="Inter" pitchFamily="34" charset="-120"/>
              </a:rPr>
              <a:t>Preuve terrain · incident wsipke04</a:t>
            </a:r>
            <a:r>
              <a:rPr lang="en-US" sz="1300" dirty="0">
                <a:solidFill>
                  <a:srgbClr val="152033"/>
                </a:solidFill>
                <a:latin typeface="Inter" pitchFamily="34" charset="0"/>
                <a:ea typeface="Inter" pitchFamily="34" charset="-122"/>
                <a:cs typeface="Inter" pitchFamily="34" charset="-120"/>
              </a:rPr>
              <a:t> : corr_id perdu entre REST et CICS, corrigé une fois dans le starter pour tous les services.</a:t>
            </a:r>
            <a:endParaRPr lang="en-US" sz="1300" dirty="0"/>
          </a:p>
        </p:txBody>
      </p:sp>
      <p:sp>
        <p:nvSpPr>
          <p:cNvPr id="36" name="Shape 34"/>
          <p:cNvSpPr/>
          <p:nvPr/>
        </p:nvSpPr>
        <p:spPr>
          <a:xfrm>
            <a:off x="812800" y="6278110"/>
            <a:ext cx="101600" cy="101600"/>
          </a:xfrm>
          <a:prstGeom prst="rect">
            <a:avLst/>
          </a:prstGeom>
          <a:solidFill>
            <a:srgbClr val="FFCC00"/>
          </a:solidFill>
          <a:ln/>
        </p:spPr>
      </p:sp>
      <p:sp>
        <p:nvSpPr>
          <p:cNvPr id="37" name="Text 35"/>
          <p:cNvSpPr/>
          <p:nvPr/>
        </p:nvSpPr>
        <p:spPr>
          <a:xfrm>
            <a:off x="990600" y="6206257"/>
            <a:ext cx="2166229"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JetBrains Mono" pitchFamily="34" charset="0"/>
                <a:ea typeface="JetBrains Mono" pitchFamily="34" charset="-122"/>
                <a:cs typeface="JetBrains Mono" pitchFamily="34" charset="-120"/>
              </a:rPr>
              <a:t>LCL · Paiements SEPA</a:t>
            </a:r>
            <a:endParaRPr lang="en-US" sz="1200" dirty="0"/>
          </a:p>
        </p:txBody>
      </p:sp>
      <p:sp>
        <p:nvSpPr>
          <p:cNvPr id="38" name="Text 36"/>
          <p:cNvSpPr/>
          <p:nvPr/>
        </p:nvSpPr>
        <p:spPr>
          <a:xfrm>
            <a:off x="10643091" y="6206257"/>
            <a:ext cx="786909"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JetBrains Mono" pitchFamily="34" charset="0"/>
                <a:ea typeface="JetBrains Mono" pitchFamily="34" charset="-122"/>
                <a:cs typeface="JetBrains Mono" pitchFamily="34" charset="-120"/>
              </a:rPr>
              <a:t>06 / 08</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10296B"/>
          </a:solidFill>
          <a:ln/>
        </p:spPr>
      </p:sp>
      <p:sp>
        <p:nvSpPr>
          <p:cNvPr id="3" name="Shape 1"/>
          <p:cNvSpPr/>
          <p:nvPr/>
        </p:nvSpPr>
        <p:spPr>
          <a:xfrm>
            <a:off x="812800" y="0"/>
            <a:ext cx="1016000" cy="88900"/>
          </a:xfrm>
          <a:prstGeom prst="rect">
            <a:avLst/>
          </a:prstGeom>
          <a:solidFill>
            <a:srgbClr val="FFCC00"/>
          </a:solidFill>
          <a:ln/>
        </p:spPr>
      </p:sp>
      <p:sp>
        <p:nvSpPr>
          <p:cNvPr id="4" name="Shape 2"/>
          <p:cNvSpPr/>
          <p:nvPr/>
        </p:nvSpPr>
        <p:spPr>
          <a:xfrm>
            <a:off x="812800" y="916403"/>
            <a:ext cx="254000" cy="38100"/>
          </a:xfrm>
          <a:prstGeom prst="roundRect">
            <a:avLst>
              <a:gd name="adj" fmla="val 50000"/>
            </a:avLst>
          </a:prstGeom>
          <a:solidFill>
            <a:srgbClr val="FFCC00"/>
          </a:solidFill>
          <a:ln/>
        </p:spPr>
      </p:sp>
      <p:sp>
        <p:nvSpPr>
          <p:cNvPr id="5" name="Text 3"/>
          <p:cNvSpPr/>
          <p:nvPr/>
        </p:nvSpPr>
        <p:spPr>
          <a:xfrm>
            <a:off x="1168400" y="812800"/>
            <a:ext cx="4549035"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3F8F"/>
                </a:solidFill>
                <a:latin typeface="JetBrains Mono" pitchFamily="34" charset="0"/>
                <a:ea typeface="JetBrains Mono" pitchFamily="34" charset="-122"/>
                <a:cs typeface="JetBrains Mono" pitchFamily="34" charset="-120"/>
              </a:rPr>
              <a:t>Étape 3 · Corriger les CVE automatiquement</a:t>
            </a:r>
            <a:endParaRPr lang="en-US" sz="1200" dirty="0"/>
          </a:p>
        </p:txBody>
      </p:sp>
      <p:sp>
        <p:nvSpPr>
          <p:cNvPr id="6" name="Text 4"/>
          <p:cNvSpPr/>
          <p:nvPr/>
        </p:nvSpPr>
        <p:spPr>
          <a:xfrm>
            <a:off x="812800" y="1159746"/>
            <a:ext cx="10883392" cy="539485"/>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0296B"/>
                </a:solidFill>
                <a:latin typeface="Space Grotesk" pitchFamily="34" charset="0"/>
                <a:ea typeface="Space Grotesk" pitchFamily="34" charset="-122"/>
                <a:cs typeface="Space Grotesk" pitchFamily="34" charset="-120"/>
              </a:rPr>
              <a:t>Une CVE corrigée une fois, pour tout le parc</a:t>
            </a:r>
            <a:endParaRPr lang="en-US" sz="3200" dirty="0"/>
          </a:p>
        </p:txBody>
      </p:sp>
      <p:sp>
        <p:nvSpPr>
          <p:cNvPr id="7" name="Shape 5"/>
          <p:cNvSpPr/>
          <p:nvPr/>
        </p:nvSpPr>
        <p:spPr>
          <a:xfrm>
            <a:off x="815975" y="2053658"/>
            <a:ext cx="2295525" cy="1899897"/>
          </a:xfrm>
          <a:prstGeom prst="roundRect">
            <a:avLst>
              <a:gd name="adj" fmla="val 5181"/>
            </a:avLst>
          </a:prstGeom>
          <a:solidFill>
            <a:srgbClr val="FFFFFF"/>
          </a:solidFill>
          <a:ln w="6350">
            <a:solidFill>
              <a:srgbClr val="DFE4EE"/>
            </a:solidFill>
            <a:prstDash val="solid"/>
          </a:ln>
        </p:spPr>
      </p:sp>
      <p:sp>
        <p:nvSpPr>
          <p:cNvPr id="8" name="Text 6"/>
          <p:cNvSpPr/>
          <p:nvPr/>
        </p:nvSpPr>
        <p:spPr>
          <a:xfrm>
            <a:off x="1020838" y="2258523"/>
            <a:ext cx="1942373"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3F8F"/>
                </a:solidFill>
                <a:latin typeface="JetBrains Mono" pitchFamily="34" charset="0"/>
                <a:ea typeface="JetBrains Mono" pitchFamily="34" charset="-122"/>
                <a:cs typeface="JetBrains Mono" pitchFamily="34" charset="-120"/>
              </a:rPr>
              <a:t>01</a:t>
            </a:r>
            <a:endParaRPr lang="en-US" sz="1400" dirty="0"/>
          </a:p>
        </p:txBody>
      </p:sp>
      <p:sp>
        <p:nvSpPr>
          <p:cNvPr id="9" name="Text 7"/>
          <p:cNvSpPr/>
          <p:nvPr/>
        </p:nvSpPr>
        <p:spPr>
          <a:xfrm>
            <a:off x="1020838" y="2621000"/>
            <a:ext cx="1942373" cy="340859"/>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033"/>
                </a:solidFill>
                <a:latin typeface="Space Grotesk" pitchFamily="34" charset="0"/>
                <a:ea typeface="Space Grotesk" pitchFamily="34" charset="-122"/>
                <a:cs typeface="Space Grotesk" pitchFamily="34" charset="-120"/>
              </a:rPr>
              <a:t>Parent POM</a:t>
            </a:r>
            <a:endParaRPr lang="en-US" sz="1800" dirty="0"/>
          </a:p>
        </p:txBody>
      </p:sp>
      <p:sp>
        <p:nvSpPr>
          <p:cNvPr id="10" name="Text 8"/>
          <p:cNvSpPr/>
          <p:nvPr/>
        </p:nvSpPr>
        <p:spPr>
          <a:xfrm>
            <a:off x="1020838" y="3012660"/>
            <a:ext cx="1942373" cy="76143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Inter" pitchFamily="34" charset="0"/>
                <a:ea typeface="Inter" pitchFamily="34" charset="-122"/>
                <a:cs typeface="Inter" pitchFamily="34" charset="-120"/>
              </a:rPr>
              <a:t>Toutes les versions centralisées au même endroit</a:t>
            </a:r>
            <a:endParaRPr lang="en-US" sz="1200" dirty="0"/>
          </a:p>
        </p:txBody>
      </p:sp>
      <p:sp>
        <p:nvSpPr>
          <p:cNvPr id="11" name="Text 9"/>
          <p:cNvSpPr/>
          <p:nvPr/>
        </p:nvSpPr>
        <p:spPr>
          <a:xfrm>
            <a:off x="3216275" y="2819589"/>
            <a:ext cx="300529" cy="393435"/>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3F8F"/>
                </a:solidFill>
                <a:latin typeface="Inter" pitchFamily="34" charset="0"/>
                <a:ea typeface="Inter" pitchFamily="34" charset="-122"/>
                <a:cs typeface="Inter" pitchFamily="34" charset="-120"/>
              </a:rPr>
              <a:t>→</a:t>
            </a:r>
            <a:endParaRPr lang="en-US" sz="1800" dirty="0"/>
          </a:p>
        </p:txBody>
      </p:sp>
      <p:sp>
        <p:nvSpPr>
          <p:cNvPr id="12" name="Shape 10"/>
          <p:cNvSpPr/>
          <p:nvPr/>
        </p:nvSpPr>
        <p:spPr>
          <a:xfrm>
            <a:off x="3570779" y="1931005"/>
            <a:ext cx="2295563" cy="2145242"/>
          </a:xfrm>
          <a:prstGeom prst="roundRect">
            <a:avLst>
              <a:gd name="adj" fmla="val 4588"/>
            </a:avLst>
          </a:prstGeom>
          <a:solidFill>
            <a:srgbClr val="FFFFFF"/>
          </a:solidFill>
          <a:ln w="6350">
            <a:solidFill>
              <a:srgbClr val="DFE4EE"/>
            </a:solidFill>
            <a:prstDash val="solid"/>
          </a:ln>
        </p:spPr>
      </p:sp>
      <p:sp>
        <p:nvSpPr>
          <p:cNvPr id="13" name="Text 11"/>
          <p:cNvSpPr/>
          <p:nvPr/>
        </p:nvSpPr>
        <p:spPr>
          <a:xfrm>
            <a:off x="3775642" y="2135870"/>
            <a:ext cx="1942412"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3F8F"/>
                </a:solidFill>
                <a:latin typeface="JetBrains Mono" pitchFamily="34" charset="0"/>
                <a:ea typeface="JetBrains Mono" pitchFamily="34" charset="-122"/>
                <a:cs typeface="JetBrains Mono" pitchFamily="34" charset="-120"/>
              </a:rPr>
              <a:t>02</a:t>
            </a:r>
            <a:endParaRPr lang="en-US" sz="1400" dirty="0"/>
          </a:p>
        </p:txBody>
      </p:sp>
      <p:sp>
        <p:nvSpPr>
          <p:cNvPr id="14" name="Text 12"/>
          <p:cNvSpPr/>
          <p:nvPr/>
        </p:nvSpPr>
        <p:spPr>
          <a:xfrm>
            <a:off x="3775642" y="2498347"/>
            <a:ext cx="1942412" cy="340859"/>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033"/>
                </a:solidFill>
                <a:latin typeface="Space Grotesk" pitchFamily="34" charset="0"/>
                <a:ea typeface="Space Grotesk" pitchFamily="34" charset="-122"/>
                <a:cs typeface="Space Grotesk" pitchFamily="34" charset="-120"/>
              </a:rPr>
              <a:t>Recette</a:t>
            </a:r>
            <a:endParaRPr lang="en-US" sz="1800" dirty="0"/>
          </a:p>
        </p:txBody>
      </p:sp>
      <p:sp>
        <p:nvSpPr>
          <p:cNvPr id="15" name="Text 13"/>
          <p:cNvSpPr/>
          <p:nvPr/>
        </p:nvSpPr>
        <p:spPr>
          <a:xfrm>
            <a:off x="3775642" y="2890007"/>
            <a:ext cx="1942412" cy="100677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Inter" pitchFamily="34" charset="0"/>
                <a:ea typeface="Inter" pitchFamily="34" charset="-122"/>
                <a:cs typeface="Inter" pitchFamily="34" charset="-120"/>
              </a:rPr>
              <a:t>Chaque microservice rattaché automatiquement au parent</a:t>
            </a:r>
            <a:endParaRPr lang="en-US" sz="1200" dirty="0"/>
          </a:p>
        </p:txBody>
      </p:sp>
      <p:sp>
        <p:nvSpPr>
          <p:cNvPr id="16" name="Text 14"/>
          <p:cNvSpPr/>
          <p:nvPr/>
        </p:nvSpPr>
        <p:spPr>
          <a:xfrm>
            <a:off x="5971117" y="2819589"/>
            <a:ext cx="300529" cy="393435"/>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3F8F"/>
                </a:solidFill>
                <a:latin typeface="Inter" pitchFamily="34" charset="0"/>
                <a:ea typeface="Inter" pitchFamily="34" charset="-122"/>
                <a:cs typeface="Inter" pitchFamily="34" charset="-120"/>
              </a:rPr>
              <a:t>→</a:t>
            </a:r>
            <a:endParaRPr lang="en-US" sz="1800" dirty="0"/>
          </a:p>
        </p:txBody>
      </p:sp>
      <p:sp>
        <p:nvSpPr>
          <p:cNvPr id="17" name="Shape 15"/>
          <p:cNvSpPr/>
          <p:nvPr/>
        </p:nvSpPr>
        <p:spPr>
          <a:xfrm>
            <a:off x="6325620" y="2053658"/>
            <a:ext cx="2295563" cy="1899897"/>
          </a:xfrm>
          <a:prstGeom prst="roundRect">
            <a:avLst>
              <a:gd name="adj" fmla="val 5181"/>
            </a:avLst>
          </a:prstGeom>
          <a:solidFill>
            <a:srgbClr val="FFFFFF"/>
          </a:solidFill>
          <a:ln w="6350">
            <a:solidFill>
              <a:srgbClr val="DFE4EE"/>
            </a:solidFill>
            <a:prstDash val="solid"/>
          </a:ln>
        </p:spPr>
      </p:sp>
      <p:sp>
        <p:nvSpPr>
          <p:cNvPr id="18" name="Text 16"/>
          <p:cNvSpPr/>
          <p:nvPr/>
        </p:nvSpPr>
        <p:spPr>
          <a:xfrm>
            <a:off x="6530484" y="2258523"/>
            <a:ext cx="1942412"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3F8F"/>
                </a:solidFill>
                <a:latin typeface="JetBrains Mono" pitchFamily="34" charset="0"/>
                <a:ea typeface="JetBrains Mono" pitchFamily="34" charset="-122"/>
                <a:cs typeface="JetBrains Mono" pitchFamily="34" charset="-120"/>
              </a:rPr>
              <a:t>03</a:t>
            </a:r>
            <a:endParaRPr lang="en-US" sz="1400" dirty="0"/>
          </a:p>
        </p:txBody>
      </p:sp>
      <p:sp>
        <p:nvSpPr>
          <p:cNvPr id="19" name="Text 17"/>
          <p:cNvSpPr/>
          <p:nvPr/>
        </p:nvSpPr>
        <p:spPr>
          <a:xfrm>
            <a:off x="6530484" y="2621000"/>
            <a:ext cx="1942412" cy="340859"/>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033"/>
                </a:solidFill>
                <a:latin typeface="Space Grotesk" pitchFamily="34" charset="0"/>
                <a:ea typeface="Space Grotesk" pitchFamily="34" charset="-122"/>
                <a:cs typeface="Space Grotesk" pitchFamily="34" charset="-120"/>
              </a:rPr>
              <a:t>Renovate</a:t>
            </a:r>
            <a:endParaRPr lang="en-US" sz="1800" dirty="0"/>
          </a:p>
        </p:txBody>
      </p:sp>
      <p:sp>
        <p:nvSpPr>
          <p:cNvPr id="20" name="Text 18"/>
          <p:cNvSpPr/>
          <p:nvPr/>
        </p:nvSpPr>
        <p:spPr>
          <a:xfrm>
            <a:off x="6530484" y="3012660"/>
            <a:ext cx="1942412" cy="76143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Inter" pitchFamily="34" charset="0"/>
                <a:ea typeface="Inter" pitchFamily="34" charset="-122"/>
                <a:cs typeface="Inter" pitchFamily="34" charset="-120"/>
              </a:rPr>
              <a:t>Détecte les CVE et crée une branche avec les versions corrigées</a:t>
            </a:r>
            <a:endParaRPr lang="en-US" sz="1200" dirty="0"/>
          </a:p>
        </p:txBody>
      </p:sp>
      <p:sp>
        <p:nvSpPr>
          <p:cNvPr id="21" name="Text 19"/>
          <p:cNvSpPr/>
          <p:nvPr/>
        </p:nvSpPr>
        <p:spPr>
          <a:xfrm>
            <a:off x="8725959" y="2819589"/>
            <a:ext cx="300529" cy="393435"/>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A3F8F"/>
                </a:solidFill>
                <a:latin typeface="Inter" pitchFamily="34" charset="0"/>
                <a:ea typeface="Inter" pitchFamily="34" charset="-122"/>
                <a:cs typeface="Inter" pitchFamily="34" charset="-120"/>
              </a:rPr>
              <a:t>→</a:t>
            </a:r>
            <a:endParaRPr lang="en-US" sz="1800" dirty="0"/>
          </a:p>
        </p:txBody>
      </p:sp>
      <p:sp>
        <p:nvSpPr>
          <p:cNvPr id="22" name="Shape 20"/>
          <p:cNvSpPr/>
          <p:nvPr/>
        </p:nvSpPr>
        <p:spPr>
          <a:xfrm>
            <a:off x="9080462" y="2053658"/>
            <a:ext cx="2295563" cy="1899897"/>
          </a:xfrm>
          <a:prstGeom prst="roundRect">
            <a:avLst>
              <a:gd name="adj" fmla="val 5181"/>
            </a:avLst>
          </a:prstGeom>
          <a:solidFill>
            <a:srgbClr val="1A3F8F"/>
          </a:solidFill>
          <a:ln w="6350">
            <a:solidFill>
              <a:srgbClr val="1A3F8F"/>
            </a:solidFill>
            <a:prstDash val="solid"/>
          </a:ln>
        </p:spPr>
      </p:sp>
      <p:sp>
        <p:nvSpPr>
          <p:cNvPr id="23" name="Text 21"/>
          <p:cNvSpPr/>
          <p:nvPr/>
        </p:nvSpPr>
        <p:spPr>
          <a:xfrm>
            <a:off x="9285325" y="2258523"/>
            <a:ext cx="1942412"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JetBrains Mono" pitchFamily="34" charset="0"/>
                <a:ea typeface="JetBrains Mono" pitchFamily="34" charset="-122"/>
                <a:cs typeface="JetBrains Mono" pitchFamily="34" charset="-120"/>
              </a:rPr>
              <a:t>04</a:t>
            </a:r>
            <a:endParaRPr lang="en-US" sz="1400" dirty="0"/>
          </a:p>
        </p:txBody>
      </p:sp>
      <p:sp>
        <p:nvSpPr>
          <p:cNvPr id="24" name="Text 22"/>
          <p:cNvSpPr/>
          <p:nvPr/>
        </p:nvSpPr>
        <p:spPr>
          <a:xfrm>
            <a:off x="9285325" y="2621000"/>
            <a:ext cx="1942412" cy="340859"/>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Space Grotesk" pitchFamily="34" charset="0"/>
                <a:ea typeface="Space Grotesk" pitchFamily="34" charset="-122"/>
                <a:cs typeface="Space Grotesk" pitchFamily="34" charset="-120"/>
              </a:rPr>
              <a:t>Validation</a:t>
            </a:r>
            <a:endParaRPr lang="en-US" sz="1800" dirty="0"/>
          </a:p>
        </p:txBody>
      </p:sp>
      <p:sp>
        <p:nvSpPr>
          <p:cNvPr id="25" name="Text 23"/>
          <p:cNvSpPr/>
          <p:nvPr/>
        </p:nvSpPr>
        <p:spPr>
          <a:xfrm>
            <a:off x="9285325" y="3012660"/>
            <a:ext cx="1942412" cy="76143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Le développeur relit et fusionne : tout le parc est corrigé</a:t>
            </a:r>
            <a:endParaRPr lang="en-US" sz="1200" dirty="0"/>
          </a:p>
        </p:txBody>
      </p:sp>
      <p:sp>
        <p:nvSpPr>
          <p:cNvPr id="26" name="Shape 24"/>
          <p:cNvSpPr/>
          <p:nvPr/>
        </p:nvSpPr>
        <p:spPr>
          <a:xfrm>
            <a:off x="812800" y="4333422"/>
            <a:ext cx="5181600" cy="1173503"/>
          </a:xfrm>
          <a:prstGeom prst="roundRect">
            <a:avLst>
              <a:gd name="adj" fmla="val 6493"/>
            </a:avLst>
          </a:prstGeom>
          <a:solidFill>
            <a:srgbClr val="FFFFFF"/>
          </a:solidFill>
          <a:ln/>
        </p:spPr>
      </p:sp>
      <p:sp>
        <p:nvSpPr>
          <p:cNvPr id="27" name="Shape 25"/>
          <p:cNvSpPr/>
          <p:nvPr/>
        </p:nvSpPr>
        <p:spPr>
          <a:xfrm>
            <a:off x="825500" y="4333422"/>
            <a:ext cx="0" cy="1173503"/>
          </a:xfrm>
          <a:prstGeom prst="line">
            <a:avLst/>
          </a:prstGeom>
          <a:noFill/>
          <a:ln w="25400">
            <a:solidFill>
              <a:srgbClr val="C2461F"/>
            </a:solidFill>
            <a:prstDash val="solid"/>
          </a:ln>
        </p:spPr>
      </p:sp>
      <p:sp>
        <p:nvSpPr>
          <p:cNvPr id="28" name="Text 26"/>
          <p:cNvSpPr/>
          <p:nvPr/>
        </p:nvSpPr>
        <p:spPr>
          <a:xfrm>
            <a:off x="1040190" y="4485822"/>
            <a:ext cx="489354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61F"/>
                </a:solidFill>
                <a:latin typeface="JetBrains Mono" pitchFamily="34" charset="0"/>
                <a:ea typeface="JetBrains Mono" pitchFamily="34" charset="-122"/>
                <a:cs typeface="JetBrains Mono" pitchFamily="34" charset="-120"/>
              </a:rPr>
              <a:t>Avant</a:t>
            </a:r>
            <a:endParaRPr lang="en-US" sz="1200" dirty="0"/>
          </a:p>
        </p:txBody>
      </p:sp>
      <p:sp>
        <p:nvSpPr>
          <p:cNvPr id="29" name="Text 27"/>
          <p:cNvSpPr/>
          <p:nvPr/>
        </p:nvSpPr>
        <p:spPr>
          <a:xfrm>
            <a:off x="1040190" y="4781965"/>
            <a:ext cx="4893540" cy="59795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033"/>
                </a:solidFill>
                <a:latin typeface="Inter" pitchFamily="34" charset="0"/>
                <a:ea typeface="Inter" pitchFamily="34" charset="-122"/>
                <a:cs typeface="Inter" pitchFamily="34" charset="-120"/>
              </a:rPr>
              <a:t>Une correction par microservice, [X] projets à modifier</a:t>
            </a:r>
            <a:endParaRPr lang="en-US" sz="1400" dirty="0"/>
          </a:p>
        </p:txBody>
      </p:sp>
      <p:sp>
        <p:nvSpPr>
          <p:cNvPr id="30" name="Shape 28"/>
          <p:cNvSpPr/>
          <p:nvPr/>
        </p:nvSpPr>
        <p:spPr>
          <a:xfrm>
            <a:off x="6197600" y="4333422"/>
            <a:ext cx="5181600" cy="1173503"/>
          </a:xfrm>
          <a:prstGeom prst="roundRect">
            <a:avLst>
              <a:gd name="adj" fmla="val 6493"/>
            </a:avLst>
          </a:prstGeom>
          <a:solidFill>
            <a:srgbClr val="FFFFFF"/>
          </a:solidFill>
          <a:ln/>
        </p:spPr>
      </p:sp>
      <p:sp>
        <p:nvSpPr>
          <p:cNvPr id="31" name="Shape 29"/>
          <p:cNvSpPr/>
          <p:nvPr/>
        </p:nvSpPr>
        <p:spPr>
          <a:xfrm>
            <a:off x="6210300" y="4333422"/>
            <a:ext cx="0" cy="1173503"/>
          </a:xfrm>
          <a:prstGeom prst="line">
            <a:avLst/>
          </a:prstGeom>
          <a:noFill/>
          <a:ln w="25400">
            <a:solidFill>
              <a:srgbClr val="0F8A60"/>
            </a:solidFill>
            <a:prstDash val="solid"/>
          </a:ln>
        </p:spPr>
      </p:sp>
      <p:sp>
        <p:nvSpPr>
          <p:cNvPr id="32" name="Text 30"/>
          <p:cNvSpPr/>
          <p:nvPr/>
        </p:nvSpPr>
        <p:spPr>
          <a:xfrm>
            <a:off x="6424991" y="4485822"/>
            <a:ext cx="4893540"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8A60"/>
                </a:solidFill>
                <a:latin typeface="JetBrains Mono" pitchFamily="34" charset="0"/>
                <a:ea typeface="JetBrains Mono" pitchFamily="34" charset="-122"/>
                <a:cs typeface="JetBrains Mono" pitchFamily="34" charset="-120"/>
              </a:rPr>
              <a:t>Maintenant</a:t>
            </a:r>
            <a:endParaRPr lang="en-US" sz="1200" dirty="0"/>
          </a:p>
        </p:txBody>
      </p:sp>
      <p:sp>
        <p:nvSpPr>
          <p:cNvPr id="33" name="Text 31"/>
          <p:cNvSpPr/>
          <p:nvPr/>
        </p:nvSpPr>
        <p:spPr>
          <a:xfrm>
            <a:off x="6424991" y="4781965"/>
            <a:ext cx="4893540"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52033"/>
                </a:solidFill>
                <a:latin typeface="Inter" pitchFamily="34" charset="0"/>
                <a:ea typeface="Inter" pitchFamily="34" charset="-122"/>
                <a:cs typeface="Inter" pitchFamily="34" charset="-120"/>
              </a:rPr>
              <a:t>Une seule correction, sur le parent POM</a:t>
            </a:r>
            <a:endParaRPr lang="en-US" sz="1400" dirty="0"/>
          </a:p>
        </p:txBody>
      </p:sp>
      <p:sp>
        <p:nvSpPr>
          <p:cNvPr id="34" name="Shape 32"/>
          <p:cNvSpPr/>
          <p:nvPr/>
        </p:nvSpPr>
        <p:spPr>
          <a:xfrm>
            <a:off x="812800" y="6278110"/>
            <a:ext cx="101600" cy="101600"/>
          </a:xfrm>
          <a:prstGeom prst="rect">
            <a:avLst/>
          </a:prstGeom>
          <a:solidFill>
            <a:srgbClr val="FFCC00"/>
          </a:solidFill>
          <a:ln/>
        </p:spPr>
      </p:sp>
      <p:sp>
        <p:nvSpPr>
          <p:cNvPr id="35" name="Text 33"/>
          <p:cNvSpPr/>
          <p:nvPr/>
        </p:nvSpPr>
        <p:spPr>
          <a:xfrm>
            <a:off x="990600" y="6206257"/>
            <a:ext cx="2166229"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JetBrains Mono" pitchFamily="34" charset="0"/>
                <a:ea typeface="JetBrains Mono" pitchFamily="34" charset="-122"/>
                <a:cs typeface="JetBrains Mono" pitchFamily="34" charset="-120"/>
              </a:rPr>
              <a:t>LCL · Paiements SEPA</a:t>
            </a:r>
            <a:endParaRPr lang="en-US" sz="1200" dirty="0"/>
          </a:p>
        </p:txBody>
      </p:sp>
      <p:sp>
        <p:nvSpPr>
          <p:cNvPr id="36" name="Text 34"/>
          <p:cNvSpPr/>
          <p:nvPr/>
        </p:nvSpPr>
        <p:spPr>
          <a:xfrm>
            <a:off x="10643091" y="6206257"/>
            <a:ext cx="786909"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JetBrains Mono" pitchFamily="34" charset="0"/>
                <a:ea typeface="JetBrains Mono" pitchFamily="34" charset="-122"/>
                <a:cs typeface="JetBrains Mono" pitchFamily="34" charset="-120"/>
              </a:rPr>
              <a:t>07 / 08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2000" cy="88900"/>
          </a:xfrm>
          <a:prstGeom prst="rect">
            <a:avLst/>
          </a:prstGeom>
          <a:solidFill>
            <a:srgbClr val="10296B"/>
          </a:solidFill>
          <a:ln/>
        </p:spPr>
      </p:sp>
      <p:sp>
        <p:nvSpPr>
          <p:cNvPr id="3" name="Shape 1"/>
          <p:cNvSpPr/>
          <p:nvPr/>
        </p:nvSpPr>
        <p:spPr>
          <a:xfrm>
            <a:off x="812800" y="0"/>
            <a:ext cx="1016000" cy="88900"/>
          </a:xfrm>
          <a:prstGeom prst="rect">
            <a:avLst/>
          </a:prstGeom>
          <a:solidFill>
            <a:srgbClr val="FFCC00"/>
          </a:solidFill>
          <a:ln/>
        </p:spPr>
      </p:sp>
      <p:sp>
        <p:nvSpPr>
          <p:cNvPr id="4" name="Shape 2"/>
          <p:cNvSpPr/>
          <p:nvPr/>
        </p:nvSpPr>
        <p:spPr>
          <a:xfrm>
            <a:off x="812800" y="916403"/>
            <a:ext cx="254000" cy="38100"/>
          </a:xfrm>
          <a:prstGeom prst="roundRect">
            <a:avLst>
              <a:gd name="adj" fmla="val 50000"/>
            </a:avLst>
          </a:prstGeom>
          <a:solidFill>
            <a:srgbClr val="FFCC00"/>
          </a:solidFill>
          <a:ln/>
        </p:spPr>
      </p:sp>
      <p:sp>
        <p:nvSpPr>
          <p:cNvPr id="5" name="Text 3"/>
          <p:cNvSpPr/>
          <p:nvPr/>
        </p:nvSpPr>
        <p:spPr>
          <a:xfrm>
            <a:off x="1168400" y="812800"/>
            <a:ext cx="576603"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8A60"/>
                </a:solidFill>
                <a:latin typeface="JetBrains Mono" pitchFamily="34" charset="0"/>
                <a:ea typeface="JetBrains Mono" pitchFamily="34" charset="-122"/>
                <a:cs typeface="JetBrains Mono" pitchFamily="34" charset="-120"/>
              </a:rPr>
              <a:t>Bilan</a:t>
            </a:r>
            <a:endParaRPr lang="en-US" sz="1200" dirty="0"/>
          </a:p>
        </p:txBody>
      </p:sp>
      <p:sp>
        <p:nvSpPr>
          <p:cNvPr id="6" name="Text 4"/>
          <p:cNvSpPr/>
          <p:nvPr/>
        </p:nvSpPr>
        <p:spPr>
          <a:xfrm>
            <a:off x="812800" y="1159746"/>
            <a:ext cx="10883392" cy="539485"/>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0296B"/>
                </a:solidFill>
                <a:latin typeface="Space Grotesk" pitchFamily="34" charset="0"/>
                <a:ea typeface="Space Grotesk" pitchFamily="34" charset="-122"/>
                <a:cs typeface="Space Grotesk" pitchFamily="34" charset="-120"/>
              </a:rPr>
              <a:t>Trois irritants, trois réponses automatisées</a:t>
            </a:r>
            <a:endParaRPr lang="en-US" sz="3200" dirty="0"/>
          </a:p>
        </p:txBody>
      </p:sp>
      <p:sp>
        <p:nvSpPr>
          <p:cNvPr id="7" name="Shape 5"/>
          <p:cNvSpPr/>
          <p:nvPr/>
        </p:nvSpPr>
        <p:spPr>
          <a:xfrm>
            <a:off x="815975" y="1931005"/>
            <a:ext cx="3380317" cy="2256593"/>
          </a:xfrm>
          <a:prstGeom prst="roundRect">
            <a:avLst>
              <a:gd name="adj" fmla="val 4362"/>
            </a:avLst>
          </a:prstGeom>
          <a:solidFill>
            <a:srgbClr val="FFFFFF"/>
          </a:solidFill>
          <a:ln w="6350">
            <a:solidFill>
              <a:srgbClr val="DFE4EE"/>
            </a:solidFill>
            <a:prstDash val="solid"/>
          </a:ln>
        </p:spPr>
      </p:sp>
      <p:sp>
        <p:nvSpPr>
          <p:cNvPr id="8" name="Text 6"/>
          <p:cNvSpPr/>
          <p:nvPr/>
        </p:nvSpPr>
        <p:spPr>
          <a:xfrm>
            <a:off x="1020838" y="2135870"/>
            <a:ext cx="3059708"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61F"/>
                </a:solidFill>
                <a:latin typeface="JetBrains Mono" pitchFamily="34" charset="0"/>
                <a:ea typeface="JetBrains Mono" pitchFamily="34" charset="-122"/>
                <a:cs typeface="JetBrains Mono" pitchFamily="34" charset="-120"/>
              </a:rPr>
              <a:t>Migrations difficiles</a:t>
            </a:r>
            <a:endParaRPr lang="en-US" sz="1200" dirty="0"/>
          </a:p>
        </p:txBody>
      </p:sp>
      <p:sp>
        <p:nvSpPr>
          <p:cNvPr id="9" name="Text 7"/>
          <p:cNvSpPr/>
          <p:nvPr/>
        </p:nvSpPr>
        <p:spPr>
          <a:xfrm>
            <a:off x="1020838" y="2457413"/>
            <a:ext cx="3059708"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8A60"/>
                </a:solidFill>
                <a:latin typeface="Space Grotesk" pitchFamily="34" charset="0"/>
                <a:ea typeface="Space Grotesk" pitchFamily="34" charset="-122"/>
                <a:cs typeface="Space Grotesk" pitchFamily="34" charset="-120"/>
              </a:rPr>
              <a:t>✓ Java Migration Tool</a:t>
            </a:r>
            <a:endParaRPr lang="en-US" sz="1400" dirty="0"/>
          </a:p>
        </p:txBody>
      </p:sp>
      <p:sp>
        <p:nvSpPr>
          <p:cNvPr id="10" name="Text 8"/>
          <p:cNvSpPr/>
          <p:nvPr/>
        </p:nvSpPr>
        <p:spPr>
          <a:xfrm>
            <a:off x="1020838" y="2819893"/>
            <a:ext cx="3059708" cy="539485"/>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52033"/>
                </a:solidFill>
                <a:latin typeface="Space Grotesk" pitchFamily="34" charset="0"/>
                <a:ea typeface="Space Grotesk" pitchFamily="34" charset="-122"/>
                <a:cs typeface="Space Grotesk" pitchFamily="34" charset="-120"/>
              </a:rPr>
              <a:t>[X j] → [X h]</a:t>
            </a:r>
            <a:endParaRPr lang="en-US" sz="3200" dirty="0"/>
          </a:p>
        </p:txBody>
      </p:sp>
      <p:sp>
        <p:nvSpPr>
          <p:cNvPr id="11" name="Text 9"/>
          <p:cNvSpPr/>
          <p:nvPr/>
        </p:nvSpPr>
        <p:spPr>
          <a:xfrm>
            <a:off x="1020838" y="3410176"/>
            <a:ext cx="3059708"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478"/>
                </a:solidFill>
                <a:latin typeface="Inter" pitchFamily="34" charset="0"/>
                <a:ea typeface="Inter" pitchFamily="34" charset="-122"/>
                <a:cs typeface="Inter" pitchFamily="34" charset="-120"/>
              </a:rPr>
              <a:t>par migration de service</a:t>
            </a:r>
            <a:endParaRPr lang="en-US" sz="1400" dirty="0"/>
          </a:p>
        </p:txBody>
      </p:sp>
      <p:sp>
        <p:nvSpPr>
          <p:cNvPr id="12" name="Shape 10"/>
          <p:cNvSpPr/>
          <p:nvPr/>
        </p:nvSpPr>
        <p:spPr>
          <a:xfrm>
            <a:off x="4405842" y="1931005"/>
            <a:ext cx="3380317" cy="2256593"/>
          </a:xfrm>
          <a:prstGeom prst="roundRect">
            <a:avLst>
              <a:gd name="adj" fmla="val 4362"/>
            </a:avLst>
          </a:prstGeom>
          <a:solidFill>
            <a:srgbClr val="FFFFFF"/>
          </a:solidFill>
          <a:ln w="6350">
            <a:solidFill>
              <a:srgbClr val="DFE4EE"/>
            </a:solidFill>
            <a:prstDash val="solid"/>
          </a:ln>
        </p:spPr>
      </p:sp>
      <p:sp>
        <p:nvSpPr>
          <p:cNvPr id="13" name="Text 11"/>
          <p:cNvSpPr/>
          <p:nvPr/>
        </p:nvSpPr>
        <p:spPr>
          <a:xfrm>
            <a:off x="4610705" y="2135870"/>
            <a:ext cx="3059708"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61F"/>
                </a:solidFill>
                <a:latin typeface="JetBrains Mono" pitchFamily="34" charset="0"/>
                <a:ea typeface="JetBrains Mono" pitchFamily="34" charset="-122"/>
                <a:cs typeface="JetBrains Mono" pitchFamily="34" charset="-120"/>
              </a:rPr>
              <a:t>Logs non standardisés</a:t>
            </a:r>
            <a:endParaRPr lang="en-US" sz="1200" dirty="0"/>
          </a:p>
        </p:txBody>
      </p:sp>
      <p:sp>
        <p:nvSpPr>
          <p:cNvPr id="14" name="Text 12"/>
          <p:cNvSpPr/>
          <p:nvPr/>
        </p:nvSpPr>
        <p:spPr>
          <a:xfrm>
            <a:off x="4610705" y="2457413"/>
            <a:ext cx="3059708"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8A60"/>
                </a:solidFill>
                <a:latin typeface="Space Grotesk" pitchFamily="34" charset="0"/>
                <a:ea typeface="Space Grotesk" pitchFamily="34" charset="-122"/>
                <a:cs typeface="Space Grotesk" pitchFamily="34" charset="-120"/>
              </a:rPr>
              <a:t>✓ afx-logging-starter</a:t>
            </a:r>
            <a:endParaRPr lang="en-US" sz="1400" dirty="0"/>
          </a:p>
        </p:txBody>
      </p:sp>
      <p:sp>
        <p:nvSpPr>
          <p:cNvPr id="15" name="Text 13"/>
          <p:cNvSpPr/>
          <p:nvPr/>
        </p:nvSpPr>
        <p:spPr>
          <a:xfrm>
            <a:off x="4610705" y="2819893"/>
            <a:ext cx="3059708" cy="539485"/>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52033"/>
                </a:solidFill>
                <a:latin typeface="Space Grotesk" pitchFamily="34" charset="0"/>
                <a:ea typeface="Space Grotesk" pitchFamily="34" charset="-122"/>
                <a:cs typeface="Space Grotesk" pitchFamily="34" charset="-120"/>
              </a:rPr>
              <a:t>[X] services</a:t>
            </a:r>
            <a:endParaRPr lang="en-US" sz="3200" dirty="0"/>
          </a:p>
        </p:txBody>
      </p:sp>
      <p:sp>
        <p:nvSpPr>
          <p:cNvPr id="16" name="Text 14"/>
          <p:cNvSpPr/>
          <p:nvPr/>
        </p:nvSpPr>
        <p:spPr>
          <a:xfrm>
            <a:off x="4610705" y="3410176"/>
            <a:ext cx="3059708" cy="59795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478"/>
                </a:solidFill>
                <a:latin typeface="Inter" pitchFamily="34" charset="0"/>
                <a:ea typeface="Inter" pitchFamily="34" charset="-122"/>
                <a:cs typeface="Inter" pitchFamily="34" charset="-120"/>
              </a:rPr>
              <a:t>avec des logs standard et masqués</a:t>
            </a:r>
            <a:endParaRPr lang="en-US" sz="1400" dirty="0"/>
          </a:p>
        </p:txBody>
      </p:sp>
      <p:sp>
        <p:nvSpPr>
          <p:cNvPr id="17" name="Shape 15"/>
          <p:cNvSpPr/>
          <p:nvPr/>
        </p:nvSpPr>
        <p:spPr>
          <a:xfrm>
            <a:off x="7995709" y="1931005"/>
            <a:ext cx="3380317" cy="2256593"/>
          </a:xfrm>
          <a:prstGeom prst="roundRect">
            <a:avLst>
              <a:gd name="adj" fmla="val 4362"/>
            </a:avLst>
          </a:prstGeom>
          <a:solidFill>
            <a:srgbClr val="FFFFFF"/>
          </a:solidFill>
          <a:ln w="6350">
            <a:solidFill>
              <a:srgbClr val="DFE4EE"/>
            </a:solidFill>
            <a:prstDash val="solid"/>
          </a:ln>
        </p:spPr>
      </p:sp>
      <p:sp>
        <p:nvSpPr>
          <p:cNvPr id="18" name="Text 16"/>
          <p:cNvSpPr/>
          <p:nvPr/>
        </p:nvSpPr>
        <p:spPr>
          <a:xfrm>
            <a:off x="8200572" y="2135870"/>
            <a:ext cx="3059708"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61F"/>
                </a:solidFill>
                <a:latin typeface="JetBrains Mono" pitchFamily="34" charset="0"/>
                <a:ea typeface="JetBrains Mono" pitchFamily="34" charset="-122"/>
                <a:cs typeface="JetBrains Mono" pitchFamily="34" charset="-120"/>
              </a:rPr>
              <a:t>CVE longues à corriger</a:t>
            </a:r>
            <a:endParaRPr lang="en-US" sz="1200" dirty="0"/>
          </a:p>
        </p:txBody>
      </p:sp>
      <p:sp>
        <p:nvSpPr>
          <p:cNvPr id="19" name="Text 17"/>
          <p:cNvSpPr/>
          <p:nvPr/>
        </p:nvSpPr>
        <p:spPr>
          <a:xfrm>
            <a:off x="8200572" y="2457413"/>
            <a:ext cx="3059708"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8A60"/>
                </a:solidFill>
                <a:latin typeface="Space Grotesk" pitchFamily="34" charset="0"/>
                <a:ea typeface="Space Grotesk" pitchFamily="34" charset="-122"/>
                <a:cs typeface="Space Grotesk" pitchFamily="34" charset="-120"/>
              </a:rPr>
              <a:t>✓ Parent POM + Renovate</a:t>
            </a:r>
            <a:endParaRPr lang="en-US" sz="1400" dirty="0"/>
          </a:p>
        </p:txBody>
      </p:sp>
      <p:sp>
        <p:nvSpPr>
          <p:cNvPr id="20" name="Text 18"/>
          <p:cNvSpPr/>
          <p:nvPr/>
        </p:nvSpPr>
        <p:spPr>
          <a:xfrm>
            <a:off x="8200572" y="2819893"/>
            <a:ext cx="3059708" cy="539485"/>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52033"/>
                </a:solidFill>
                <a:latin typeface="Space Grotesk" pitchFamily="34" charset="0"/>
                <a:ea typeface="Space Grotesk" pitchFamily="34" charset="-122"/>
                <a:cs typeface="Space Grotesk" pitchFamily="34" charset="-120"/>
              </a:rPr>
              <a:t>1 correction</a:t>
            </a:r>
            <a:endParaRPr lang="en-US" sz="3200" dirty="0"/>
          </a:p>
        </p:txBody>
      </p:sp>
      <p:sp>
        <p:nvSpPr>
          <p:cNvPr id="21" name="Text 19"/>
          <p:cNvSpPr/>
          <p:nvPr/>
        </p:nvSpPr>
        <p:spPr>
          <a:xfrm>
            <a:off x="8200572" y="3410176"/>
            <a:ext cx="3059708"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478"/>
                </a:solidFill>
                <a:latin typeface="Inter" pitchFamily="34" charset="0"/>
                <a:ea typeface="Inter" pitchFamily="34" charset="-122"/>
                <a:cs typeface="Inter" pitchFamily="34" charset="-120"/>
              </a:rPr>
              <a:t>pour tout le parc</a:t>
            </a:r>
            <a:endParaRPr lang="en-US" sz="1400" dirty="0"/>
          </a:p>
        </p:txBody>
      </p:sp>
      <p:sp>
        <p:nvSpPr>
          <p:cNvPr id="22" name="Text 20"/>
          <p:cNvSpPr/>
          <p:nvPr/>
        </p:nvSpPr>
        <p:spPr>
          <a:xfrm>
            <a:off x="812800" y="4444777"/>
            <a:ext cx="10883392"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JetBrains Mono" pitchFamily="34" charset="0"/>
                <a:ea typeface="JetBrains Mono" pitchFamily="34" charset="-122"/>
                <a:cs typeface="JetBrains Mono" pitchFamily="34" charset="-120"/>
              </a:rPr>
              <a:t>Prochaines étapes</a:t>
            </a:r>
            <a:endParaRPr lang="en-US" sz="1200" dirty="0"/>
          </a:p>
        </p:txBody>
      </p:sp>
      <p:sp>
        <p:nvSpPr>
          <p:cNvPr id="23" name="Shape 21"/>
          <p:cNvSpPr/>
          <p:nvPr/>
        </p:nvSpPr>
        <p:spPr>
          <a:xfrm>
            <a:off x="815975" y="4794895"/>
            <a:ext cx="3414183" cy="829885"/>
          </a:xfrm>
          <a:prstGeom prst="roundRect">
            <a:avLst>
              <a:gd name="adj" fmla="val 8799"/>
            </a:avLst>
          </a:prstGeom>
          <a:noFill/>
          <a:ln w="6350">
            <a:solidFill>
              <a:srgbClr val="DFE4EE"/>
            </a:solidFill>
            <a:prstDash val="solid"/>
          </a:ln>
        </p:spPr>
      </p:sp>
      <p:sp>
        <p:nvSpPr>
          <p:cNvPr id="24" name="Text 22"/>
          <p:cNvSpPr/>
          <p:nvPr/>
        </p:nvSpPr>
        <p:spPr>
          <a:xfrm>
            <a:off x="970038" y="4923557"/>
            <a:ext cx="3199239" cy="59795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033"/>
                </a:solidFill>
                <a:latin typeface="Inter" pitchFamily="34" charset="0"/>
                <a:ea typeface="Inter" pitchFamily="34" charset="-122"/>
                <a:cs typeface="Inter" pitchFamily="34" charset="-120"/>
              </a:rPr>
              <a:t>Planifier la vague Spring Boot 4 sur le parc</a:t>
            </a:r>
            <a:endParaRPr lang="en-US" sz="1400" dirty="0"/>
          </a:p>
        </p:txBody>
      </p:sp>
      <p:sp>
        <p:nvSpPr>
          <p:cNvPr id="25" name="Shape 23"/>
          <p:cNvSpPr/>
          <p:nvPr/>
        </p:nvSpPr>
        <p:spPr>
          <a:xfrm>
            <a:off x="4388908" y="4794895"/>
            <a:ext cx="3414183" cy="829885"/>
          </a:xfrm>
          <a:prstGeom prst="roundRect">
            <a:avLst>
              <a:gd name="adj" fmla="val 8799"/>
            </a:avLst>
          </a:prstGeom>
          <a:noFill/>
          <a:ln w="6350">
            <a:solidFill>
              <a:srgbClr val="DFE4EE"/>
            </a:solidFill>
            <a:prstDash val="solid"/>
          </a:ln>
        </p:spPr>
      </p:sp>
      <p:sp>
        <p:nvSpPr>
          <p:cNvPr id="26" name="Text 24"/>
          <p:cNvSpPr/>
          <p:nvPr/>
        </p:nvSpPr>
        <p:spPr>
          <a:xfrm>
            <a:off x="4542972" y="4923557"/>
            <a:ext cx="3199239" cy="59795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033"/>
                </a:solidFill>
                <a:latin typeface="Inter" pitchFamily="34" charset="0"/>
                <a:ea typeface="Inter" pitchFamily="34" charset="-122"/>
                <a:cs typeface="Inter" pitchFamily="34" charset="-120"/>
              </a:rPr>
              <a:t>Ouvrir les outils aux autres domaines de LCL</a:t>
            </a:r>
            <a:endParaRPr lang="en-US" sz="1400" dirty="0"/>
          </a:p>
        </p:txBody>
      </p:sp>
      <p:sp>
        <p:nvSpPr>
          <p:cNvPr id="27" name="Shape 25"/>
          <p:cNvSpPr/>
          <p:nvPr/>
        </p:nvSpPr>
        <p:spPr>
          <a:xfrm>
            <a:off x="7961842" y="4794895"/>
            <a:ext cx="3414183" cy="829885"/>
          </a:xfrm>
          <a:prstGeom prst="roundRect">
            <a:avLst>
              <a:gd name="adj" fmla="val 8799"/>
            </a:avLst>
          </a:prstGeom>
          <a:noFill/>
          <a:ln w="6350">
            <a:solidFill>
              <a:srgbClr val="1A3F8F"/>
            </a:solidFill>
            <a:prstDash val="solid"/>
          </a:ln>
        </p:spPr>
      </p:sp>
      <p:sp>
        <p:nvSpPr>
          <p:cNvPr id="28" name="Text 26"/>
          <p:cNvSpPr/>
          <p:nvPr/>
        </p:nvSpPr>
        <p:spPr>
          <a:xfrm>
            <a:off x="8115905" y="4923557"/>
            <a:ext cx="3199239" cy="59795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3F8F"/>
                </a:solidFill>
                <a:latin typeface="Inter" pitchFamily="34" charset="0"/>
                <a:ea typeface="Inter" pitchFamily="34" charset="-122"/>
                <a:cs typeface="Inter" pitchFamily="34" charset="-120"/>
              </a:rPr>
              <a:t>[Ma demande : équipe pilote, temps ou sponsor]</a:t>
            </a:r>
            <a:endParaRPr lang="en-US" sz="1400" dirty="0"/>
          </a:p>
        </p:txBody>
      </p:sp>
      <p:sp>
        <p:nvSpPr>
          <p:cNvPr id="29" name="Shape 27"/>
          <p:cNvSpPr/>
          <p:nvPr/>
        </p:nvSpPr>
        <p:spPr>
          <a:xfrm>
            <a:off x="812800" y="6278110"/>
            <a:ext cx="101600" cy="101600"/>
          </a:xfrm>
          <a:prstGeom prst="rect">
            <a:avLst/>
          </a:prstGeom>
          <a:solidFill>
            <a:srgbClr val="FFCC00"/>
          </a:solidFill>
          <a:ln/>
        </p:spPr>
      </p:sp>
      <p:sp>
        <p:nvSpPr>
          <p:cNvPr id="30" name="Text 28"/>
          <p:cNvSpPr/>
          <p:nvPr/>
        </p:nvSpPr>
        <p:spPr>
          <a:xfrm>
            <a:off x="990600" y="6206257"/>
            <a:ext cx="2166229"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JetBrains Mono" pitchFamily="34" charset="0"/>
                <a:ea typeface="JetBrains Mono" pitchFamily="34" charset="-122"/>
                <a:cs typeface="JetBrains Mono" pitchFamily="34" charset="-120"/>
              </a:rPr>
              <a:t>LCL · Paiements SEPA</a:t>
            </a:r>
            <a:endParaRPr lang="en-US" sz="1200" dirty="0"/>
          </a:p>
        </p:txBody>
      </p:sp>
      <p:sp>
        <p:nvSpPr>
          <p:cNvPr id="31" name="Text 29"/>
          <p:cNvSpPr/>
          <p:nvPr/>
        </p:nvSpPr>
        <p:spPr>
          <a:xfrm>
            <a:off x="10643091" y="6206257"/>
            <a:ext cx="786909" cy="27074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8"/>
                </a:solidFill>
                <a:latin typeface="JetBrains Mono" pitchFamily="34" charset="0"/>
                <a:ea typeface="JetBrains Mono" pitchFamily="34" charset="-122"/>
                <a:cs typeface="JetBrains Mono" pitchFamily="34" charset="-120"/>
              </a:rPr>
              <a:t>08 / 08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Moderniser le parc SEPA, automatiquement</dc:title>
  <dc:subject>PptxGenJS Presentation</dc:subject>
  <dc:creator>PptxGenJS</dc:creator>
  <cp:lastModifiedBy>PptxGenJS</cp:lastModifiedBy>
  <cp:revision>1</cp:revision>
  <dcterms:created xsi:type="dcterms:W3CDTF">2026-09-22T14:46:09Z</dcterms:created>
  <dcterms:modified xsi:type="dcterms:W3CDTF">2026-09-22T14:46:09Z</dcterms:modified>
</cp:coreProperties>
</file>