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d'ouverture. Poser le sujet en 15 secondes.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Poser le décor factuellement. Insister sur « rigueur bancaire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Slide-clé. 90 secondes. Trois points : source maîtresse, prompt = savoir-faire, livrable durable.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qui distingue la méthode d'un simple usage naïf de ChatGPT.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référence sur la structure. 60 secondes. Nommer les 6 blocs. Insister sur blocs 4 (fidélité) et 5 (structure) : les plus discriminants. Un prompt qui saute ces deux blocs produit un texte fluide mais non exploitable. Enchaîner sur la slide suivante avec un exemple complet.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« preuve ». Ne pas lire le prompt à voix haute. Inviter la salle à le regarder pendant que tu commentes les 5 annotations à droite. Message clé : ce prompt est réutilisable pour n'importe quel autre Redpaper — seule la ligne URL change. C'est ça, un actif transférable.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Chiffres à ajuster selon retour d'expérience réel.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Ancrer dans le concret : parcours en cours. Sources publiques et gratuites.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indispensable en banque. Anticipation des risques.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ROI collectif. Onboarding = pain point classique des DSI bancaires.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clôture. 3 secondes de silence puis invitation à l'échange.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8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73152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3774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Méthode d'apprentissage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154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augmentée par IA générative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Montée en compétence sur stack hybride Java / CICS-COBOL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852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— Domaine Paiements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interne —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36576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CONTEXTE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stack hybride, un volume documentaire massif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73152" cy="22860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86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hybride en modernisation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7860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moderne côté nouveaux services, CICS/COBOL sur le cœur de paiement. Intégration croissante via CTG.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73152" cy="22860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520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documentaire IBM énorme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81304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Redbooks de 200 à 500 pages, formations IBM Training, documentation officielle CICS TS et z/OS.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800600"/>
            <a:ext cx="73152" cy="22860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formation coûteux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04748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linéaire, faible rétention, formations payantes à plusieurs milliers d'euros.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65176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monter en compétence rapidement</a:t>
            </a:r>
            <a:endParaRPr lang="en-US" sz="2200" dirty="0"/>
          </a:p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 cette stack sans sacrifier la profondeur</a:t>
            </a:r>
            <a:endParaRPr lang="en-US" sz="2200" dirty="0"/>
          </a:p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nécessaire au rôle d'architecte ?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675120" y="4846320"/>
            <a:ext cx="457200" cy="54864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5029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: structurer l'assimilation via l'IA générative,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conservant la rigueur bancaire.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629400"/>
            <a:ext cx="12161520" cy="18288"/>
          </a:xfrm>
          <a:prstGeom prst="rect">
            <a:avLst/>
          </a:prstGeom>
          <a:solidFill>
            <a:srgbClr val="E5E8EC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6656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— Paiements  •  Méthode d'apprentissage augmentée par IA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47120" y="66568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36576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MÉTHODE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étapes, un livrable réutilisable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7889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286000"/>
            <a:ext cx="2788920" cy="64008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08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70332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Redbook IBM, formation, doc officielle, transcript. Sources publiques et vérifiables uniquement.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136392" y="34747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B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4000" dirty="0"/>
          </a:p>
        </p:txBody>
      </p:sp>
      <p:sp>
        <p:nvSpPr>
          <p:cNvPr id="11" name="Shape 9"/>
          <p:cNvSpPr/>
          <p:nvPr/>
        </p:nvSpPr>
        <p:spPr>
          <a:xfrm>
            <a:off x="3246120" y="2286000"/>
            <a:ext cx="27889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2286000"/>
            <a:ext cx="2788920" cy="64008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108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structuré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70332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expert, contexte métier, règles anti-hallucination, format de sortie imposé.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25312" y="34747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B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4000" dirty="0"/>
          </a:p>
        </p:txBody>
      </p:sp>
      <p:sp>
        <p:nvSpPr>
          <p:cNvPr id="17" name="Shape 15"/>
          <p:cNvSpPr/>
          <p:nvPr/>
        </p:nvSpPr>
        <p:spPr>
          <a:xfrm>
            <a:off x="6035040" y="2286000"/>
            <a:ext cx="27889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35040" y="2286000"/>
            <a:ext cx="2788920" cy="64008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08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générative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370332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Lecture, filtrage, réorganisation, mise en évidence des points critiques.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714232" y="34747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B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4000" dirty="0"/>
          </a:p>
        </p:txBody>
      </p:sp>
      <p:sp>
        <p:nvSpPr>
          <p:cNvPr id="23" name="Shape 21"/>
          <p:cNvSpPr/>
          <p:nvPr/>
        </p:nvSpPr>
        <p:spPr>
          <a:xfrm>
            <a:off x="8823960" y="2286000"/>
            <a:ext cx="27889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23960" y="2286000"/>
            <a:ext cx="2788920" cy="64008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00684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006840" y="3108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Fiche technique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006840" y="370332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structuré, cheat-sheet, questions ouvertes. Versionnable et partageable.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E5E8EC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5806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Livrable :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737360" y="58064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fiche Markdown dense, structurée à l'identique d'une source à l'autre — capitalisable dans un corpus personnel ou d'équipe.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0" y="6629400"/>
            <a:ext cx="12161520" cy="18288"/>
          </a:xfrm>
          <a:prstGeom prst="rect">
            <a:avLst/>
          </a:prstGeom>
          <a:solidFill>
            <a:srgbClr val="E5E8EC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6656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— Paiements  •  Méthode d'apprentissage augmentée par IA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247120" y="66568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36576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PRINCIPES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garde-fous qui rendent la méthode fiable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5394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194560"/>
            <a:ext cx="640080" cy="640080"/>
          </a:xfrm>
          <a:prstGeom prst="ellipse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40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Fidélité aux sources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83464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cite les sections d'origine et signale toute divergence entre slides et transcript.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920240"/>
            <a:ext cx="5394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2194560"/>
            <a:ext cx="640080" cy="640080"/>
          </a:xfrm>
          <a:prstGeom prst="ellipse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240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 imposée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83464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Markdown standardisé, reproductible d'une fiche à l'autre, comparable dans le temps.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297680"/>
            <a:ext cx="5394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572000"/>
            <a:ext cx="640080" cy="640080"/>
          </a:xfrm>
          <a:prstGeom prst="ellipse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6177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Anti-hallucination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52120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explicites dans le prompt : « [Non précisé dans le document] » plutôt que d'inventer.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4297680"/>
            <a:ext cx="5394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4572000"/>
            <a:ext cx="640080" cy="640080"/>
          </a:xfrm>
          <a:prstGeom prst="ellipse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④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7360920" y="46177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Capitalisation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360920" y="52120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fiche alimente un corpus versionné, réutilisable par soi et par l'équipe.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6629400"/>
            <a:ext cx="12161520" cy="18288"/>
          </a:xfrm>
          <a:prstGeom prst="rect">
            <a:avLst/>
          </a:prstGeom>
          <a:solidFill>
            <a:srgbClr val="E5E8EC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6656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— Paiements  •  Méthode d'apprentissage augmentée par IA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247120" y="66568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36576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STRUCTURE DU PROMPT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blocs qui font un prompt professionnel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640080" cy="146304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9659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97280" y="1874520"/>
            <a:ext cx="4754880" cy="146304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20116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 l'expertise et le registre attendu.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7432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« Architecte senior CICS/Java en banque française. 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640080" cy="146304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520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97280" y="3429000"/>
            <a:ext cx="4754880" cy="146304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886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 métier, stack, contraintes.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42976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« Domaine Paiements SEPA, régulé PCI-DSS. »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983480"/>
            <a:ext cx="640080" cy="146304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5074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97280" y="4983480"/>
            <a:ext cx="4754880" cy="146304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280160" y="5120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5440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précise attendue, source à traiter.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8521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« Lis ce Redpaper et produis une fiche. »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09360" y="1874520"/>
            <a:ext cx="640080" cy="146304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19659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949440" y="1874520"/>
            <a:ext cx="4754880" cy="146304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32320" y="20116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DE FIDÉLITÉ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Anti-hallucination, citations, sources.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0" y="27432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« Aucune invention. [Non précisé] sinon. »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3429000"/>
            <a:ext cx="640080" cy="146304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09360" y="3520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949440" y="3429000"/>
            <a:ext cx="4754880" cy="146304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32320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DE SORTIE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3886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imposées, format, hiérarchie.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0" y="42976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« ## Synthèse  ## Concepts  ## Pièges. »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09360" y="4983480"/>
            <a:ext cx="640080" cy="146304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09360" y="5074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949440" y="4983480"/>
            <a:ext cx="4754880" cy="146304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32320" y="5120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DE STYLE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5440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Langue, densité, code, glossaire.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58521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« Français technique, blocs code, dense. »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0" y="6629400"/>
            <a:ext cx="12161520" cy="18288"/>
          </a:xfrm>
          <a:prstGeom prst="rect">
            <a:avLst/>
          </a:prstGeom>
          <a:solidFill>
            <a:srgbClr val="E5E8EC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7200" y="6656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— Paiements  •  Méthode d'apprentissage augmentée par IA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1247120" y="66568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36576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EXEMPLE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Exemple appliqué : prompt pour un Redpaper CICS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7772400" cy="4572000"/>
          </a:xfrm>
          <a:prstGeom prst="rect">
            <a:avLst/>
          </a:prstGeom>
          <a:solidFill>
            <a:srgbClr val="002456"/>
          </a:solidFill>
          <a:ln w="12700">
            <a:solidFill>
              <a:srgbClr val="00245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28800"/>
            <a:ext cx="7772400" cy="365760"/>
          </a:xfrm>
          <a:prstGeom prst="rect">
            <a:avLst/>
          </a:prstGeom>
          <a:solidFill>
            <a:srgbClr val="001A3D"/>
          </a:solidFill>
          <a:ln w="12700">
            <a:solidFill>
              <a:srgbClr val="001A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prompt-redpaper-cics.md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7315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RÔLE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 es un architecte senior CICS/Java en banque française,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avec expertise en intégration mainframe (CTG, JCICS, OSGi).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CONTEXTE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Domaine Paiements SEPA, environnement régulé PCI-DSS/RGPD.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hybride : Spring Boot 3.x &lt;-&gt; CICS TS via CTG.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MISSION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 intégralement le Redpaper IBM via web_fetch 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https://www.redbooks.ibm.com/redpapers/pdfs/redp5628.pdf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Produis une fiche technique en français, dense,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exploitable en production.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RÈGLES DE FIDÉLITÉ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Aucune invention. Si une info manque, écris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"[Non précisé dans le document]".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Cite les sections précises (§ 3.2, chapitre 4).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Préserve les valeurs numériques exactes.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Signale toute divergence slide / transcript.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STRUCTURE DE SORTIE (Markdown strict)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Métadonnées   ## Synthèse exécutive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Concepts fondamentaux   ## Détails techniques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Pièges et non-dits   ## Cheat-sheet finale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CONTRAINTES DE STYLE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Français technique. Densité maximale. Blocs code.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1874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CE PROMPT PRODUIT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503920" y="2377440"/>
            <a:ext cx="73152" cy="18288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ciblé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2606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adopte le registre technique attendu.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03920" y="3172968"/>
            <a:ext cx="73152" cy="18288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0" y="31272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cadré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340156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Vocabulaire aligné sur la stack réelle.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03920" y="3968496"/>
            <a:ext cx="73152" cy="18288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0" y="3922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bornée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419709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source précise, un livrable défini.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503920" y="4764024"/>
            <a:ext cx="73152" cy="18288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0" y="47183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Anti-hallucination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0" y="49926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Inconnues explicites, pas inventées.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503920" y="5559552"/>
            <a:ext cx="73152" cy="18288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0" y="55138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reproductible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57881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structure d'une fiche à l'autre.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6629400"/>
            <a:ext cx="12161520" cy="18288"/>
          </a:xfrm>
          <a:prstGeom prst="rect">
            <a:avLst/>
          </a:prstGeom>
          <a:solidFill>
            <a:srgbClr val="E5E8EC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6656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— Paiements  •  Méthode d'apprentissage augmentée par IA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247120" y="66568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36576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DÉMONSTRATION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 / après : le même Redbook, deux expériences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5486400" cy="4480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5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linéaire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~250 pages PDF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investi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703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à 8 heures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06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Rétention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4206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sans prise de notes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709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Réutilisabilité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4709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personnelles éparses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212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 équipe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Difficile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7947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B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5400" dirty="0"/>
          </a:p>
        </p:txBody>
      </p:sp>
      <p:sp>
        <p:nvSpPr>
          <p:cNvPr id="19" name="Shape 17"/>
          <p:cNvSpPr/>
          <p:nvPr/>
        </p:nvSpPr>
        <p:spPr>
          <a:xfrm>
            <a:off x="6217920" y="1920240"/>
            <a:ext cx="5486400" cy="448056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468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Fiche structurée par IA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à 3 pages Markdown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investi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0" y="3703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à 45 minutes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4206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Rétention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503920" y="4206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Élevée (structure imposée)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4709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Réutilisabilité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4709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versionné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5212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 équipe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50392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Immédiat via Git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0" y="6629400"/>
            <a:ext cx="12161520" cy="18288"/>
          </a:xfrm>
          <a:prstGeom prst="rect">
            <a:avLst/>
          </a:prstGeom>
          <a:solidFill>
            <a:srgbClr val="E5E8EC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7200" y="6656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— Paiements  •  Méthode d'apprentissage augmentée par IA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247120" y="66568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36576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CAS D'USAGE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concrète : parcours CICS / Java hybride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3657600" cy="45720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011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606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Cartographie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1546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identifie les Redbooks et learning paths IBM pertinents. Sortie : plan de lecture priorisé.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61688" y="2011680"/>
            <a:ext cx="3657600" cy="45720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44568" y="2011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61688" y="24688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44568" y="2606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Digestion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44568" y="31546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Redbook traité via prompt structuré. Sortie : fiche technique par source.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75320" y="2011680"/>
            <a:ext cx="3657600" cy="45720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58200" y="2011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75320" y="24688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58200" y="2606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Consolidation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1546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des fiches en corpus thématique CICS/Java. Sortie : cheat-sheet transverse.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E5E8EC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074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EXPLOITÉES POUR CE PARCOURS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4406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Redbook IBM REDP-5628 — JVM CICS Performance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Redbook « Java Application Development for CICS »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54406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officielle CICS TS (ibm.com/docs)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Developer learning paths (gratuits)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6629400"/>
            <a:ext cx="12161520" cy="18288"/>
          </a:xfrm>
          <a:prstGeom prst="rect">
            <a:avLst/>
          </a:prstGeom>
          <a:solidFill>
            <a:srgbClr val="E5E8EC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6656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— Paiements  •  Méthode d'apprentissage augmentée par IA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247120" y="66568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36576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GARDE-FOUS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assumées et conformité bancaire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 LA MÉTHODE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73152" cy="201168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remplace pas la pratique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060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fiche donne le socle ; le lab, le code, le POC restent indispensables.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73152" cy="201168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5204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d'hallucination résiduel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7947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systématique des noms d'API, codes retour, paramètres exacts.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754880"/>
            <a:ext cx="73152" cy="201168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709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corrélée au prompt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83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prompt faible produit une fiche faible. C'est un savoir-faire à construire.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1920240"/>
            <a:ext cx="5303520" cy="4480560"/>
          </a:xfrm>
          <a:prstGeom prst="rect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&amp; SÉCURITÉ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715768"/>
            <a:ext cx="137160" cy="137160"/>
          </a:xfrm>
          <a:prstGeom prst="ellipse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26060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donnée client, code source LCL ou information confidentielle transmise à l'IA.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675120" y="3630168"/>
            <a:ext cx="137160" cy="137160"/>
          </a:xfrm>
          <a:prstGeom prst="ellipse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49440" y="35204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traitées exclusivement publiques (Redbooks, doc IBM, formations éditeur générales).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675120" y="4544568"/>
            <a:ext cx="137160" cy="137160"/>
          </a:xfrm>
          <a:prstGeom prst="ellipse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0" y="44348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Alignement à valider avec la politique IA du groupe et la sécurité SI.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675120" y="5458968"/>
            <a:ext cx="137160" cy="137160"/>
          </a:xfrm>
          <a:prstGeom prst="ellipse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4944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générées relisibles et versionnables : traçabilité complète.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6629400"/>
            <a:ext cx="12161520" cy="18288"/>
          </a:xfrm>
          <a:prstGeom prst="rect">
            <a:avLst/>
          </a:prstGeom>
          <a:solidFill>
            <a:srgbClr val="E5E8EC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6656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— Paiements  •  Méthode d'apprentissage augmentée par IA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247120" y="66568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36576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PASSAGE À L'ÉCHELLE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D'un usage individuel à un actif d'équipe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3657600" cy="42976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38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31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BIBLIOTHÈQUE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457200" cy="4572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880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 partagés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97764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de prompts optimisés par domaine — CICS, Kafka, Spring Boot, VOP, SEPA. Réutilisables, améliorables collectivement.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61688" y="1965960"/>
            <a:ext cx="3657600" cy="42976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387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36008" y="2331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36008" y="2743200"/>
            <a:ext cx="457200" cy="4572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36008" y="2880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Fiches versionnées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36008" y="397764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Git interne de fiches Markdown. Recherche transverse, mise à jour continue, capitalisation entre équipes.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75320" y="1965960"/>
            <a:ext cx="3657600" cy="42976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387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49640" y="2331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549640" y="2743200"/>
            <a:ext cx="457200" cy="4572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49640" y="2880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Accélération nouveaux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397764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nouvel arrivant accède au corpus dès le premier jour. Réduction significative du délai de montée en compétence.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629400"/>
            <a:ext cx="12161520" cy="18288"/>
          </a:xfrm>
          <a:prstGeom prst="rect">
            <a:avLst/>
          </a:prstGeom>
          <a:solidFill>
            <a:srgbClr val="E5E8EC"/>
          </a:solidFill>
          <a:ln w="12700">
            <a:solidFill>
              <a:srgbClr val="E5E8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6656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— Paiements  •  Méthode d'apprentissage augmentée par IA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47120" y="66568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38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0"/>
            <a:ext cx="548640" cy="73152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1051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Prochaines étapes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926080" y="23774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Finaliser le corpus personnel CICS / Java (10-12 fiches).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9144"/>
          </a:xfrm>
          <a:prstGeom prst="rect">
            <a:avLst/>
          </a:prstGeom>
          <a:solidFill>
            <a:srgbClr val="004A9E"/>
          </a:solidFill>
          <a:ln w="12700">
            <a:solidFill>
              <a:srgbClr val="004A9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30632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 un template équipe et un premier prompt-book partagé.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1247120" cy="9144"/>
          </a:xfrm>
          <a:prstGeom prst="rect">
            <a:avLst/>
          </a:prstGeom>
          <a:solidFill>
            <a:srgbClr val="004A9E"/>
          </a:solidFill>
          <a:ln w="12700">
            <a:solidFill>
              <a:srgbClr val="004A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2026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7490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d'expérience à 6 mois : mesures, ajustements.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11247120" cy="9144"/>
          </a:xfrm>
          <a:prstGeom prst="rect">
            <a:avLst/>
          </a:prstGeom>
          <a:solidFill>
            <a:srgbClr val="004A9E"/>
          </a:solidFill>
          <a:ln w="12700">
            <a:solidFill>
              <a:srgbClr val="004A9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4434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Optionnel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4434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interne « prompt engineering pour la tech ».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4937760"/>
            <a:ext cx="11247120" cy="9144"/>
          </a:xfrm>
          <a:prstGeom prst="rect">
            <a:avLst/>
          </a:prstGeom>
          <a:solidFill>
            <a:srgbClr val="004A9E"/>
          </a:solidFill>
          <a:ln w="12700">
            <a:solidFill>
              <a:srgbClr val="004A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852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&amp; discussion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Méthode d'apprentissage augmentée par IA</dc:title>
  <dc:subject>PptxGenJS Presentation</dc:subject>
  <dc:creator>LCL — Équipe Paiements</dc:creator>
  <cp:lastModifiedBy>LCL — Équipe Paiements</cp:lastModifiedBy>
  <cp:revision>1</cp:revision>
  <dcterms:created xsi:type="dcterms:W3CDTF">2026-09-09T16:16:13Z</dcterms:created>
  <dcterms:modified xsi:type="dcterms:W3CDTF">2026-09-09T16:16:13Z</dcterms:modified>
</cp:coreProperties>
</file>