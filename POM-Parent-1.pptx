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(30s) — Aujourd'hui chaque microservice gère ses versions, ses plugins et ses règles dans son coin. Résultat : des builds qui divergent, des CVE qui passent sous le radar et une dette qui s'accumule. Le POM parent lcl-parent répond à ça : un seul point de gouvernance qui standardise le build, la sécurité, la qualité et les versions sur toute la fleet. On va voir pourquoi il est nécessaire, ce qu'il gère exactement, et les garde-fous qu'il impose.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Le principe est simple : un POM parent en haut, tous les microservices en dessous qui en héritent. Le parent est le seul à décider des versions, des plugins et des règles. L'enfant, lui, déclare juste ce dont il a besoin — sans version, sans config — et il récupère tout du parent. Conséquence directe : on change une version de sécurité à un seul endroit, et toute la fleet en bénéficie au build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Avant le parent : chaque service avait ses propres versions, ses plugins redéclarés, et la dette grossissait. Les risques concrets : des conflits de dépendances transitives, des CVE qui passaient en prod faute de contrôle commun, et des builds qu'on n'arrivait pas à reproduire. Après : une gouvernance unique, un comportement identique partout, et la sécurité intégrée dès le build plutôt que rattrapée après coup. Le message clé : on passe de N configurations artisanales à un seul socle gouverné.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Le dependencyManagement centralise les versions et les exclusions. Point important souvent mal compris : il n'ajoute RIEN automatiquement à l'enfant. L'enfant déclare la dépendance dont il a besoin, mais sans numéro de version — comme dans l'exemple à droite. C'est le parent qui fixe la version. Bénéfice : convergence garantie et cohérence sécurité. Une CVE corrigée dans le parent se propage partout sans toucher aux enfants.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La distinction à retenir, et c'est celle que tout le monde confond : le pluginManagement centralise versions et config mais n'exécute rien tout seul. L'enfant doit activer le plugin — mais sans se soucier de sa version. En revanche, certains plugins sont activés globalement dans le parent et tournent pour toute la fleet sans rien faire dans l'enfant : Enforcer, JaCoCo, et la génération de SBOM. En bas, l'étendue de ce qu'on gère : du compiler au spring-boot en passant par les tests et la traçabilité.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L'Enforcer, ce sont les garde-fous qui cassent le build si une règle est violée. Première moitié, axée cohérence. On impose les versions minimales de Maven et Java — et j'ai aligné Java sur 21 puisque c'est notre fleet, pas 17. dependencyConvergence et requireUpperBoundDeps empêchent qu'on tire deux versions différentes d'un même artifact en transitif, source classique de régressions. Et requireProperty force l'UTF-8 partout. Ce sont des règles invisibles quand tout va bien, mais qui évitent des heures de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Deuxième moitié, et c'est le point le plus parlant pour le management : bannedDependencies. On bloque purement et simplement les libs vulnérables ou interdites — log4j, les vieilles versions de snakeyaml, spring-boot pré-3, etc. Et surtout, cette liste n'est pas figée : elle est alignée sur ce que XRAY nous remonte. Le tout en fail-fast : la moindre violation casse le build sur le champ. Le message à retenir : une CVE bloquée au build, c'est une CVE qui n'arrive jamais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 Voici le cœur de l'automatisation, le cycle complet. Étape 1 : on release une nouvelle version du POM parent, avec les versions corrigées sans CVE. Étape 2 : cette release passe d'abord ses propres tests — unitaires, intégration et tests automatisés. Étape 3 : une fois validée, la mise à jour se propage automatiquement dans chaque microservice. Étape 4 : chaque MS relance son build avec les nouvelles versions ; il ne se release que si TOUS ses tests passent. Étape 5 : résultat, une nouvelle release du microservice, sans CVE, prête à déployer. Le message : zéro intervention manuelle. Le parent pousse, les tests font barrage, et les MS se mettent à jour seuls.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de clôture — Où on en est : un socle unique qui gouverne build, sécurité, qualité et versions. Déjà N microservices migrés, extension en cours sur le reste de la fleet. Zéro CVE bannie laissée passer. La suite : généraliser l'adoption à tous les repos, enrichir la liste de bannissement au rythme des CVE XRAY, et aligner le parent sur la migration Spring Boot 4.0 — d'autant que la 3.5.x est en fin de support OSS au 30 juin 2026. Le parent n'est pas un projet fini, c'est le point de contrôle central de la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6B"/>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B2A6B"/>
          </a:solidFill>
          <a:ln/>
        </p:spPr>
      </p:sp>
      <p:sp>
        <p:nvSpPr>
          <p:cNvPr id="3" name="Shape 1"/>
          <p:cNvSpPr/>
          <p:nvPr/>
        </p:nvSpPr>
        <p:spPr>
          <a:xfrm>
            <a:off x="822960" y="1874520"/>
            <a:ext cx="146304" cy="914400"/>
          </a:xfrm>
          <a:prstGeom prst="rect">
            <a:avLst/>
          </a:prstGeom>
          <a:solidFill>
            <a:srgbClr val="2D6BD4"/>
          </a:solidFill>
          <a:ln/>
        </p:spPr>
      </p:sp>
      <p:sp>
        <p:nvSpPr>
          <p:cNvPr id="4" name="Shape 2"/>
          <p:cNvSpPr/>
          <p:nvPr/>
        </p:nvSpPr>
        <p:spPr>
          <a:xfrm>
            <a:off x="1060704" y="1874520"/>
            <a:ext cx="146304" cy="914400"/>
          </a:xfrm>
          <a:prstGeom prst="rect">
            <a:avLst/>
          </a:prstGeom>
          <a:solidFill>
            <a:srgbClr val="4A82E0"/>
          </a:solidFill>
          <a:ln/>
        </p:spPr>
      </p:sp>
      <p:sp>
        <p:nvSpPr>
          <p:cNvPr id="5" name="Shape 3"/>
          <p:cNvSpPr/>
          <p:nvPr/>
        </p:nvSpPr>
        <p:spPr>
          <a:xfrm>
            <a:off x="1298448" y="1874520"/>
            <a:ext cx="146304" cy="914400"/>
          </a:xfrm>
          <a:prstGeom prst="rect">
            <a:avLst/>
          </a:prstGeom>
          <a:solidFill>
            <a:srgbClr val="3FA535"/>
          </a:solidFill>
          <a:ln/>
        </p:spPr>
      </p:sp>
      <p:sp>
        <p:nvSpPr>
          <p:cNvPr id="6" name="Text 4"/>
          <p:cNvSpPr/>
          <p:nvPr/>
        </p:nvSpPr>
        <p:spPr>
          <a:xfrm>
            <a:off x="822960" y="2880360"/>
            <a:ext cx="8229600" cy="365760"/>
          </a:xfrm>
          <a:prstGeom prst="rect">
            <a:avLst/>
          </a:prstGeom>
          <a:noFill/>
          <a:ln/>
        </p:spPr>
        <p:txBody>
          <a:bodyPr wrap="square" lIns="0" tIns="0" rIns="0" bIns="0" rtlCol="0" anchor="ctr"/>
          <a:lstStyle/>
          <a:p>
            <a:pPr algn="l" indent="0" marL="0">
              <a:buNone/>
            </a:pPr>
            <a:r>
              <a:rPr lang="en-US" sz="1600" dirty="0">
                <a:solidFill>
                  <a:srgbClr val="9FB8E8"/>
                </a:solidFill>
                <a:latin typeface="Courier New" pitchFamily="34" charset="0"/>
                <a:ea typeface="Courier New" pitchFamily="34" charset="-122"/>
                <a:cs typeface="Courier New" pitchFamily="34" charset="-120"/>
              </a:rPr>
              <a:t>lcl-parent</a:t>
            </a:r>
            <a:endParaRPr lang="en-US" sz="1600" dirty="0"/>
          </a:p>
        </p:txBody>
      </p:sp>
      <p:sp>
        <p:nvSpPr>
          <p:cNvPr id="7" name="Text 5"/>
          <p:cNvSpPr/>
          <p:nvPr/>
        </p:nvSpPr>
        <p:spPr>
          <a:xfrm>
            <a:off x="804672" y="3154680"/>
            <a:ext cx="10058400" cy="1097280"/>
          </a:xfrm>
          <a:prstGeom prst="rect">
            <a:avLst/>
          </a:prstGeom>
          <a:noFill/>
          <a:ln/>
        </p:spPr>
        <p:txBody>
          <a:bodyPr wrap="square" lIns="0" tIns="0" rIns="0" bIns="0" rtlCol="0" anchor="ctr"/>
          <a:lstStyle/>
          <a:p>
            <a:pPr algn="l" indent="0" marL="0">
              <a:buNone/>
            </a:pPr>
            <a:r>
              <a:rPr lang="en-US" sz="6000" b="1" dirty="0">
                <a:solidFill>
                  <a:srgbClr val="FFFFFF"/>
                </a:solidFill>
                <a:latin typeface="Calibri" pitchFamily="34" charset="0"/>
                <a:ea typeface="Calibri" pitchFamily="34" charset="-122"/>
                <a:cs typeface="Calibri" pitchFamily="34" charset="-120"/>
              </a:rPr>
              <a:t>POM Parent</a:t>
            </a:r>
            <a:endParaRPr lang="en-US" sz="6000" dirty="0"/>
          </a:p>
        </p:txBody>
      </p:sp>
      <p:sp>
        <p:nvSpPr>
          <p:cNvPr id="8" name="Text 6"/>
          <p:cNvSpPr/>
          <p:nvPr/>
        </p:nvSpPr>
        <p:spPr>
          <a:xfrm>
            <a:off x="822960" y="4343400"/>
            <a:ext cx="8686800" cy="54864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Standardiser build, sécurité, qualité et versions sur toute la fleet microservices</a:t>
            </a:r>
            <a:endParaRPr lang="en-US" sz="1800" dirty="0"/>
          </a:p>
        </p:txBody>
      </p:sp>
      <p:sp>
        <p:nvSpPr>
          <p:cNvPr id="9" name="Text 7"/>
          <p:cNvSpPr/>
          <p:nvPr/>
        </p:nvSpPr>
        <p:spPr>
          <a:xfrm>
            <a:off x="822960" y="5943600"/>
            <a:ext cx="5486400" cy="365760"/>
          </a:xfrm>
          <a:prstGeom prst="rect">
            <a:avLst/>
          </a:prstGeom>
          <a:noFill/>
          <a:ln/>
        </p:spPr>
        <p:txBody>
          <a:bodyPr wrap="square" lIns="0" tIns="0" rIns="0" bIns="0" rtlCol="0" anchor="ctr"/>
          <a:lstStyle/>
          <a:p>
            <a:pPr algn="l" indent="0" marL="0">
              <a:buNone/>
            </a:pPr>
            <a:r>
              <a:rPr lang="en-US" sz="1200" b="1" spc="100" kern="0" dirty="0">
                <a:solidFill>
                  <a:srgbClr val="3FA535"/>
                </a:solidFill>
                <a:latin typeface="Calibri" pitchFamily="34" charset="0"/>
                <a:ea typeface="Calibri" pitchFamily="34" charset="-122"/>
                <a:cs typeface="Calibri" pitchFamily="34" charset="-120"/>
              </a:rPr>
              <a:t>LCL · Banque et Assurance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Un parent, toute la fleet</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ARCHITECTURE</a:t>
            </a:r>
            <a:endParaRPr lang="en-US" sz="1100" dirty="0"/>
          </a:p>
        </p:txBody>
      </p:sp>
      <p:sp>
        <p:nvSpPr>
          <p:cNvPr id="5" name="Shape 2"/>
          <p:cNvSpPr/>
          <p:nvPr/>
        </p:nvSpPr>
        <p:spPr>
          <a:xfrm>
            <a:off x="4754880" y="1600200"/>
            <a:ext cx="2651760" cy="914400"/>
          </a:xfrm>
          <a:prstGeom prst="roundRect">
            <a:avLst>
              <a:gd name="adj" fmla="val 8000"/>
            </a:avLst>
          </a:prstGeom>
          <a:solidFill>
            <a:srgbClr val="1B2A6B"/>
          </a:solidFill>
          <a:ln/>
          <a:effectLst>
            <a:outerShdw sx="100000" sy="100000" kx="0" ky="0" algn="bl" rotWithShape="0" blurRad="88900" dist="25400" dir="5400000">
              <a:srgbClr val="000000">
                <a:alpha val="13000"/>
              </a:srgbClr>
            </a:outerShdw>
          </a:effectLst>
        </p:spPr>
      </p:sp>
      <p:sp>
        <p:nvSpPr>
          <p:cNvPr id="6" name="Text 3"/>
          <p:cNvSpPr/>
          <p:nvPr/>
        </p:nvSpPr>
        <p:spPr>
          <a:xfrm>
            <a:off x="4754880" y="1600200"/>
            <a:ext cx="265176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lcl-parent</a:t>
            </a:r>
            <a:endParaRPr lang="en-US" sz="1600" dirty="0"/>
          </a:p>
          <a:p>
            <a:pPr algn="ctr" indent="0" marL="0">
              <a:buNone/>
            </a:pPr>
            <a:r>
              <a:rPr lang="en-US" sz="1000" dirty="0">
                <a:solidFill>
                  <a:srgbClr val="CADCFC"/>
                </a:solidFill>
                <a:latin typeface="Calibri" pitchFamily="34" charset="0"/>
                <a:ea typeface="Calibri" pitchFamily="34" charset="-122"/>
                <a:cs typeface="Calibri" pitchFamily="34" charset="-120"/>
              </a:rPr>
              <a:t>versions · plugins · règles</a:t>
            </a:r>
            <a:endParaRPr lang="en-US" sz="1600" dirty="0"/>
          </a:p>
        </p:txBody>
      </p:sp>
      <p:sp>
        <p:nvSpPr>
          <p:cNvPr id="7" name="Shape 4"/>
          <p:cNvSpPr/>
          <p:nvPr/>
        </p:nvSpPr>
        <p:spPr>
          <a:xfrm>
            <a:off x="6080760" y="2514600"/>
            <a:ext cx="-4732020" cy="1463040"/>
          </a:xfrm>
          <a:prstGeom prst="line">
            <a:avLst/>
          </a:prstGeom>
          <a:noFill/>
          <a:ln w="19050">
            <a:solidFill>
              <a:srgbClr val="C2CCE0"/>
            </a:solidFill>
            <a:prstDash val="solid"/>
          </a:ln>
        </p:spPr>
      </p:sp>
      <p:sp>
        <p:nvSpPr>
          <p:cNvPr id="8" name="Shape 5"/>
          <p:cNvSpPr/>
          <p:nvPr/>
        </p:nvSpPr>
        <p:spPr>
          <a:xfrm>
            <a:off x="502920"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9" name="Text 6"/>
          <p:cNvSpPr/>
          <p:nvPr/>
        </p:nvSpPr>
        <p:spPr>
          <a:xfrm>
            <a:off x="502920"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mssepamd</a:t>
            </a:r>
            <a:endParaRPr lang="en-US" sz="1200" dirty="0"/>
          </a:p>
        </p:txBody>
      </p:sp>
      <p:sp>
        <p:nvSpPr>
          <p:cNvPr id="10" name="Shape 7"/>
          <p:cNvSpPr/>
          <p:nvPr/>
        </p:nvSpPr>
        <p:spPr>
          <a:xfrm>
            <a:off x="6080760" y="2514600"/>
            <a:ext cx="-2839212" cy="1463040"/>
          </a:xfrm>
          <a:prstGeom prst="line">
            <a:avLst/>
          </a:prstGeom>
          <a:noFill/>
          <a:ln w="19050">
            <a:solidFill>
              <a:srgbClr val="C2CCE0"/>
            </a:solidFill>
            <a:prstDash val="solid"/>
          </a:ln>
        </p:spPr>
      </p:sp>
      <p:sp>
        <p:nvSpPr>
          <p:cNvPr id="11" name="Shape 8"/>
          <p:cNvSpPr/>
          <p:nvPr/>
        </p:nvSpPr>
        <p:spPr>
          <a:xfrm>
            <a:off x="2395728"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2" name="Text 9"/>
          <p:cNvSpPr/>
          <p:nvPr/>
        </p:nvSpPr>
        <p:spPr>
          <a:xfrm>
            <a:off x="2395728"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wsipke04</a:t>
            </a:r>
            <a:endParaRPr lang="en-US" sz="1200" dirty="0"/>
          </a:p>
        </p:txBody>
      </p:sp>
      <p:sp>
        <p:nvSpPr>
          <p:cNvPr id="13" name="Shape 10"/>
          <p:cNvSpPr/>
          <p:nvPr/>
        </p:nvSpPr>
        <p:spPr>
          <a:xfrm>
            <a:off x="6080760" y="2514600"/>
            <a:ext cx="-946404" cy="1463040"/>
          </a:xfrm>
          <a:prstGeom prst="line">
            <a:avLst/>
          </a:prstGeom>
          <a:noFill/>
          <a:ln w="19050">
            <a:solidFill>
              <a:srgbClr val="C2CCE0"/>
            </a:solidFill>
            <a:prstDash val="solid"/>
          </a:ln>
        </p:spPr>
      </p:sp>
      <p:sp>
        <p:nvSpPr>
          <p:cNvPr id="14" name="Shape 11"/>
          <p:cNvSpPr/>
          <p:nvPr/>
        </p:nvSpPr>
        <p:spPr>
          <a:xfrm>
            <a:off x="4288536"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5" name="Text 12"/>
          <p:cNvSpPr/>
          <p:nvPr/>
        </p:nvSpPr>
        <p:spPr>
          <a:xfrm>
            <a:off x="4288536"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wsctxd02</a:t>
            </a:r>
            <a:endParaRPr lang="en-US" sz="1200" dirty="0"/>
          </a:p>
        </p:txBody>
      </p:sp>
      <p:sp>
        <p:nvSpPr>
          <p:cNvPr id="16" name="Shape 13"/>
          <p:cNvSpPr/>
          <p:nvPr/>
        </p:nvSpPr>
        <p:spPr>
          <a:xfrm>
            <a:off x="6080760" y="2514600"/>
            <a:ext cx="946404" cy="1463040"/>
          </a:xfrm>
          <a:prstGeom prst="line">
            <a:avLst/>
          </a:prstGeom>
          <a:noFill/>
          <a:ln w="19050">
            <a:solidFill>
              <a:srgbClr val="C2CCE0"/>
            </a:solidFill>
            <a:prstDash val="solid"/>
          </a:ln>
        </p:spPr>
      </p:sp>
      <p:sp>
        <p:nvSpPr>
          <p:cNvPr id="17" name="Shape 14"/>
          <p:cNvSpPr/>
          <p:nvPr/>
        </p:nvSpPr>
        <p:spPr>
          <a:xfrm>
            <a:off x="6181344"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8" name="Text 15"/>
          <p:cNvSpPr/>
          <p:nvPr/>
        </p:nvSpPr>
        <p:spPr>
          <a:xfrm>
            <a:off x="6181344"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lcl-fraudempa</a:t>
            </a:r>
            <a:endParaRPr lang="en-US" sz="1200" dirty="0"/>
          </a:p>
        </p:txBody>
      </p:sp>
      <p:sp>
        <p:nvSpPr>
          <p:cNvPr id="19" name="Shape 16"/>
          <p:cNvSpPr/>
          <p:nvPr/>
        </p:nvSpPr>
        <p:spPr>
          <a:xfrm>
            <a:off x="6080760" y="2514600"/>
            <a:ext cx="2839212" cy="1463040"/>
          </a:xfrm>
          <a:prstGeom prst="line">
            <a:avLst/>
          </a:prstGeom>
          <a:noFill/>
          <a:ln w="19050">
            <a:solidFill>
              <a:srgbClr val="C2CCE0"/>
            </a:solidFill>
            <a:prstDash val="solid"/>
          </a:ln>
        </p:spPr>
      </p:sp>
      <p:sp>
        <p:nvSpPr>
          <p:cNvPr id="20" name="Shape 17"/>
          <p:cNvSpPr/>
          <p:nvPr/>
        </p:nvSpPr>
        <p:spPr>
          <a:xfrm>
            <a:off x="8074152"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1" name="Text 18"/>
          <p:cNvSpPr/>
          <p:nvPr/>
        </p:nvSpPr>
        <p:spPr>
          <a:xfrm>
            <a:off x="8074152"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lcl-virinst</a:t>
            </a:r>
            <a:endParaRPr lang="en-US" sz="1200" dirty="0"/>
          </a:p>
        </p:txBody>
      </p:sp>
      <p:sp>
        <p:nvSpPr>
          <p:cNvPr id="22" name="Shape 19"/>
          <p:cNvSpPr/>
          <p:nvPr/>
        </p:nvSpPr>
        <p:spPr>
          <a:xfrm>
            <a:off x="6080760" y="2514600"/>
            <a:ext cx="4732020" cy="1463040"/>
          </a:xfrm>
          <a:prstGeom prst="line">
            <a:avLst/>
          </a:prstGeom>
          <a:noFill/>
          <a:ln w="19050">
            <a:solidFill>
              <a:srgbClr val="C2CCE0"/>
            </a:solidFill>
            <a:prstDash val="solid"/>
          </a:ln>
        </p:spPr>
      </p:sp>
      <p:sp>
        <p:nvSpPr>
          <p:cNvPr id="23" name="Shape 20"/>
          <p:cNvSpPr/>
          <p:nvPr/>
        </p:nvSpPr>
        <p:spPr>
          <a:xfrm>
            <a:off x="9966960" y="3977640"/>
            <a:ext cx="1691640" cy="777240"/>
          </a:xfrm>
          <a:prstGeom prst="roundRect">
            <a:avLst>
              <a:gd name="adj" fmla="val 7059"/>
            </a:avLst>
          </a:prstGeom>
          <a:solidFill>
            <a:srgbClr val="F4F6FA"/>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4" name="Text 21"/>
          <p:cNvSpPr/>
          <p:nvPr/>
        </p:nvSpPr>
        <p:spPr>
          <a:xfrm>
            <a:off x="9966960" y="3977640"/>
            <a:ext cx="1691640" cy="777240"/>
          </a:xfrm>
          <a:prstGeom prst="rect">
            <a:avLst/>
          </a:prstGeom>
          <a:noFill/>
          <a:ln/>
        </p:spPr>
        <p:txBody>
          <a:bodyPr wrap="square" lIns="0" tIns="0" rIns="0" bIns="0" rtlCol="0" anchor="ctr"/>
          <a:lstStyle/>
          <a:p>
            <a:pPr algn="ctr" indent="0" marL="0">
              <a:buNone/>
            </a:pPr>
            <a:r>
              <a:rPr lang="en-US" sz="1200" b="1" dirty="0">
                <a:solidFill>
                  <a:srgbClr val="1B2A6B"/>
                </a:solidFill>
                <a:latin typeface="Courier New" pitchFamily="34" charset="0"/>
                <a:ea typeface="Courier New" pitchFamily="34" charset="-122"/>
                <a:cs typeface="Courier New" pitchFamily="34" charset="-120"/>
              </a:rPr>
              <a:t>…</a:t>
            </a:r>
            <a:endParaRPr lang="en-US" sz="1200" dirty="0"/>
          </a:p>
        </p:txBody>
      </p:sp>
      <p:sp>
        <p:nvSpPr>
          <p:cNvPr id="25" name="Text 22"/>
          <p:cNvSpPr/>
          <p:nvPr/>
        </p:nvSpPr>
        <p:spPr>
          <a:xfrm>
            <a:off x="914400" y="5669280"/>
            <a:ext cx="10332720" cy="457200"/>
          </a:xfrm>
          <a:prstGeom prst="rect">
            <a:avLst/>
          </a:prstGeom>
          <a:noFill/>
          <a:ln/>
        </p:spPr>
        <p:txBody>
          <a:bodyPr wrap="square" lIns="0" tIns="0" rIns="0" bIns="0" rtlCol="0" anchor="ctr"/>
          <a:lstStyle/>
          <a:p>
            <a:pPr algn="ctr" indent="0" marL="0">
              <a:buNone/>
            </a:pPr>
            <a:r>
              <a:rPr lang="en-US" sz="1500" i="1" dirty="0">
                <a:solidFill>
                  <a:srgbClr val="5B6473"/>
                </a:solidFill>
                <a:latin typeface="Calibri" pitchFamily="34" charset="0"/>
                <a:ea typeface="Calibri" pitchFamily="34" charset="-122"/>
                <a:cs typeface="Calibri" pitchFamily="34" charset="-120"/>
              </a:rPr>
              <a:t>Chaque enfant hérite : il déclare ses dépendances et plugins SANS version ni config. Le parent décide.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Pourquoi ce parent est nécessaire</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LE PROBLÈME · LA RÉPONSE</a:t>
            </a:r>
            <a:endParaRPr lang="en-US" sz="1100" dirty="0"/>
          </a:p>
        </p:txBody>
      </p:sp>
      <p:sp>
        <p:nvSpPr>
          <p:cNvPr id="5" name="Shape 2"/>
          <p:cNvSpPr/>
          <p:nvPr/>
        </p:nvSpPr>
        <p:spPr>
          <a:xfrm>
            <a:off x="640080" y="1600200"/>
            <a:ext cx="3429000" cy="4069080"/>
          </a:xfrm>
          <a:prstGeom prst="roundRect">
            <a:avLst>
              <a:gd name="adj" fmla="val 1867"/>
            </a:avLst>
          </a:prstGeom>
          <a:solidFill>
            <a:srgbClr val="FBEEEC"/>
          </a:solidFill>
          <a:ln/>
          <a:effectLst>
            <a:outerShdw sx="100000" sy="100000" kx="0" ky="0" algn="bl" rotWithShape="0" blurRad="88900" dist="25400" dir="5400000">
              <a:srgbClr val="000000">
                <a:alpha val="13000"/>
              </a:srgbClr>
            </a:outerShdw>
          </a:effectLst>
        </p:spPr>
      </p:sp>
      <p:pic>
        <p:nvPicPr>
          <p:cNvPr id="6" name="Image 1" descr="preencoded.png">    </p:cNvPr>
          <p:cNvPicPr>
            <a:picLocks noChangeAspect="1"/>
          </p:cNvPicPr>
          <p:nvPr/>
        </p:nvPicPr>
        <p:blipFill>
          <a:blip r:embed="rId2"/>
          <a:stretch>
            <a:fillRect/>
          </a:stretch>
        </p:blipFill>
        <p:spPr>
          <a:xfrm>
            <a:off x="960120" y="1920240"/>
            <a:ext cx="457200" cy="457200"/>
          </a:xfrm>
          <a:prstGeom prst="rect">
            <a:avLst/>
          </a:prstGeom>
        </p:spPr>
      </p:pic>
      <p:sp>
        <p:nvSpPr>
          <p:cNvPr id="7" name="Text 3"/>
          <p:cNvSpPr/>
          <p:nvPr/>
        </p:nvSpPr>
        <p:spPr>
          <a:xfrm>
            <a:off x="1554480" y="1901952"/>
            <a:ext cx="2331720" cy="502920"/>
          </a:xfrm>
          <a:prstGeom prst="rect">
            <a:avLst/>
          </a:prstGeom>
          <a:noFill/>
          <a:ln/>
        </p:spPr>
        <p:txBody>
          <a:bodyPr wrap="square" lIns="0" tIns="0" rIns="0" bIns="0" rtlCol="0" anchor="ctr"/>
          <a:lstStyle/>
          <a:p>
            <a:pPr algn="l" indent="0" marL="0">
              <a:buNone/>
            </a:pPr>
            <a:r>
              <a:rPr lang="en-US" sz="1900" b="1" spc="100" kern="0" dirty="0">
                <a:solidFill>
                  <a:srgbClr val="C0392B"/>
                </a:solidFill>
                <a:latin typeface="Calibri" pitchFamily="34" charset="0"/>
                <a:ea typeface="Calibri" pitchFamily="34" charset="-122"/>
                <a:cs typeface="Calibri" pitchFamily="34" charset="-120"/>
              </a:rPr>
              <a:t>AVANT</a:t>
            </a:r>
            <a:endParaRPr lang="en-US" sz="1900" dirty="0"/>
          </a:p>
        </p:txBody>
      </p:sp>
      <p:sp>
        <p:nvSpPr>
          <p:cNvPr id="8" name="Text 4"/>
          <p:cNvSpPr/>
          <p:nvPr/>
        </p:nvSpPr>
        <p:spPr>
          <a:xfrm>
            <a:off x="960120" y="2743200"/>
            <a:ext cx="2788920" cy="269748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Versions divergentes entre services</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Plugins dupliqués et reconfigurés</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Dette technique qui s'accumule</a:t>
            </a:r>
            <a:endParaRPr lang="en-US" sz="1500" dirty="0"/>
          </a:p>
        </p:txBody>
      </p:sp>
      <p:sp>
        <p:nvSpPr>
          <p:cNvPr id="9" name="Shape 5"/>
          <p:cNvSpPr/>
          <p:nvPr/>
        </p:nvSpPr>
        <p:spPr>
          <a:xfrm>
            <a:off x="4370832" y="1600200"/>
            <a:ext cx="3429000" cy="4069080"/>
          </a:xfrm>
          <a:prstGeom prst="roundRect">
            <a:avLst>
              <a:gd name="adj" fmla="val 1867"/>
            </a:avLst>
          </a:prstGeom>
          <a:solidFill>
            <a:srgbClr val="FBF6E9"/>
          </a:solidFill>
          <a:ln/>
          <a:effectLst>
            <a:outerShdw sx="100000" sy="100000" kx="0" ky="0" algn="bl" rotWithShape="0" blurRad="88900" dist="25400" dir="5400000">
              <a:srgbClr val="000000">
                <a:alpha val="13000"/>
              </a:srgbClr>
            </a:outerShdw>
          </a:effectLst>
        </p:spPr>
      </p:sp>
      <p:pic>
        <p:nvPicPr>
          <p:cNvPr id="10" name="Image 2" descr="preencoded.png">    </p:cNvPr>
          <p:cNvPicPr>
            <a:picLocks noChangeAspect="1"/>
          </p:cNvPicPr>
          <p:nvPr/>
        </p:nvPicPr>
        <p:blipFill>
          <a:blip r:embed="rId3"/>
          <a:stretch>
            <a:fillRect/>
          </a:stretch>
        </p:blipFill>
        <p:spPr>
          <a:xfrm>
            <a:off x="4690872" y="1920240"/>
            <a:ext cx="457200" cy="457200"/>
          </a:xfrm>
          <a:prstGeom prst="rect">
            <a:avLst/>
          </a:prstGeom>
        </p:spPr>
      </p:pic>
      <p:sp>
        <p:nvSpPr>
          <p:cNvPr id="11" name="Text 6"/>
          <p:cNvSpPr/>
          <p:nvPr/>
        </p:nvSpPr>
        <p:spPr>
          <a:xfrm>
            <a:off x="5285232" y="1901952"/>
            <a:ext cx="2331720" cy="502920"/>
          </a:xfrm>
          <a:prstGeom prst="rect">
            <a:avLst/>
          </a:prstGeom>
          <a:noFill/>
          <a:ln/>
        </p:spPr>
        <p:txBody>
          <a:bodyPr wrap="square" lIns="0" tIns="0" rIns="0" bIns="0" rtlCol="0" anchor="ctr"/>
          <a:lstStyle/>
          <a:p>
            <a:pPr algn="l" indent="0" marL="0">
              <a:buNone/>
            </a:pPr>
            <a:r>
              <a:rPr lang="en-US" sz="1900" b="1" spc="100" kern="0" dirty="0">
                <a:solidFill>
                  <a:srgbClr val="B8860B"/>
                </a:solidFill>
                <a:latin typeface="Calibri" pitchFamily="34" charset="0"/>
                <a:ea typeface="Calibri" pitchFamily="34" charset="-122"/>
                <a:cs typeface="Calibri" pitchFamily="34" charset="-120"/>
              </a:rPr>
              <a:t>RISQUES</a:t>
            </a:r>
            <a:endParaRPr lang="en-US" sz="1900" dirty="0"/>
          </a:p>
        </p:txBody>
      </p:sp>
      <p:sp>
        <p:nvSpPr>
          <p:cNvPr id="12" name="Text 7"/>
          <p:cNvSpPr/>
          <p:nvPr/>
        </p:nvSpPr>
        <p:spPr>
          <a:xfrm>
            <a:off x="4690872" y="2743200"/>
            <a:ext cx="2788920" cy="269748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Conflits transitifs de dépendances</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CVE non maîtrisées en prod</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Builds non reproductibles</a:t>
            </a:r>
            <a:endParaRPr lang="en-US" sz="1500" dirty="0"/>
          </a:p>
        </p:txBody>
      </p:sp>
      <p:sp>
        <p:nvSpPr>
          <p:cNvPr id="13" name="Shape 8"/>
          <p:cNvSpPr/>
          <p:nvPr/>
        </p:nvSpPr>
        <p:spPr>
          <a:xfrm>
            <a:off x="8101584" y="1600200"/>
            <a:ext cx="3429000" cy="4069080"/>
          </a:xfrm>
          <a:prstGeom prst="roundRect">
            <a:avLst>
              <a:gd name="adj" fmla="val 1867"/>
            </a:avLst>
          </a:prstGeom>
          <a:solidFill>
            <a:srgbClr val="EEF7EC"/>
          </a:solidFill>
          <a:ln/>
          <a:effectLst>
            <a:outerShdw sx="100000" sy="100000" kx="0" ky="0" algn="bl" rotWithShape="0" blurRad="88900" dist="25400" dir="5400000">
              <a:srgbClr val="000000">
                <a:alpha val="13000"/>
              </a:srgbClr>
            </a:outerShdw>
          </a:effectLst>
        </p:spPr>
      </p:sp>
      <p:pic>
        <p:nvPicPr>
          <p:cNvPr id="14" name="Image 3" descr="preencoded.png">    </p:cNvPr>
          <p:cNvPicPr>
            <a:picLocks noChangeAspect="1"/>
          </p:cNvPicPr>
          <p:nvPr/>
        </p:nvPicPr>
        <p:blipFill>
          <a:blip r:embed="rId4"/>
          <a:stretch>
            <a:fillRect/>
          </a:stretch>
        </p:blipFill>
        <p:spPr>
          <a:xfrm>
            <a:off x="8421624" y="1920240"/>
            <a:ext cx="457200" cy="457200"/>
          </a:xfrm>
          <a:prstGeom prst="rect">
            <a:avLst/>
          </a:prstGeom>
        </p:spPr>
      </p:pic>
      <p:sp>
        <p:nvSpPr>
          <p:cNvPr id="15" name="Text 9"/>
          <p:cNvSpPr/>
          <p:nvPr/>
        </p:nvSpPr>
        <p:spPr>
          <a:xfrm>
            <a:off x="9015984" y="1901952"/>
            <a:ext cx="2331720" cy="502920"/>
          </a:xfrm>
          <a:prstGeom prst="rect">
            <a:avLst/>
          </a:prstGeom>
          <a:noFill/>
          <a:ln/>
        </p:spPr>
        <p:txBody>
          <a:bodyPr wrap="square" lIns="0" tIns="0" rIns="0" bIns="0" rtlCol="0" anchor="ctr"/>
          <a:lstStyle/>
          <a:p>
            <a:pPr algn="l" indent="0" marL="0">
              <a:buNone/>
            </a:pPr>
            <a:r>
              <a:rPr lang="en-US" sz="1900" b="1" spc="100" kern="0" dirty="0">
                <a:solidFill>
                  <a:srgbClr val="3FA535"/>
                </a:solidFill>
                <a:latin typeface="Calibri" pitchFamily="34" charset="0"/>
                <a:ea typeface="Calibri" pitchFamily="34" charset="-122"/>
                <a:cs typeface="Calibri" pitchFamily="34" charset="-120"/>
              </a:rPr>
              <a:t>APRÈS</a:t>
            </a:r>
            <a:endParaRPr lang="en-US" sz="1900" dirty="0"/>
          </a:p>
        </p:txBody>
      </p:sp>
      <p:sp>
        <p:nvSpPr>
          <p:cNvPr id="16" name="Text 10"/>
          <p:cNvSpPr/>
          <p:nvPr/>
        </p:nvSpPr>
        <p:spPr>
          <a:xfrm>
            <a:off x="8421624" y="2743200"/>
            <a:ext cx="2788920" cy="269748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Gouvernance unique et centralisée</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Comportement homogène partout</a:t>
            </a:r>
            <a:endParaRPr lang="en-US" sz="1500" dirty="0"/>
          </a:p>
          <a:p>
            <a:pPr marL="177800" indent="-177800">
              <a:spcAft>
                <a:spcPts val="1400"/>
              </a:spcAft>
              <a:buSzPct val="100000"/>
              <a:buChar char="•"/>
            </a:pPr>
            <a:r>
              <a:rPr lang="en-US" sz="1500" dirty="0">
                <a:solidFill>
                  <a:srgbClr val="1E2433"/>
                </a:solidFill>
                <a:latin typeface="Calibri" pitchFamily="34" charset="0"/>
                <a:ea typeface="Calibri" pitchFamily="34" charset="-122"/>
                <a:cs typeface="Calibri" pitchFamily="34" charset="-120"/>
              </a:rPr>
              <a:t>Sécurité "by design", fail-fast</a:t>
            </a:r>
            <a:endParaRPr lang="en-US" sz="1500" dirty="0"/>
          </a:p>
        </p:txBody>
      </p:sp>
      <p:sp>
        <p:nvSpPr>
          <p:cNvPr id="17" name="Text 11"/>
          <p:cNvSpPr/>
          <p:nvPr/>
        </p:nvSpPr>
        <p:spPr>
          <a:xfrm>
            <a:off x="640080" y="5943600"/>
            <a:ext cx="10881360" cy="411480"/>
          </a:xfrm>
          <a:prstGeom prst="rect">
            <a:avLst/>
          </a:prstGeom>
          <a:noFill/>
          <a:ln/>
        </p:spPr>
        <p:txBody>
          <a:bodyPr wrap="square" lIns="0" tIns="0" rIns="0" bIns="0" rtlCol="0" anchor="ctr"/>
          <a:lstStyle/>
          <a:p>
            <a:pPr algn="ctr" indent="0" marL="0">
              <a:buNone/>
            </a:pPr>
            <a:r>
              <a:rPr lang="en-US" sz="1500" b="1" i="1" dirty="0">
                <a:solidFill>
                  <a:srgbClr val="1B2A6B"/>
                </a:solidFill>
                <a:latin typeface="Calibri" pitchFamily="34" charset="0"/>
                <a:ea typeface="Calibri" pitchFamily="34" charset="-122"/>
                <a:cs typeface="Calibri" pitchFamily="34" charset="-120"/>
              </a:rPr>
              <a:t>Avant → Après : </a:t>
            </a:r>
            <a:pPr algn="ctr" indent="0" marL="0">
              <a:buNone/>
            </a:pPr>
            <a:r>
              <a:rPr lang="en-US" sz="1500" i="1" dirty="0">
                <a:solidFill>
                  <a:srgbClr val="5B6473"/>
                </a:solidFill>
                <a:latin typeface="Calibri" pitchFamily="34" charset="0"/>
                <a:ea typeface="Calibri" pitchFamily="34" charset="-122"/>
                <a:cs typeface="Calibri" pitchFamily="34" charset="-120"/>
              </a:rPr>
              <a:t>de N configs artisanales à 1 socle gouverné.</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Dependency Management</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VERSIONS CENTRALISÉES</a:t>
            </a:r>
            <a:endParaRPr lang="en-US" sz="1100" dirty="0"/>
          </a:p>
        </p:txBody>
      </p:sp>
      <p:sp>
        <p:nvSpPr>
          <p:cNvPr id="5" name="Shape 2"/>
          <p:cNvSpPr/>
          <p:nvPr/>
        </p:nvSpPr>
        <p:spPr>
          <a:xfrm>
            <a:off x="640080" y="1691640"/>
            <a:ext cx="5943600" cy="868680"/>
          </a:xfrm>
          <a:prstGeom prst="roundRect">
            <a:avLst>
              <a:gd name="adj" fmla="val 6316"/>
            </a:avLst>
          </a:prstGeom>
          <a:solidFill>
            <a:srgbClr val="F4F6FA"/>
          </a:solidFill>
          <a:ln/>
          <a:effectLst>
            <a:outerShdw sx="100000" sy="100000" kx="0" ky="0" algn="bl" rotWithShape="0" blurRad="88900" dist="25400" dir="5400000">
              <a:srgbClr val="000000">
                <a:alpha val="13000"/>
              </a:srgbClr>
            </a:outerShdw>
          </a:effectLst>
        </p:spPr>
      </p:sp>
      <p:pic>
        <p:nvPicPr>
          <p:cNvPr id="6" name="Image 1" descr="preencoded.png">    </p:cNvPr>
          <p:cNvPicPr>
            <a:picLocks noChangeAspect="1"/>
          </p:cNvPicPr>
          <p:nvPr/>
        </p:nvPicPr>
        <p:blipFill>
          <a:blip r:embed="rId2"/>
          <a:stretch>
            <a:fillRect/>
          </a:stretch>
        </p:blipFill>
        <p:spPr>
          <a:xfrm>
            <a:off x="914400" y="1938528"/>
            <a:ext cx="384048" cy="384048"/>
          </a:xfrm>
          <a:prstGeom prst="rect">
            <a:avLst/>
          </a:prstGeom>
        </p:spPr>
      </p:pic>
      <p:sp>
        <p:nvSpPr>
          <p:cNvPr id="7" name="Text 3"/>
          <p:cNvSpPr/>
          <p:nvPr/>
        </p:nvSpPr>
        <p:spPr>
          <a:xfrm>
            <a:off x="1508760" y="1691640"/>
            <a:ext cx="4937760" cy="868680"/>
          </a:xfrm>
          <a:prstGeom prst="rect">
            <a:avLst/>
          </a:prstGeom>
          <a:noFill/>
          <a:ln/>
        </p:spPr>
        <p:txBody>
          <a:bodyPr wrap="square" lIns="0" tIns="0" rIns="0" bIns="0" rtlCol="0" anchor="ctr"/>
          <a:lstStyle/>
          <a:p>
            <a:pPr algn="l" indent="0" marL="0">
              <a:buNone/>
            </a:pPr>
            <a:r>
              <a:rPr lang="en-US" sz="1450" dirty="0">
                <a:solidFill>
                  <a:srgbClr val="1E2433"/>
                </a:solidFill>
                <a:latin typeface="Calibri" pitchFamily="34" charset="0"/>
                <a:ea typeface="Calibri" pitchFamily="34" charset="-122"/>
                <a:cs typeface="Calibri" pitchFamily="34" charset="-120"/>
              </a:rPr>
              <a:t>Centralise versions et exclusions des dépendances</a:t>
            </a:r>
            <a:endParaRPr lang="en-US" sz="1450" dirty="0"/>
          </a:p>
        </p:txBody>
      </p:sp>
      <p:sp>
        <p:nvSpPr>
          <p:cNvPr id="8" name="Shape 4"/>
          <p:cNvSpPr/>
          <p:nvPr/>
        </p:nvSpPr>
        <p:spPr>
          <a:xfrm>
            <a:off x="640080" y="2715768"/>
            <a:ext cx="5943600" cy="868680"/>
          </a:xfrm>
          <a:prstGeom prst="roundRect">
            <a:avLst>
              <a:gd name="adj" fmla="val 6316"/>
            </a:avLst>
          </a:prstGeom>
          <a:solidFill>
            <a:srgbClr val="F4F6FA"/>
          </a:solidFill>
          <a:ln/>
          <a:effectLst>
            <a:outerShdw sx="100000" sy="100000" kx="0" ky="0" algn="bl" rotWithShape="0" blurRad="88900" dist="25400" dir="5400000">
              <a:srgbClr val="000000">
                <a:alpha val="13000"/>
              </a:srgbClr>
            </a:outerShdw>
          </a:effectLst>
        </p:spPr>
      </p:sp>
      <p:pic>
        <p:nvPicPr>
          <p:cNvPr id="9" name="Image 2" descr="preencoded.png">    </p:cNvPr>
          <p:cNvPicPr>
            <a:picLocks noChangeAspect="1"/>
          </p:cNvPicPr>
          <p:nvPr/>
        </p:nvPicPr>
        <p:blipFill>
          <a:blip r:embed="rId3"/>
          <a:stretch>
            <a:fillRect/>
          </a:stretch>
        </p:blipFill>
        <p:spPr>
          <a:xfrm>
            <a:off x="914400" y="2962656"/>
            <a:ext cx="384048" cy="384048"/>
          </a:xfrm>
          <a:prstGeom prst="rect">
            <a:avLst/>
          </a:prstGeom>
        </p:spPr>
      </p:pic>
      <p:sp>
        <p:nvSpPr>
          <p:cNvPr id="10" name="Text 5"/>
          <p:cNvSpPr/>
          <p:nvPr/>
        </p:nvSpPr>
        <p:spPr>
          <a:xfrm>
            <a:off x="1508760" y="2715768"/>
            <a:ext cx="4937760" cy="868680"/>
          </a:xfrm>
          <a:prstGeom prst="rect">
            <a:avLst/>
          </a:prstGeom>
          <a:noFill/>
          <a:ln/>
        </p:spPr>
        <p:txBody>
          <a:bodyPr wrap="square" lIns="0" tIns="0" rIns="0" bIns="0" rtlCol="0" anchor="ctr"/>
          <a:lstStyle/>
          <a:p>
            <a:pPr algn="l" indent="0" marL="0">
              <a:buNone/>
            </a:pPr>
            <a:r>
              <a:rPr lang="en-US" sz="1450" dirty="0">
                <a:solidFill>
                  <a:srgbClr val="1E2433"/>
                </a:solidFill>
                <a:latin typeface="Calibri" pitchFamily="34" charset="0"/>
                <a:ea typeface="Calibri" pitchFamily="34" charset="-122"/>
                <a:cs typeface="Calibri" pitchFamily="34" charset="-120"/>
              </a:rPr>
              <a:t>N'ajoute PAS automatiquement les libs dans l'enfant</a:t>
            </a:r>
            <a:endParaRPr lang="en-US" sz="1450" dirty="0"/>
          </a:p>
        </p:txBody>
      </p:sp>
      <p:sp>
        <p:nvSpPr>
          <p:cNvPr id="11" name="Shape 6"/>
          <p:cNvSpPr/>
          <p:nvPr/>
        </p:nvSpPr>
        <p:spPr>
          <a:xfrm>
            <a:off x="640080" y="3739896"/>
            <a:ext cx="5943600" cy="868680"/>
          </a:xfrm>
          <a:prstGeom prst="roundRect">
            <a:avLst>
              <a:gd name="adj" fmla="val 6316"/>
            </a:avLst>
          </a:prstGeom>
          <a:solidFill>
            <a:srgbClr val="F4F6FA"/>
          </a:solidFill>
          <a:ln/>
          <a:effectLst>
            <a:outerShdw sx="100000" sy="100000" kx="0" ky="0" algn="bl" rotWithShape="0" blurRad="88900" dist="25400" dir="5400000">
              <a:srgbClr val="000000">
                <a:alpha val="13000"/>
              </a:srgbClr>
            </a:outerShdw>
          </a:effectLst>
        </p:spPr>
      </p:sp>
      <p:pic>
        <p:nvPicPr>
          <p:cNvPr id="12" name="Image 3" descr="preencoded.png">    </p:cNvPr>
          <p:cNvPicPr>
            <a:picLocks noChangeAspect="1"/>
          </p:cNvPicPr>
          <p:nvPr/>
        </p:nvPicPr>
        <p:blipFill>
          <a:blip r:embed="rId4"/>
          <a:stretch>
            <a:fillRect/>
          </a:stretch>
        </p:blipFill>
        <p:spPr>
          <a:xfrm>
            <a:off x="914400" y="3986784"/>
            <a:ext cx="384048" cy="384048"/>
          </a:xfrm>
          <a:prstGeom prst="rect">
            <a:avLst/>
          </a:prstGeom>
        </p:spPr>
      </p:pic>
      <p:sp>
        <p:nvSpPr>
          <p:cNvPr id="13" name="Text 7"/>
          <p:cNvSpPr/>
          <p:nvPr/>
        </p:nvSpPr>
        <p:spPr>
          <a:xfrm>
            <a:off x="1508760" y="3739896"/>
            <a:ext cx="4937760" cy="868680"/>
          </a:xfrm>
          <a:prstGeom prst="rect">
            <a:avLst/>
          </a:prstGeom>
          <a:noFill/>
          <a:ln/>
        </p:spPr>
        <p:txBody>
          <a:bodyPr wrap="square" lIns="0" tIns="0" rIns="0" bIns="0" rtlCol="0" anchor="ctr"/>
          <a:lstStyle/>
          <a:p>
            <a:pPr algn="l" indent="0" marL="0">
              <a:buNone/>
            </a:pPr>
            <a:r>
              <a:rPr lang="en-US" sz="1450" dirty="0">
                <a:solidFill>
                  <a:srgbClr val="1E2433"/>
                </a:solidFill>
                <a:latin typeface="Calibri" pitchFamily="34" charset="0"/>
                <a:ea typeface="Calibri" pitchFamily="34" charset="-122"/>
                <a:cs typeface="Calibri" pitchFamily="34" charset="-120"/>
              </a:rPr>
              <a:t>L'enfant déclare la dépendance sans version</a:t>
            </a:r>
            <a:endParaRPr lang="en-US" sz="1450" dirty="0"/>
          </a:p>
        </p:txBody>
      </p:sp>
      <p:sp>
        <p:nvSpPr>
          <p:cNvPr id="14" name="Shape 8"/>
          <p:cNvSpPr/>
          <p:nvPr/>
        </p:nvSpPr>
        <p:spPr>
          <a:xfrm>
            <a:off x="640080" y="4764024"/>
            <a:ext cx="5943600" cy="868680"/>
          </a:xfrm>
          <a:prstGeom prst="roundRect">
            <a:avLst>
              <a:gd name="adj" fmla="val 6316"/>
            </a:avLst>
          </a:prstGeom>
          <a:solidFill>
            <a:srgbClr val="F4F6FA"/>
          </a:solidFill>
          <a:ln/>
          <a:effectLst>
            <a:outerShdw sx="100000" sy="100000" kx="0" ky="0" algn="bl" rotWithShape="0" blurRad="88900" dist="25400" dir="5400000">
              <a:srgbClr val="000000">
                <a:alpha val="13000"/>
              </a:srgbClr>
            </a:outerShdw>
          </a:effectLst>
        </p:spPr>
      </p:sp>
      <p:pic>
        <p:nvPicPr>
          <p:cNvPr id="15" name="Image 4" descr="preencoded.png">    </p:cNvPr>
          <p:cNvPicPr>
            <a:picLocks noChangeAspect="1"/>
          </p:cNvPicPr>
          <p:nvPr/>
        </p:nvPicPr>
        <p:blipFill>
          <a:blip r:embed="rId5"/>
          <a:stretch>
            <a:fillRect/>
          </a:stretch>
        </p:blipFill>
        <p:spPr>
          <a:xfrm>
            <a:off x="914400" y="5010912"/>
            <a:ext cx="384048" cy="384048"/>
          </a:xfrm>
          <a:prstGeom prst="rect">
            <a:avLst/>
          </a:prstGeom>
        </p:spPr>
      </p:pic>
      <p:sp>
        <p:nvSpPr>
          <p:cNvPr id="16" name="Text 9"/>
          <p:cNvSpPr/>
          <p:nvPr/>
        </p:nvSpPr>
        <p:spPr>
          <a:xfrm>
            <a:off x="1508760" y="4764024"/>
            <a:ext cx="4937760" cy="868680"/>
          </a:xfrm>
          <a:prstGeom prst="rect">
            <a:avLst/>
          </a:prstGeom>
          <a:noFill/>
          <a:ln/>
        </p:spPr>
        <p:txBody>
          <a:bodyPr wrap="square" lIns="0" tIns="0" rIns="0" bIns="0" rtlCol="0" anchor="ctr"/>
          <a:lstStyle/>
          <a:p>
            <a:pPr algn="l" indent="0" marL="0">
              <a:buNone/>
            </a:pPr>
            <a:r>
              <a:rPr lang="en-US" sz="1450" dirty="0">
                <a:solidFill>
                  <a:srgbClr val="1E2433"/>
                </a:solidFill>
                <a:latin typeface="Calibri" pitchFamily="34" charset="0"/>
                <a:ea typeface="Calibri" pitchFamily="34" charset="-122"/>
                <a:cs typeface="Calibri" pitchFamily="34" charset="-120"/>
              </a:rPr>
              <a:t>Garantit convergence et cohérence sécurité</a:t>
            </a:r>
            <a:endParaRPr lang="en-US" sz="1450" dirty="0"/>
          </a:p>
        </p:txBody>
      </p:sp>
      <p:sp>
        <p:nvSpPr>
          <p:cNvPr id="17" name="Shape 10"/>
          <p:cNvSpPr/>
          <p:nvPr/>
        </p:nvSpPr>
        <p:spPr>
          <a:xfrm>
            <a:off x="6858000" y="1691640"/>
            <a:ext cx="4663440" cy="4023360"/>
          </a:xfrm>
          <a:prstGeom prst="roundRect">
            <a:avLst>
              <a:gd name="adj" fmla="val 1591"/>
            </a:avLst>
          </a:prstGeom>
          <a:solidFill>
            <a:srgbClr val="13205A"/>
          </a:solidFill>
          <a:ln/>
          <a:effectLst>
            <a:outerShdw sx="100000" sy="100000" kx="0" ky="0" algn="bl" rotWithShape="0" blurRad="88900" dist="25400" dir="5400000">
              <a:srgbClr val="000000">
                <a:alpha val="13000"/>
              </a:srgbClr>
            </a:outerShdw>
          </a:effectLst>
        </p:spPr>
      </p:sp>
      <p:sp>
        <p:nvSpPr>
          <p:cNvPr id="18" name="Text 11"/>
          <p:cNvSpPr/>
          <p:nvPr/>
        </p:nvSpPr>
        <p:spPr>
          <a:xfrm>
            <a:off x="7132320" y="1874520"/>
            <a:ext cx="4206240" cy="320040"/>
          </a:xfrm>
          <a:prstGeom prst="rect">
            <a:avLst/>
          </a:prstGeom>
          <a:noFill/>
          <a:ln/>
        </p:spPr>
        <p:txBody>
          <a:bodyPr wrap="square" lIns="0" tIns="0" rIns="0" bIns="0" rtlCol="0" anchor="ctr"/>
          <a:lstStyle/>
          <a:p>
            <a:pPr algn="l" indent="0" marL="0">
              <a:buNone/>
            </a:pPr>
            <a:r>
              <a:rPr lang="en-US" sz="1200" b="1" dirty="0">
                <a:solidFill>
                  <a:srgbClr val="3FA535"/>
                </a:solidFill>
                <a:latin typeface="Calibri" pitchFamily="34" charset="0"/>
                <a:ea typeface="Calibri" pitchFamily="34" charset="-122"/>
                <a:cs typeface="Calibri" pitchFamily="34" charset="-120"/>
              </a:rPr>
              <a:t>L'enfant : aucune version</a:t>
            </a:r>
            <a:endParaRPr lang="en-US" sz="1200" dirty="0"/>
          </a:p>
        </p:txBody>
      </p:sp>
      <p:sp>
        <p:nvSpPr>
          <p:cNvPr id="19" name="Text 12"/>
          <p:cNvSpPr/>
          <p:nvPr/>
        </p:nvSpPr>
        <p:spPr>
          <a:xfrm>
            <a:off x="7132320" y="2286000"/>
            <a:ext cx="4206240" cy="3291840"/>
          </a:xfrm>
          <a:prstGeom prst="rect">
            <a:avLst/>
          </a:prstGeom>
          <a:noFill/>
          <a:ln/>
        </p:spPr>
        <p:txBody>
          <a:bodyPr wrap="square" lIns="0" tIns="0" rIns="0" bIns="0" rtlCol="0" anchor="t"/>
          <a:lstStyle/>
          <a:p>
            <a:pPr algn="l"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&lt;dependency&gt;</a:t>
            </a:r>
            <a:endParaRPr lang="en-US" sz="1250" dirty="0"/>
          </a:p>
          <a:p>
            <a:pPr algn="l" indent="0" marL="0">
              <a:lnSpc>
                <a:spcPct val="105000"/>
              </a:lnSpc>
              <a:buNone/>
            </a:pPr>
            <a:r>
              <a:rPr lang="en-US" sz="1250" dirty="0">
                <a:solidFill>
                  <a:srgbClr val="E6ECF7"/>
                </a:solidFill>
                <a:latin typeface="Courier New" pitchFamily="34" charset="0"/>
                <a:ea typeface="Courier New" pitchFamily="34" charset="-122"/>
                <a:cs typeface="Courier New" pitchFamily="34" charset="-120"/>
              </a:rPr>
              <a:t>  &lt;groupId&gt;org.springframework</a:t>
            </a:r>
            <a:endParaRPr lang="en-US" sz="1250" dirty="0"/>
          </a:p>
          <a:p>
            <a:pPr algn="l" indent="0" marL="0">
              <a:lnSpc>
                <a:spcPct val="105000"/>
              </a:lnSpc>
              <a:buNone/>
            </a:pPr>
            <a:r>
              <a:rPr lang="en-US" sz="1250" dirty="0">
                <a:solidFill>
                  <a:srgbClr val="E6ECF7"/>
                </a:solidFill>
                <a:latin typeface="Courier New" pitchFamily="34" charset="0"/>
                <a:ea typeface="Courier New" pitchFamily="34" charset="-122"/>
                <a:cs typeface="Courier New" pitchFamily="34" charset="-120"/>
              </a:rPr>
              <a:t>          .security&lt;/groupId&gt;</a:t>
            </a:r>
            <a:endParaRPr lang="en-US" sz="1250" dirty="0"/>
          </a:p>
          <a:p>
            <a:pPr algn="l" indent="0" marL="0">
              <a:lnSpc>
                <a:spcPct val="105000"/>
              </a:lnSpc>
              <a:buNone/>
            </a:pPr>
            <a:r>
              <a:rPr lang="en-US" sz="1250" dirty="0">
                <a:solidFill>
                  <a:srgbClr val="E6ECF7"/>
                </a:solidFill>
                <a:latin typeface="Courier New" pitchFamily="34" charset="0"/>
                <a:ea typeface="Courier New" pitchFamily="34" charset="-122"/>
                <a:cs typeface="Courier New" pitchFamily="34" charset="-120"/>
              </a:rPr>
              <a:t>  &lt;artifactId&gt;spring-security</a:t>
            </a:r>
            <a:endParaRPr lang="en-US" sz="1250" dirty="0"/>
          </a:p>
          <a:p>
            <a:pPr algn="l" indent="0" marL="0">
              <a:lnSpc>
                <a:spcPct val="105000"/>
              </a:lnSpc>
              <a:buNone/>
            </a:pPr>
            <a:r>
              <a:rPr lang="en-US" sz="1250" dirty="0">
                <a:solidFill>
                  <a:srgbClr val="E6ECF7"/>
                </a:solidFill>
                <a:latin typeface="Courier New" pitchFamily="34" charset="0"/>
                <a:ea typeface="Courier New" pitchFamily="34" charset="-122"/>
                <a:cs typeface="Courier New" pitchFamily="34" charset="-120"/>
              </a:rPr>
              <a:t>          -core&lt;/artifactId&gt;</a:t>
            </a:r>
            <a:endParaRPr lang="en-US" sz="1250" dirty="0"/>
          </a:p>
          <a:p>
            <a:pPr algn="l" indent="0" marL="0">
              <a:lnSpc>
                <a:spcPct val="105000"/>
              </a:lnSpc>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algn="l"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&lt;/dependency&gt;</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7FD68A"/>
                </a:solidFill>
                <a:latin typeface="Courier New" pitchFamily="34" charset="0"/>
                <a:ea typeface="Courier New" pitchFamily="34" charset="-122"/>
                <a:cs typeface="Courier New" pitchFamily="34" charset="-120"/>
              </a:rPr>
              <a:t>// pas de &lt;version&gt; → fixée</a:t>
            </a:r>
            <a:endParaRPr lang="en-US" sz="1250" dirty="0"/>
          </a:p>
          <a:p>
            <a:pPr algn="l" indent="0" marL="0">
              <a:lnSpc>
                <a:spcPct val="105000"/>
              </a:lnSpc>
              <a:buNone/>
            </a:pPr>
            <a:r>
              <a:rPr lang="en-US" sz="1250" dirty="0">
                <a:solidFill>
                  <a:srgbClr val="7FD68A"/>
                </a:solidFill>
                <a:latin typeface="Courier New" pitchFamily="34" charset="0"/>
                <a:ea typeface="Courier New" pitchFamily="34" charset="-122"/>
                <a:cs typeface="Courier New" pitchFamily="34" charset="-120"/>
              </a:rPr>
              <a:t>//    par le dependencyManagement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Plugin Management</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CONFIG CENTRALISÉE ≠ EXÉCUTION</a:t>
            </a:r>
            <a:endParaRPr lang="en-US" sz="1100" dirty="0"/>
          </a:p>
        </p:txBody>
      </p:sp>
      <p:sp>
        <p:nvSpPr>
          <p:cNvPr id="5" name="Shape 2"/>
          <p:cNvSpPr/>
          <p:nvPr/>
        </p:nvSpPr>
        <p:spPr>
          <a:xfrm>
            <a:off x="640080" y="1645920"/>
            <a:ext cx="5349240" cy="1417320"/>
          </a:xfrm>
          <a:prstGeom prst="roundRect">
            <a:avLst>
              <a:gd name="adj" fmla="val 4516"/>
            </a:avLst>
          </a:prstGeom>
          <a:solidFill>
            <a:srgbClr val="F4F6FA"/>
          </a:solidFill>
          <a:ln/>
          <a:effectLst>
            <a:outerShdw sx="100000" sy="100000" kx="0" ky="0" algn="bl" rotWithShape="0" blurRad="88900" dist="25400" dir="5400000">
              <a:srgbClr val="000000">
                <a:alpha val="13000"/>
              </a:srgbClr>
            </a:outerShdw>
          </a:effectLst>
        </p:spPr>
      </p:sp>
      <p:sp>
        <p:nvSpPr>
          <p:cNvPr id="6" name="Text 3"/>
          <p:cNvSpPr/>
          <p:nvPr/>
        </p:nvSpPr>
        <p:spPr>
          <a:xfrm>
            <a:off x="914400" y="1828800"/>
            <a:ext cx="4846320" cy="365760"/>
          </a:xfrm>
          <a:prstGeom prst="rect">
            <a:avLst/>
          </a:prstGeom>
          <a:noFill/>
          <a:ln/>
        </p:spPr>
        <p:txBody>
          <a:bodyPr wrap="square" lIns="0" tIns="0" rIns="0" bIns="0" rtlCol="0" anchor="ctr"/>
          <a:lstStyle/>
          <a:p>
            <a:pPr indent="0" marL="0">
              <a:buNone/>
            </a:pPr>
            <a:r>
              <a:rPr lang="en-US" sz="1500" b="1" dirty="0">
                <a:solidFill>
                  <a:srgbClr val="1B2A6B"/>
                </a:solidFill>
                <a:latin typeface="Courier New" pitchFamily="34" charset="0"/>
                <a:ea typeface="Courier New" pitchFamily="34" charset="-122"/>
                <a:cs typeface="Courier New" pitchFamily="34" charset="-120"/>
              </a:rPr>
              <a:t>pluginManagement</a:t>
            </a:r>
            <a:endParaRPr lang="en-US" sz="1500" dirty="0"/>
          </a:p>
        </p:txBody>
      </p:sp>
      <p:sp>
        <p:nvSpPr>
          <p:cNvPr id="7" name="Text 4"/>
          <p:cNvSpPr/>
          <p:nvPr/>
        </p:nvSpPr>
        <p:spPr>
          <a:xfrm>
            <a:off x="914400" y="2240280"/>
            <a:ext cx="4846320" cy="731520"/>
          </a:xfrm>
          <a:prstGeom prst="rect">
            <a:avLst/>
          </a:prstGeom>
          <a:noFill/>
          <a:ln/>
        </p:spPr>
        <p:txBody>
          <a:bodyPr wrap="square" lIns="0" tIns="0" rIns="0" bIns="0" rtlCol="0" anchor="t"/>
          <a:lstStyle/>
          <a:p>
            <a:pPr indent="0" marL="0">
              <a:buNone/>
            </a:pPr>
            <a:r>
              <a:rPr lang="en-US" sz="1350" dirty="0">
                <a:solidFill>
                  <a:srgbClr val="1E2433"/>
                </a:solidFill>
                <a:latin typeface="Calibri" pitchFamily="34" charset="0"/>
                <a:ea typeface="Calibri" pitchFamily="34" charset="-122"/>
                <a:cs typeface="Calibri" pitchFamily="34" charset="-120"/>
              </a:rPr>
              <a:t>Centralise versions + config. N'exécute rien. L'enfant active le plugin sans gérer sa version.</a:t>
            </a:r>
            <a:endParaRPr lang="en-US" sz="1350" dirty="0"/>
          </a:p>
        </p:txBody>
      </p:sp>
      <p:sp>
        <p:nvSpPr>
          <p:cNvPr id="8" name="Shape 5"/>
          <p:cNvSpPr/>
          <p:nvPr/>
        </p:nvSpPr>
        <p:spPr>
          <a:xfrm>
            <a:off x="6172200" y="1645920"/>
            <a:ext cx="5349240" cy="1417320"/>
          </a:xfrm>
          <a:prstGeom prst="roundRect">
            <a:avLst>
              <a:gd name="adj" fmla="val 4516"/>
            </a:avLst>
          </a:prstGeom>
          <a:solidFill>
            <a:srgbClr val="EEF7EC"/>
          </a:solidFill>
          <a:ln/>
          <a:effectLst>
            <a:outerShdw sx="100000" sy="100000" kx="0" ky="0" algn="bl" rotWithShape="0" blurRad="88900" dist="25400" dir="5400000">
              <a:srgbClr val="000000">
                <a:alpha val="13000"/>
              </a:srgbClr>
            </a:outerShdw>
          </a:effectLst>
        </p:spPr>
      </p:sp>
      <p:sp>
        <p:nvSpPr>
          <p:cNvPr id="9" name="Text 6"/>
          <p:cNvSpPr/>
          <p:nvPr/>
        </p:nvSpPr>
        <p:spPr>
          <a:xfrm>
            <a:off x="6446520" y="1828800"/>
            <a:ext cx="4846320" cy="365760"/>
          </a:xfrm>
          <a:prstGeom prst="rect">
            <a:avLst/>
          </a:prstGeom>
          <a:noFill/>
          <a:ln/>
        </p:spPr>
        <p:txBody>
          <a:bodyPr wrap="square" lIns="0" tIns="0" rIns="0" bIns="0" rtlCol="0" anchor="ctr"/>
          <a:lstStyle/>
          <a:p>
            <a:pPr indent="0" marL="0">
              <a:buNone/>
            </a:pPr>
            <a:r>
              <a:rPr lang="en-US" sz="1500" b="1" dirty="0">
                <a:solidFill>
                  <a:srgbClr val="3FA535"/>
                </a:solidFill>
                <a:latin typeface="Calibri" pitchFamily="34" charset="0"/>
                <a:ea typeface="Calibri" pitchFamily="34" charset="-122"/>
                <a:cs typeface="Calibri" pitchFamily="34" charset="-120"/>
              </a:rPr>
              <a:t>Plugins actifs dans le parent</a:t>
            </a:r>
            <a:endParaRPr lang="en-US" sz="1500" dirty="0"/>
          </a:p>
        </p:txBody>
      </p:sp>
      <p:sp>
        <p:nvSpPr>
          <p:cNvPr id="10" name="Text 7"/>
          <p:cNvSpPr/>
          <p:nvPr/>
        </p:nvSpPr>
        <p:spPr>
          <a:xfrm>
            <a:off x="6446520" y="2240280"/>
            <a:ext cx="4846320" cy="731520"/>
          </a:xfrm>
          <a:prstGeom prst="rect">
            <a:avLst/>
          </a:prstGeom>
          <a:noFill/>
          <a:ln/>
        </p:spPr>
        <p:txBody>
          <a:bodyPr wrap="square" lIns="0" tIns="0" rIns="0" bIns="0" rtlCol="0" anchor="t"/>
          <a:lstStyle/>
          <a:p>
            <a:pPr indent="0" marL="0">
              <a:buNone/>
            </a:pPr>
            <a:r>
              <a:rPr lang="en-US" sz="1350" dirty="0">
                <a:solidFill>
                  <a:srgbClr val="1E2433"/>
                </a:solidFill>
                <a:latin typeface="Calibri" pitchFamily="34" charset="0"/>
                <a:ea typeface="Calibri" pitchFamily="34" charset="-122"/>
                <a:cs typeface="Calibri" pitchFamily="34" charset="-120"/>
              </a:rPr>
              <a:t>Certains tournent globalement pour toute la fleet, sans action de l'enfant : Enforcer · JaCoCo · SBOM.</a:t>
            </a:r>
            <a:endParaRPr lang="en-US" sz="1350" dirty="0"/>
          </a:p>
        </p:txBody>
      </p:sp>
      <p:sp>
        <p:nvSpPr>
          <p:cNvPr id="11" name="Text 8"/>
          <p:cNvSpPr/>
          <p:nvPr/>
        </p:nvSpPr>
        <p:spPr>
          <a:xfrm>
            <a:off x="640080" y="3383280"/>
            <a:ext cx="10881360" cy="320040"/>
          </a:xfrm>
          <a:prstGeom prst="rect">
            <a:avLst/>
          </a:prstGeom>
          <a:noFill/>
          <a:ln/>
        </p:spPr>
        <p:txBody>
          <a:bodyPr wrap="square" lIns="0" tIns="0" rIns="0" bIns="0" rtlCol="0" anchor="ctr"/>
          <a:lstStyle/>
          <a:p>
            <a:pPr indent="0" marL="0">
              <a:buNone/>
            </a:pPr>
            <a:r>
              <a:rPr lang="en-US" sz="1300" b="1" spc="100" kern="0" dirty="0">
                <a:solidFill>
                  <a:srgbClr val="5B6473"/>
                </a:solidFill>
                <a:latin typeface="Calibri" pitchFamily="34" charset="0"/>
                <a:ea typeface="Calibri" pitchFamily="34" charset="-122"/>
                <a:cs typeface="Calibri" pitchFamily="34" charset="-120"/>
              </a:rPr>
              <a:t>Plugins gérés par le parent</a:t>
            </a:r>
            <a:endParaRPr lang="en-US" sz="1300" dirty="0"/>
          </a:p>
        </p:txBody>
      </p:sp>
      <p:sp>
        <p:nvSpPr>
          <p:cNvPr id="12" name="Shape 9"/>
          <p:cNvSpPr/>
          <p:nvPr/>
        </p:nvSpPr>
        <p:spPr>
          <a:xfrm>
            <a:off x="640080" y="379476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3" name="Text 10"/>
          <p:cNvSpPr/>
          <p:nvPr/>
        </p:nvSpPr>
        <p:spPr>
          <a:xfrm>
            <a:off x="640080" y="379476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compiler</a:t>
            </a:r>
            <a:endParaRPr lang="en-US" sz="1250" dirty="0"/>
          </a:p>
        </p:txBody>
      </p:sp>
      <p:sp>
        <p:nvSpPr>
          <p:cNvPr id="14" name="Shape 11"/>
          <p:cNvSpPr/>
          <p:nvPr/>
        </p:nvSpPr>
        <p:spPr>
          <a:xfrm>
            <a:off x="3447288" y="379476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5" name="Text 12"/>
          <p:cNvSpPr/>
          <p:nvPr/>
        </p:nvSpPr>
        <p:spPr>
          <a:xfrm>
            <a:off x="3447288" y="379476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surefire</a:t>
            </a:r>
            <a:endParaRPr lang="en-US" sz="1250" dirty="0"/>
          </a:p>
        </p:txBody>
      </p:sp>
      <p:sp>
        <p:nvSpPr>
          <p:cNvPr id="16" name="Shape 13"/>
          <p:cNvSpPr/>
          <p:nvPr/>
        </p:nvSpPr>
        <p:spPr>
          <a:xfrm>
            <a:off x="6254496" y="379476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7" name="Text 14"/>
          <p:cNvSpPr/>
          <p:nvPr/>
        </p:nvSpPr>
        <p:spPr>
          <a:xfrm>
            <a:off x="6254496" y="379476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failsafe</a:t>
            </a:r>
            <a:endParaRPr lang="en-US" sz="1250" dirty="0"/>
          </a:p>
        </p:txBody>
      </p:sp>
      <p:sp>
        <p:nvSpPr>
          <p:cNvPr id="18" name="Shape 15"/>
          <p:cNvSpPr/>
          <p:nvPr/>
        </p:nvSpPr>
        <p:spPr>
          <a:xfrm>
            <a:off x="9061704" y="379476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19" name="Text 16"/>
          <p:cNvSpPr/>
          <p:nvPr/>
        </p:nvSpPr>
        <p:spPr>
          <a:xfrm>
            <a:off x="9061704" y="379476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spring-boot</a:t>
            </a:r>
            <a:endParaRPr lang="en-US" sz="1250" dirty="0"/>
          </a:p>
        </p:txBody>
      </p:sp>
      <p:sp>
        <p:nvSpPr>
          <p:cNvPr id="20" name="Shape 17"/>
          <p:cNvSpPr/>
          <p:nvPr/>
        </p:nvSpPr>
        <p:spPr>
          <a:xfrm>
            <a:off x="640080" y="461772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1" name="Text 18"/>
          <p:cNvSpPr/>
          <p:nvPr/>
        </p:nvSpPr>
        <p:spPr>
          <a:xfrm>
            <a:off x="640080" y="461772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enforcer</a:t>
            </a:r>
            <a:endParaRPr lang="en-US" sz="1250" dirty="0"/>
          </a:p>
        </p:txBody>
      </p:sp>
      <p:sp>
        <p:nvSpPr>
          <p:cNvPr id="22" name="Shape 19"/>
          <p:cNvSpPr/>
          <p:nvPr/>
        </p:nvSpPr>
        <p:spPr>
          <a:xfrm>
            <a:off x="3447288" y="461772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3" name="Text 20"/>
          <p:cNvSpPr/>
          <p:nvPr/>
        </p:nvSpPr>
        <p:spPr>
          <a:xfrm>
            <a:off x="3447288" y="461772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jacoco</a:t>
            </a:r>
            <a:endParaRPr lang="en-US" sz="1250" dirty="0"/>
          </a:p>
        </p:txBody>
      </p:sp>
      <p:sp>
        <p:nvSpPr>
          <p:cNvPr id="24" name="Shape 21"/>
          <p:cNvSpPr/>
          <p:nvPr/>
        </p:nvSpPr>
        <p:spPr>
          <a:xfrm>
            <a:off x="6254496" y="461772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5" name="Text 22"/>
          <p:cNvSpPr/>
          <p:nvPr/>
        </p:nvSpPr>
        <p:spPr>
          <a:xfrm>
            <a:off x="6254496" y="461772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cyclonedx / SBOM</a:t>
            </a:r>
            <a:endParaRPr lang="en-US" sz="1250" dirty="0"/>
          </a:p>
        </p:txBody>
      </p:sp>
      <p:sp>
        <p:nvSpPr>
          <p:cNvPr id="26" name="Shape 23"/>
          <p:cNvSpPr/>
          <p:nvPr/>
        </p:nvSpPr>
        <p:spPr>
          <a:xfrm>
            <a:off x="9061704" y="4617720"/>
            <a:ext cx="2606040" cy="640080"/>
          </a:xfrm>
          <a:prstGeom prst="roundRect">
            <a:avLst>
              <a:gd name="adj" fmla="val 7143"/>
            </a:avLst>
          </a:prstGeom>
          <a:solidFill>
            <a:srgbClr val="FFFFFF"/>
          </a:solidFill>
          <a:ln w="12700">
            <a:solidFill>
              <a:srgbClr val="DCE3F0"/>
            </a:solidFill>
            <a:prstDash val="solid"/>
          </a:ln>
          <a:effectLst>
            <a:outerShdw sx="100000" sy="100000" kx="0" ky="0" algn="bl" rotWithShape="0" blurRad="88900" dist="25400" dir="16200000">
              <a:srgbClr val="000000">
                <a:alpha val="13000"/>
              </a:srgbClr>
            </a:outerShdw>
          </a:effectLst>
        </p:spPr>
      </p:sp>
      <p:sp>
        <p:nvSpPr>
          <p:cNvPr id="27" name="Text 24"/>
          <p:cNvSpPr/>
          <p:nvPr/>
        </p:nvSpPr>
        <p:spPr>
          <a:xfrm>
            <a:off x="9061704" y="4617720"/>
            <a:ext cx="2606040" cy="640080"/>
          </a:xfrm>
          <a:prstGeom prst="rect">
            <a:avLst/>
          </a:prstGeom>
          <a:noFill/>
          <a:ln/>
        </p:spPr>
        <p:txBody>
          <a:bodyPr wrap="square" lIns="0" tIns="0" rIns="0" bIns="0" rtlCol="0" anchor="ctr"/>
          <a:lstStyle/>
          <a:p>
            <a:pPr algn="ctr" indent="0" marL="0">
              <a:buNone/>
            </a:pPr>
            <a:r>
              <a:rPr lang="en-US" sz="1250" b="1" dirty="0">
                <a:solidFill>
                  <a:srgbClr val="1B2A6B"/>
                </a:solidFill>
                <a:latin typeface="Courier New" pitchFamily="34" charset="0"/>
                <a:ea typeface="Courier New" pitchFamily="34" charset="-122"/>
                <a:cs typeface="Courier New" pitchFamily="34" charset="-120"/>
              </a:rPr>
              <a:t>git-commit-id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Règles Enforcer — garde-fous (1/2)</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COHÉRENCE DU BUILD</a:t>
            </a:r>
            <a:endParaRPr lang="en-US" sz="1100" dirty="0"/>
          </a:p>
        </p:txBody>
      </p:sp>
      <p:sp>
        <p:nvSpPr>
          <p:cNvPr id="5" name="Shape 2"/>
          <p:cNvSpPr/>
          <p:nvPr/>
        </p:nvSpPr>
        <p:spPr>
          <a:xfrm>
            <a:off x="640080" y="1645920"/>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6" name="Text 3"/>
          <p:cNvSpPr/>
          <p:nvPr/>
        </p:nvSpPr>
        <p:spPr>
          <a:xfrm>
            <a:off x="868680" y="1645920"/>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requireMavenVersion</a:t>
            </a:r>
            <a:endParaRPr lang="en-US" sz="1300" dirty="0"/>
          </a:p>
        </p:txBody>
      </p:sp>
      <p:sp>
        <p:nvSpPr>
          <p:cNvPr id="7" name="Text 4"/>
          <p:cNvSpPr/>
          <p:nvPr/>
        </p:nvSpPr>
        <p:spPr>
          <a:xfrm>
            <a:off x="4800600" y="1645920"/>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Maven ≥ 3.9.0</a:t>
            </a:r>
            <a:endParaRPr lang="en-US" sz="1350" dirty="0"/>
          </a:p>
        </p:txBody>
      </p:sp>
      <p:sp>
        <p:nvSpPr>
          <p:cNvPr id="8" name="Shape 5"/>
          <p:cNvSpPr/>
          <p:nvPr/>
        </p:nvSpPr>
        <p:spPr>
          <a:xfrm>
            <a:off x="640080" y="2478024"/>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9" name="Text 6"/>
          <p:cNvSpPr/>
          <p:nvPr/>
        </p:nvSpPr>
        <p:spPr>
          <a:xfrm>
            <a:off x="868680" y="2478024"/>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requireJavaVersion</a:t>
            </a:r>
            <a:endParaRPr lang="en-US" sz="1300" dirty="0"/>
          </a:p>
        </p:txBody>
      </p:sp>
      <p:sp>
        <p:nvSpPr>
          <p:cNvPr id="10" name="Text 7"/>
          <p:cNvSpPr/>
          <p:nvPr/>
        </p:nvSpPr>
        <p:spPr>
          <a:xfrm>
            <a:off x="4800600" y="2478024"/>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Java ≥ 21 (aligné fleet 21/25)</a:t>
            </a:r>
            <a:endParaRPr lang="en-US" sz="1350" dirty="0"/>
          </a:p>
        </p:txBody>
      </p:sp>
      <p:sp>
        <p:nvSpPr>
          <p:cNvPr id="11" name="Shape 8"/>
          <p:cNvSpPr/>
          <p:nvPr/>
        </p:nvSpPr>
        <p:spPr>
          <a:xfrm>
            <a:off x="640080" y="3310128"/>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12" name="Text 9"/>
          <p:cNvSpPr/>
          <p:nvPr/>
        </p:nvSpPr>
        <p:spPr>
          <a:xfrm>
            <a:off x="868680" y="3310128"/>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dependencyConvergence</a:t>
            </a:r>
            <a:endParaRPr lang="en-US" sz="1300" dirty="0"/>
          </a:p>
        </p:txBody>
      </p:sp>
      <p:sp>
        <p:nvSpPr>
          <p:cNvPr id="13" name="Text 10"/>
          <p:cNvSpPr/>
          <p:nvPr/>
        </p:nvSpPr>
        <p:spPr>
          <a:xfrm>
            <a:off x="4800600" y="3310128"/>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Interdit plusieurs versions transitives d'un même artifact</a:t>
            </a:r>
            <a:endParaRPr lang="en-US" sz="1350" dirty="0"/>
          </a:p>
        </p:txBody>
      </p:sp>
      <p:sp>
        <p:nvSpPr>
          <p:cNvPr id="14" name="Shape 11"/>
          <p:cNvSpPr/>
          <p:nvPr/>
        </p:nvSpPr>
        <p:spPr>
          <a:xfrm>
            <a:off x="640080" y="4142232"/>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15" name="Text 12"/>
          <p:cNvSpPr/>
          <p:nvPr/>
        </p:nvSpPr>
        <p:spPr>
          <a:xfrm>
            <a:off x="868680" y="4142232"/>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banDuplicatePomDependencyVersions</a:t>
            </a:r>
            <a:endParaRPr lang="en-US" sz="1300" dirty="0"/>
          </a:p>
        </p:txBody>
      </p:sp>
      <p:sp>
        <p:nvSpPr>
          <p:cNvPr id="16" name="Text 13"/>
          <p:cNvSpPr/>
          <p:nvPr/>
        </p:nvSpPr>
        <p:spPr>
          <a:xfrm>
            <a:off x="4800600" y="4142232"/>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Interdit les doublons de dépendances dans un même POM</a:t>
            </a:r>
            <a:endParaRPr lang="en-US" sz="1350" dirty="0"/>
          </a:p>
        </p:txBody>
      </p:sp>
      <p:sp>
        <p:nvSpPr>
          <p:cNvPr id="17" name="Shape 14"/>
          <p:cNvSpPr/>
          <p:nvPr/>
        </p:nvSpPr>
        <p:spPr>
          <a:xfrm>
            <a:off x="640080" y="4974336"/>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18" name="Text 15"/>
          <p:cNvSpPr/>
          <p:nvPr/>
        </p:nvSpPr>
        <p:spPr>
          <a:xfrm>
            <a:off x="868680" y="4974336"/>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requireUpperBoundDeps</a:t>
            </a:r>
            <a:endParaRPr lang="en-US" sz="1300" dirty="0"/>
          </a:p>
        </p:txBody>
      </p:sp>
      <p:sp>
        <p:nvSpPr>
          <p:cNvPr id="19" name="Text 16"/>
          <p:cNvSpPr/>
          <p:nvPr/>
        </p:nvSpPr>
        <p:spPr>
          <a:xfrm>
            <a:off x="4800600" y="4974336"/>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Force la version la plus haute cohérente — évite les régressions transitives</a:t>
            </a:r>
            <a:endParaRPr lang="en-US" sz="1350" dirty="0"/>
          </a:p>
        </p:txBody>
      </p:sp>
      <p:sp>
        <p:nvSpPr>
          <p:cNvPr id="20" name="Shape 17"/>
          <p:cNvSpPr/>
          <p:nvPr/>
        </p:nvSpPr>
        <p:spPr>
          <a:xfrm>
            <a:off x="640080" y="5806440"/>
            <a:ext cx="10881360" cy="713232"/>
          </a:xfrm>
          <a:prstGeom prst="roundRect">
            <a:avLst>
              <a:gd name="adj" fmla="val 6410"/>
            </a:avLst>
          </a:prstGeom>
          <a:solidFill>
            <a:srgbClr val="F4F6FA"/>
          </a:solidFill>
          <a:ln/>
          <a:effectLst>
            <a:outerShdw sx="100000" sy="100000" kx="0" ky="0" algn="bl" rotWithShape="0" blurRad="88900" dist="25400" dir="16200000">
              <a:srgbClr val="000000">
                <a:alpha val="13000"/>
              </a:srgbClr>
            </a:outerShdw>
          </a:effectLst>
        </p:spPr>
      </p:sp>
      <p:sp>
        <p:nvSpPr>
          <p:cNvPr id="21" name="Text 18"/>
          <p:cNvSpPr/>
          <p:nvPr/>
        </p:nvSpPr>
        <p:spPr>
          <a:xfrm>
            <a:off x="868680" y="5806440"/>
            <a:ext cx="3840480" cy="713232"/>
          </a:xfrm>
          <a:prstGeom prst="rect">
            <a:avLst/>
          </a:prstGeom>
          <a:noFill/>
          <a:ln/>
        </p:spPr>
        <p:txBody>
          <a:bodyPr wrap="square" lIns="0" tIns="0" rIns="0" bIns="0" rtlCol="0" anchor="ctr"/>
          <a:lstStyle/>
          <a:p>
            <a:pPr algn="l" indent="0" marL="0">
              <a:buNone/>
            </a:pPr>
            <a:r>
              <a:rPr lang="en-US" sz="1300" b="1" dirty="0">
                <a:solidFill>
                  <a:srgbClr val="1B2A6B"/>
                </a:solidFill>
                <a:latin typeface="Courier New" pitchFamily="34" charset="0"/>
                <a:ea typeface="Courier New" pitchFamily="34" charset="-122"/>
                <a:cs typeface="Courier New" pitchFamily="34" charset="-120"/>
              </a:rPr>
              <a:t>requireProperty</a:t>
            </a:r>
            <a:endParaRPr lang="en-US" sz="1300" dirty="0"/>
          </a:p>
        </p:txBody>
      </p:sp>
      <p:sp>
        <p:nvSpPr>
          <p:cNvPr id="22" name="Text 19"/>
          <p:cNvSpPr/>
          <p:nvPr/>
        </p:nvSpPr>
        <p:spPr>
          <a:xfrm>
            <a:off x="4800600" y="5806440"/>
            <a:ext cx="6492240" cy="713232"/>
          </a:xfrm>
          <a:prstGeom prst="rect">
            <a:avLst/>
          </a:prstGeom>
          <a:noFill/>
          <a:ln/>
        </p:spPr>
        <p:txBody>
          <a:bodyPr wrap="square" lIns="0" tIns="0" rIns="0" bIns="0" rtlCol="0" anchor="ctr"/>
          <a:lstStyle/>
          <a:p>
            <a:pPr algn="l" indent="0" marL="0">
              <a:buNone/>
            </a:pPr>
            <a:r>
              <a:rPr lang="en-US" sz="1350" dirty="0">
                <a:solidFill>
                  <a:srgbClr val="1E2433"/>
                </a:solidFill>
                <a:latin typeface="Calibri" pitchFamily="34" charset="0"/>
                <a:ea typeface="Calibri" pitchFamily="34" charset="-122"/>
                <a:cs typeface="Calibri" pitchFamily="34" charset="-120"/>
              </a:rPr>
              <a:t>project.build.sourceEncoding doit être UTF-8</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Règles Enforcer — garde-fous (2/2)</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LE GARDE-FOU CVE</a:t>
            </a:r>
            <a:endParaRPr lang="en-US" sz="1100" dirty="0"/>
          </a:p>
        </p:txBody>
      </p:sp>
      <p:sp>
        <p:nvSpPr>
          <p:cNvPr id="5" name="Shape 2"/>
          <p:cNvSpPr/>
          <p:nvPr/>
        </p:nvSpPr>
        <p:spPr>
          <a:xfrm>
            <a:off x="640080" y="1645920"/>
            <a:ext cx="10881360" cy="2788920"/>
          </a:xfrm>
          <a:prstGeom prst="roundRect">
            <a:avLst>
              <a:gd name="adj" fmla="val 2295"/>
            </a:avLst>
          </a:prstGeom>
          <a:solidFill>
            <a:srgbClr val="FBEEEC"/>
          </a:solidFill>
          <a:ln/>
          <a:effectLst>
            <a:outerShdw sx="100000" sy="100000" kx="0" ky="0" algn="bl" rotWithShape="0" blurRad="88900" dist="25400" dir="5400000">
              <a:srgbClr val="000000">
                <a:alpha val="13000"/>
              </a:srgbClr>
            </a:outerShdw>
          </a:effectLst>
        </p:spPr>
      </p:sp>
      <p:pic>
        <p:nvPicPr>
          <p:cNvPr id="6" name="Image 1" descr="preencoded.png">    </p:cNvPr>
          <p:cNvPicPr>
            <a:picLocks noChangeAspect="1"/>
          </p:cNvPicPr>
          <p:nvPr/>
        </p:nvPicPr>
        <p:blipFill>
          <a:blip r:embed="rId2"/>
          <a:stretch>
            <a:fillRect/>
          </a:stretch>
        </p:blipFill>
        <p:spPr>
          <a:xfrm>
            <a:off x="960120" y="1965960"/>
            <a:ext cx="502920" cy="502920"/>
          </a:xfrm>
          <a:prstGeom prst="rect">
            <a:avLst/>
          </a:prstGeom>
        </p:spPr>
      </p:pic>
      <p:sp>
        <p:nvSpPr>
          <p:cNvPr id="7" name="Text 3"/>
          <p:cNvSpPr/>
          <p:nvPr/>
        </p:nvSpPr>
        <p:spPr>
          <a:xfrm>
            <a:off x="1600200" y="1920240"/>
            <a:ext cx="9144000" cy="457200"/>
          </a:xfrm>
          <a:prstGeom prst="rect">
            <a:avLst/>
          </a:prstGeom>
          <a:noFill/>
          <a:ln/>
        </p:spPr>
        <p:txBody>
          <a:bodyPr wrap="square" lIns="0" tIns="0" rIns="0" bIns="0" rtlCol="0" anchor="ctr"/>
          <a:lstStyle/>
          <a:p>
            <a:pPr algn="l" indent="0" marL="0">
              <a:buNone/>
            </a:pPr>
            <a:r>
              <a:rPr lang="en-US" sz="1800" b="1" dirty="0">
                <a:solidFill>
                  <a:srgbClr val="C0392B"/>
                </a:solidFill>
                <a:latin typeface="Courier New" pitchFamily="34" charset="0"/>
                <a:ea typeface="Courier New" pitchFamily="34" charset="-122"/>
                <a:cs typeface="Courier New" pitchFamily="34" charset="-120"/>
              </a:rPr>
              <a:t>bannedDependencies</a:t>
            </a:r>
            <a:endParaRPr lang="en-US" sz="1800" dirty="0"/>
          </a:p>
        </p:txBody>
      </p:sp>
      <p:sp>
        <p:nvSpPr>
          <p:cNvPr id="8" name="Text 4"/>
          <p:cNvSpPr/>
          <p:nvPr/>
        </p:nvSpPr>
        <p:spPr>
          <a:xfrm>
            <a:off x="1600200" y="2395728"/>
            <a:ext cx="9601200" cy="411480"/>
          </a:xfrm>
          <a:prstGeom prst="rect">
            <a:avLst/>
          </a:prstGeom>
          <a:noFill/>
          <a:ln/>
        </p:spPr>
        <p:txBody>
          <a:bodyPr wrap="square" lIns="0" tIns="0" rIns="0" bIns="0" rtlCol="0" anchor="ctr"/>
          <a:lstStyle/>
          <a:p>
            <a:pPr algn="l" indent="0" marL="0">
              <a:buNone/>
            </a:pPr>
            <a:r>
              <a:rPr lang="en-US" sz="1350" i="1" dirty="0">
                <a:solidFill>
                  <a:srgbClr val="5B6473"/>
                </a:solidFill>
                <a:latin typeface="Calibri" pitchFamily="34" charset="0"/>
                <a:ea typeface="Calibri" pitchFamily="34" charset="-122"/>
                <a:cs typeface="Calibri" pitchFamily="34" charset="-120"/>
              </a:rPr>
              <a:t>Blocage des libs interdites ou vulnérables — la liste est alignée sur les CVE remontées par JFrog XRAY</a:t>
            </a:r>
            <a:endParaRPr lang="en-US" sz="1350" dirty="0"/>
          </a:p>
        </p:txBody>
      </p:sp>
      <p:sp>
        <p:nvSpPr>
          <p:cNvPr id="9" name="Text 5"/>
          <p:cNvSpPr/>
          <p:nvPr/>
        </p:nvSpPr>
        <p:spPr>
          <a:xfrm>
            <a:off x="1600200" y="2880360"/>
            <a:ext cx="9601200" cy="1005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433"/>
                </a:solidFill>
                <a:latin typeface="Courier New" pitchFamily="34" charset="0"/>
                <a:ea typeface="Courier New" pitchFamily="34" charset="-122"/>
                <a:cs typeface="Courier New" pitchFamily="34" charset="-120"/>
              </a:rPr>
              <a:t>log4j:log4j</a:t>
            </a:r>
            <a:endParaRPr lang="en-US" sz="1300" dirty="0"/>
          </a:p>
          <a:p>
            <a:pPr marL="177800" indent="-177800">
              <a:spcAft>
                <a:spcPts val="600"/>
              </a:spcAft>
              <a:buSzPct val="100000"/>
              <a:buChar char="•"/>
            </a:pPr>
            <a:r>
              <a:rPr lang="en-US" sz="1300" dirty="0">
                <a:solidFill>
                  <a:srgbClr val="1E2433"/>
                </a:solidFill>
                <a:latin typeface="Courier New" pitchFamily="34" charset="0"/>
                <a:ea typeface="Courier New" pitchFamily="34" charset="-122"/>
                <a:cs typeface="Courier New" pitchFamily="34" charset="-120"/>
              </a:rPr>
              <a:t>log4j-core &lt; 2.17.2</a:t>
            </a:r>
            <a:endParaRPr lang="en-US" sz="1300" dirty="0"/>
          </a:p>
          <a:p>
            <a:pPr marL="177800" indent="-177800">
              <a:spcAft>
                <a:spcPts val="600"/>
              </a:spcAft>
              <a:buSzPct val="100000"/>
              <a:buChar char="•"/>
            </a:pPr>
            <a:r>
              <a:rPr lang="en-US" sz="1300" dirty="0">
                <a:solidFill>
                  <a:srgbClr val="1E2433"/>
                </a:solidFill>
                <a:latin typeface="Courier New" pitchFamily="34" charset="0"/>
                <a:ea typeface="Courier New" pitchFamily="34" charset="-122"/>
                <a:cs typeface="Courier New" pitchFamily="34" charset="-120"/>
              </a:rPr>
              <a:t>snakeyaml &lt; 2.0</a:t>
            </a:r>
            <a:endParaRPr lang="en-US" sz="1300" dirty="0"/>
          </a:p>
          <a:p>
            <a:pPr marL="177800" indent="-177800">
              <a:spcAft>
                <a:spcPts val="600"/>
              </a:spcAft>
              <a:buSzPct val="100000"/>
              <a:buChar char="•"/>
            </a:pPr>
            <a:r>
              <a:rPr lang="en-US" sz="1300" dirty="0">
                <a:solidFill>
                  <a:srgbClr val="1E2433"/>
                </a:solidFill>
                <a:latin typeface="Courier New" pitchFamily="34" charset="0"/>
                <a:ea typeface="Courier New" pitchFamily="34" charset="-122"/>
                <a:cs typeface="Courier New" pitchFamily="34" charset="-120"/>
              </a:rPr>
              <a:t>spring-boot &lt; 3.0.0</a:t>
            </a:r>
            <a:endParaRPr lang="en-US" sz="1300" dirty="0"/>
          </a:p>
          <a:p>
            <a:pPr marL="177800" indent="-177800">
              <a:spcAft>
                <a:spcPts val="600"/>
              </a:spcAft>
              <a:buSzPct val="100000"/>
              <a:buChar char="•"/>
            </a:pPr>
            <a:r>
              <a:rPr lang="en-US" sz="1300" dirty="0">
                <a:solidFill>
                  <a:srgbClr val="1E2433"/>
                </a:solidFill>
                <a:latin typeface="Courier New" pitchFamily="34" charset="0"/>
                <a:ea typeface="Courier New" pitchFamily="34" charset="-122"/>
                <a:cs typeface="Courier New" pitchFamily="34" charset="-120"/>
              </a:rPr>
              <a:t>junit-vintage-engine</a:t>
            </a:r>
            <a:endParaRPr lang="en-US" sz="1300" dirty="0"/>
          </a:p>
        </p:txBody>
      </p:sp>
      <p:sp>
        <p:nvSpPr>
          <p:cNvPr id="10" name="Shape 6"/>
          <p:cNvSpPr/>
          <p:nvPr/>
        </p:nvSpPr>
        <p:spPr>
          <a:xfrm>
            <a:off x="640080" y="4663440"/>
            <a:ext cx="10881360" cy="960120"/>
          </a:xfrm>
          <a:prstGeom prst="roundRect">
            <a:avLst>
              <a:gd name="adj" fmla="val 6667"/>
            </a:avLst>
          </a:prstGeom>
          <a:solidFill>
            <a:srgbClr val="1B2A6B"/>
          </a:solidFill>
          <a:ln/>
          <a:effectLst>
            <a:outerShdw sx="100000" sy="100000" kx="0" ky="0" algn="bl" rotWithShape="0" blurRad="88900" dist="25400" dir="5400000">
              <a:srgbClr val="000000">
                <a:alpha val="13000"/>
              </a:srgbClr>
            </a:outerShdw>
          </a:effectLst>
        </p:spPr>
      </p:sp>
      <p:pic>
        <p:nvPicPr>
          <p:cNvPr id="11" name="Image 2" descr="preencoded.png">    </p:cNvPr>
          <p:cNvPicPr>
            <a:picLocks noChangeAspect="1"/>
          </p:cNvPicPr>
          <p:nvPr/>
        </p:nvPicPr>
        <p:blipFill>
          <a:blip r:embed="rId3"/>
          <a:stretch>
            <a:fillRect/>
          </a:stretch>
        </p:blipFill>
        <p:spPr>
          <a:xfrm>
            <a:off x="960120" y="4910328"/>
            <a:ext cx="457200" cy="457200"/>
          </a:xfrm>
          <a:prstGeom prst="rect">
            <a:avLst/>
          </a:prstGeom>
        </p:spPr>
      </p:pic>
      <p:sp>
        <p:nvSpPr>
          <p:cNvPr id="12" name="Text 7"/>
          <p:cNvSpPr/>
          <p:nvPr/>
        </p:nvSpPr>
        <p:spPr>
          <a:xfrm>
            <a:off x="1600200" y="4663440"/>
            <a:ext cx="9784080" cy="9601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Fail-fast : zéro tolérance.  </a:t>
            </a:r>
            <a:pPr algn="l" indent="0" marL="0">
              <a:buNone/>
            </a:pPr>
            <a:r>
              <a:rPr lang="en-US" sz="1700" dirty="0">
                <a:solidFill>
                  <a:srgbClr val="CADCFC"/>
                </a:solidFill>
                <a:latin typeface="Calibri" pitchFamily="34" charset="0"/>
                <a:ea typeface="Calibri" pitchFamily="34" charset="-122"/>
                <a:cs typeface="Calibri" pitchFamily="34" charset="-120"/>
              </a:rPr>
              <a:t>Toute violation casse le build immédiatement.</a:t>
            </a:r>
            <a:endParaRPr lang="en-US" sz="1700" dirty="0"/>
          </a:p>
        </p:txBody>
      </p:sp>
      <p:sp>
        <p:nvSpPr>
          <p:cNvPr id="13" name="Text 8"/>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500" i="1" dirty="0">
                <a:solidFill>
                  <a:srgbClr val="5B6473"/>
                </a:solidFill>
                <a:latin typeface="Calibri" pitchFamily="34" charset="0"/>
                <a:ea typeface="Calibri" pitchFamily="34" charset="-122"/>
                <a:cs typeface="Calibri" pitchFamily="34" charset="-120"/>
              </a:rPr>
              <a:t>Une CVE bloquée au build = une CVE qui n'atteint jamais la prod.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1234440" y="384048"/>
            <a:ext cx="10424160" cy="640080"/>
          </a:xfrm>
          <a:prstGeom prst="rect">
            <a:avLst/>
          </a:prstGeom>
          <a:noFill/>
          <a:ln/>
        </p:spPr>
        <p:txBody>
          <a:bodyPr wrap="square" lIns="0" tIns="0" rIns="0" bIns="0" rtlCol="0" anchor="ctr"/>
          <a:lstStyle/>
          <a:p>
            <a:pPr algn="l" indent="0" marL="0">
              <a:buNone/>
            </a:pPr>
            <a:r>
              <a:rPr lang="en-US" sz="3000" b="1" dirty="0">
                <a:solidFill>
                  <a:srgbClr val="1B2A6B"/>
                </a:solidFill>
                <a:latin typeface="Calibri" pitchFamily="34" charset="0"/>
                <a:ea typeface="Calibri" pitchFamily="34" charset="-122"/>
                <a:cs typeface="Calibri" pitchFamily="34" charset="-120"/>
              </a:rPr>
              <a:t>Cycle de release automatisé</a:t>
            </a:r>
            <a:endParaRPr lang="en-US" sz="3000" dirty="0"/>
          </a:p>
        </p:txBody>
      </p:sp>
      <p:sp>
        <p:nvSpPr>
          <p:cNvPr id="4" name="Text 1"/>
          <p:cNvSpPr/>
          <p:nvPr/>
        </p:nvSpPr>
        <p:spPr>
          <a:xfrm>
            <a:off x="1252728" y="987552"/>
            <a:ext cx="10424160" cy="274320"/>
          </a:xfrm>
          <a:prstGeom prst="rect">
            <a:avLst/>
          </a:prstGeom>
          <a:noFill/>
          <a:ln/>
        </p:spPr>
        <p:txBody>
          <a:bodyPr wrap="square" lIns="0" tIns="0" rIns="0" bIns="0" rtlCol="0" anchor="ctr"/>
          <a:lstStyle/>
          <a:p>
            <a:pPr algn="l" indent="0" marL="0">
              <a:buNone/>
            </a:pPr>
            <a:r>
              <a:rPr lang="en-US" sz="1100" b="1" spc="200" kern="0" dirty="0">
                <a:solidFill>
                  <a:srgbClr val="3FA535"/>
                </a:solidFill>
                <a:latin typeface="Calibri" pitchFamily="34" charset="0"/>
                <a:ea typeface="Calibri" pitchFamily="34" charset="-122"/>
                <a:cs typeface="Calibri" pitchFamily="34" charset="-120"/>
              </a:rPr>
              <a:t>DU PARENT AUX MICROSERVICES</a:t>
            </a:r>
            <a:endParaRPr lang="en-US" sz="1100" dirty="0"/>
          </a:p>
        </p:txBody>
      </p:sp>
      <p:sp>
        <p:nvSpPr>
          <p:cNvPr id="5" name="Shape 2"/>
          <p:cNvSpPr/>
          <p:nvPr/>
        </p:nvSpPr>
        <p:spPr>
          <a:xfrm>
            <a:off x="329184" y="2057400"/>
            <a:ext cx="1993392" cy="2743200"/>
          </a:xfrm>
          <a:prstGeom prst="roundRect">
            <a:avLst>
              <a:gd name="adj" fmla="val 3670"/>
            </a:avLst>
          </a:prstGeom>
          <a:solidFill>
            <a:srgbClr val="F4F6FA"/>
          </a:solidFill>
          <a:ln/>
          <a:effectLst>
            <a:outerShdw sx="100000" sy="100000" kx="0" ky="0" algn="bl" rotWithShape="0" blurRad="88900" dist="25400" dir="5400000">
              <a:srgbClr val="000000">
                <a:alpha val="13000"/>
              </a:srgbClr>
            </a:outerShdw>
          </a:effectLst>
        </p:spPr>
      </p:sp>
      <p:sp>
        <p:nvSpPr>
          <p:cNvPr id="6" name="Shape 3"/>
          <p:cNvSpPr/>
          <p:nvPr/>
        </p:nvSpPr>
        <p:spPr>
          <a:xfrm>
            <a:off x="941832" y="2331720"/>
            <a:ext cx="768096" cy="768096"/>
          </a:xfrm>
          <a:prstGeom prst="ellipse">
            <a:avLst/>
          </a:prstGeom>
          <a:solidFill>
            <a:srgbClr val="1B2A6B"/>
          </a:solidFill>
          <a:ln/>
          <a:effectLst>
            <a:outerShdw sx="100000" sy="100000" kx="0" ky="0" algn="bl" rotWithShape="0" blurRad="88900" dist="25400" dir="16200000">
              <a:srgbClr val="000000">
                <a:alpha val="13000"/>
              </a:srgbClr>
            </a:outerShdw>
          </a:effectLst>
        </p:spPr>
      </p:sp>
      <p:pic>
        <p:nvPicPr>
          <p:cNvPr id="7" name="Image 1" descr="preencoded.png">    </p:cNvPr>
          <p:cNvPicPr>
            <a:picLocks noChangeAspect="1"/>
          </p:cNvPicPr>
          <p:nvPr/>
        </p:nvPicPr>
        <p:blipFill>
          <a:blip r:embed="rId2"/>
          <a:stretch>
            <a:fillRect/>
          </a:stretch>
        </p:blipFill>
        <p:spPr>
          <a:xfrm>
            <a:off x="1115568" y="2505456"/>
            <a:ext cx="420624" cy="420624"/>
          </a:xfrm>
          <a:prstGeom prst="rect">
            <a:avLst/>
          </a:prstGeom>
        </p:spPr>
      </p:pic>
      <p:sp>
        <p:nvSpPr>
          <p:cNvPr id="8" name="Text 4"/>
          <p:cNvSpPr/>
          <p:nvPr/>
        </p:nvSpPr>
        <p:spPr>
          <a:xfrm>
            <a:off x="493776" y="2221992"/>
            <a:ext cx="365760" cy="365760"/>
          </a:xfrm>
          <a:prstGeom prst="rect">
            <a:avLst/>
          </a:prstGeom>
          <a:noFill/>
          <a:ln/>
        </p:spPr>
        <p:txBody>
          <a:bodyPr wrap="square" lIns="0" tIns="0" rIns="0" bIns="0" rtlCol="0" anchor="ctr"/>
          <a:lstStyle/>
          <a:p>
            <a:pPr algn="l" indent="0" marL="0">
              <a:buNone/>
            </a:pPr>
            <a:r>
              <a:rPr lang="en-US" sz="1500" b="1" dirty="0">
                <a:solidFill>
                  <a:srgbClr val="1B2A6B"/>
                </a:solidFill>
                <a:latin typeface="Calibri" pitchFamily="34" charset="0"/>
                <a:ea typeface="Calibri" pitchFamily="34" charset="-122"/>
                <a:cs typeface="Calibri" pitchFamily="34" charset="-120"/>
              </a:rPr>
              <a:t>1</a:t>
            </a:r>
            <a:endParaRPr lang="en-US" sz="1500" dirty="0"/>
          </a:p>
        </p:txBody>
      </p:sp>
      <p:sp>
        <p:nvSpPr>
          <p:cNvPr id="9" name="Text 5"/>
          <p:cNvSpPr/>
          <p:nvPr/>
        </p:nvSpPr>
        <p:spPr>
          <a:xfrm>
            <a:off x="438912" y="3246120"/>
            <a:ext cx="1773936" cy="777240"/>
          </a:xfrm>
          <a:prstGeom prst="rect">
            <a:avLst/>
          </a:prstGeom>
          <a:noFill/>
          <a:ln/>
        </p:spPr>
        <p:txBody>
          <a:bodyPr wrap="square" lIns="0" tIns="0" rIns="0" bIns="0" rtlCol="0" anchor="t"/>
          <a:lstStyle/>
          <a:p>
            <a:pPr algn="ctr" indent="0" marL="0">
              <a:buNone/>
            </a:pPr>
            <a:r>
              <a:rPr lang="en-US" sz="1350" b="1" dirty="0">
                <a:solidFill>
                  <a:srgbClr val="1B2A6B"/>
                </a:solidFill>
                <a:latin typeface="Calibri" pitchFamily="34" charset="0"/>
                <a:ea typeface="Calibri" pitchFamily="34" charset="-122"/>
                <a:cs typeface="Calibri" pitchFamily="34" charset="-120"/>
              </a:rPr>
              <a:t>Nouvelle release</a:t>
            </a:r>
            <a:endParaRPr lang="en-US" sz="1350" dirty="0"/>
          </a:p>
          <a:p>
            <a:pPr algn="ctr" indent="0" marL="0">
              <a:buNone/>
            </a:pPr>
            <a:r>
              <a:rPr lang="en-US" sz="1350" b="1" dirty="0">
                <a:solidFill>
                  <a:srgbClr val="1B2A6B"/>
                </a:solidFill>
                <a:latin typeface="Calibri" pitchFamily="34" charset="0"/>
                <a:ea typeface="Calibri" pitchFamily="34" charset="-122"/>
                <a:cs typeface="Calibri" pitchFamily="34" charset="-120"/>
              </a:rPr>
              <a:t>du POM parent</a:t>
            </a:r>
            <a:endParaRPr lang="en-US" sz="1350" dirty="0"/>
          </a:p>
        </p:txBody>
      </p:sp>
      <p:sp>
        <p:nvSpPr>
          <p:cNvPr id="10" name="Text 6"/>
          <p:cNvSpPr/>
          <p:nvPr/>
        </p:nvSpPr>
        <p:spPr>
          <a:xfrm>
            <a:off x="466344" y="3995928"/>
            <a:ext cx="1719072" cy="731520"/>
          </a:xfrm>
          <a:prstGeom prst="rect">
            <a:avLst/>
          </a:prstGeom>
          <a:noFill/>
          <a:ln/>
        </p:spPr>
        <p:txBody>
          <a:bodyPr wrap="square" lIns="0" tIns="0" rIns="0" bIns="0" rtlCol="0" anchor="t"/>
          <a:lstStyle/>
          <a:p>
            <a:pPr algn="ctr" indent="0" marL="0">
              <a:buNone/>
            </a:pPr>
            <a:r>
              <a:rPr lang="en-US" sz="1050" dirty="0">
                <a:solidFill>
                  <a:srgbClr val="5B6473"/>
                </a:solidFill>
                <a:latin typeface="Calibri" pitchFamily="34" charset="0"/>
                <a:ea typeface="Calibri" pitchFamily="34" charset="-122"/>
                <a:cs typeface="Calibri" pitchFamily="34" charset="-120"/>
              </a:rPr>
              <a:t>Mise à jour : nouvelles versions sans CVE</a:t>
            </a:r>
            <a:endParaRPr lang="en-US" sz="1050" dirty="0"/>
          </a:p>
        </p:txBody>
      </p:sp>
      <p:sp>
        <p:nvSpPr>
          <p:cNvPr id="11" name="Text 7"/>
          <p:cNvSpPr/>
          <p:nvPr/>
        </p:nvSpPr>
        <p:spPr>
          <a:xfrm>
            <a:off x="2176272" y="3017520"/>
            <a:ext cx="384048" cy="822960"/>
          </a:xfrm>
          <a:prstGeom prst="rect">
            <a:avLst/>
          </a:prstGeom>
          <a:noFill/>
          <a:ln/>
        </p:spPr>
        <p:txBody>
          <a:bodyPr wrap="square" lIns="0" tIns="0" rIns="0" bIns="0" rtlCol="0" anchor="ctr"/>
          <a:lstStyle/>
          <a:p>
            <a:pPr algn="ctr" indent="0" marL="0">
              <a:buNone/>
            </a:pPr>
            <a:r>
              <a:rPr lang="en-US" sz="4000" b="1" dirty="0">
                <a:solidFill>
                  <a:srgbClr val="B9C4D8"/>
                </a:solidFill>
                <a:latin typeface="Arial" pitchFamily="34" charset="0"/>
                <a:ea typeface="Arial" pitchFamily="34" charset="-122"/>
                <a:cs typeface="Arial" pitchFamily="34" charset="-120"/>
              </a:rPr>
              <a:t>›</a:t>
            </a:r>
            <a:endParaRPr lang="en-US" sz="4000" dirty="0"/>
          </a:p>
        </p:txBody>
      </p:sp>
      <p:sp>
        <p:nvSpPr>
          <p:cNvPr id="12" name="Shape 8"/>
          <p:cNvSpPr/>
          <p:nvPr/>
        </p:nvSpPr>
        <p:spPr>
          <a:xfrm>
            <a:off x="2706624" y="2057400"/>
            <a:ext cx="1993392" cy="2743200"/>
          </a:xfrm>
          <a:prstGeom prst="roundRect">
            <a:avLst>
              <a:gd name="adj" fmla="val 3670"/>
            </a:avLst>
          </a:prstGeom>
          <a:solidFill>
            <a:srgbClr val="F4F6FA"/>
          </a:solidFill>
          <a:ln/>
          <a:effectLst>
            <a:outerShdw sx="100000" sy="100000" kx="0" ky="0" algn="bl" rotWithShape="0" blurRad="88900" dist="25400" dir="5400000">
              <a:srgbClr val="000000">
                <a:alpha val="13000"/>
              </a:srgbClr>
            </a:outerShdw>
          </a:effectLst>
        </p:spPr>
      </p:sp>
      <p:sp>
        <p:nvSpPr>
          <p:cNvPr id="13" name="Shape 9"/>
          <p:cNvSpPr/>
          <p:nvPr/>
        </p:nvSpPr>
        <p:spPr>
          <a:xfrm>
            <a:off x="3319272" y="2331720"/>
            <a:ext cx="768096" cy="768096"/>
          </a:xfrm>
          <a:prstGeom prst="ellipse">
            <a:avLst/>
          </a:prstGeom>
          <a:solidFill>
            <a:srgbClr val="2D6BD4"/>
          </a:solidFill>
          <a:ln/>
          <a:effectLst>
            <a:outerShdw sx="100000" sy="100000" kx="0" ky="0" algn="bl" rotWithShape="0" blurRad="88900" dist="25400" dir="16200000">
              <a:srgbClr val="000000">
                <a:alpha val="13000"/>
              </a:srgbClr>
            </a:outerShdw>
          </a:effectLst>
        </p:spPr>
      </p:sp>
      <p:pic>
        <p:nvPicPr>
          <p:cNvPr id="14" name="Image 2" descr="preencoded.png">    </p:cNvPr>
          <p:cNvPicPr>
            <a:picLocks noChangeAspect="1"/>
          </p:cNvPicPr>
          <p:nvPr/>
        </p:nvPicPr>
        <p:blipFill>
          <a:blip r:embed="rId3"/>
          <a:stretch>
            <a:fillRect/>
          </a:stretch>
        </p:blipFill>
        <p:spPr>
          <a:xfrm>
            <a:off x="3493008" y="2505456"/>
            <a:ext cx="420624" cy="420624"/>
          </a:xfrm>
          <a:prstGeom prst="rect">
            <a:avLst/>
          </a:prstGeom>
        </p:spPr>
      </p:pic>
      <p:sp>
        <p:nvSpPr>
          <p:cNvPr id="15" name="Text 10"/>
          <p:cNvSpPr/>
          <p:nvPr/>
        </p:nvSpPr>
        <p:spPr>
          <a:xfrm>
            <a:off x="2871216" y="2221992"/>
            <a:ext cx="365760" cy="365760"/>
          </a:xfrm>
          <a:prstGeom prst="rect">
            <a:avLst/>
          </a:prstGeom>
          <a:noFill/>
          <a:ln/>
        </p:spPr>
        <p:txBody>
          <a:bodyPr wrap="square" lIns="0" tIns="0" rIns="0" bIns="0" rtlCol="0" anchor="ctr"/>
          <a:lstStyle/>
          <a:p>
            <a:pPr algn="l" indent="0" marL="0">
              <a:buNone/>
            </a:pPr>
            <a:r>
              <a:rPr lang="en-US" sz="1500" b="1" dirty="0">
                <a:solidFill>
                  <a:srgbClr val="2D6BD4"/>
                </a:solidFill>
                <a:latin typeface="Calibri" pitchFamily="34" charset="0"/>
                <a:ea typeface="Calibri" pitchFamily="34" charset="-122"/>
                <a:cs typeface="Calibri" pitchFamily="34" charset="-120"/>
              </a:rPr>
              <a:t>2</a:t>
            </a:r>
            <a:endParaRPr lang="en-US" sz="1500" dirty="0"/>
          </a:p>
        </p:txBody>
      </p:sp>
      <p:sp>
        <p:nvSpPr>
          <p:cNvPr id="16" name="Text 11"/>
          <p:cNvSpPr/>
          <p:nvPr/>
        </p:nvSpPr>
        <p:spPr>
          <a:xfrm>
            <a:off x="2816352" y="3246120"/>
            <a:ext cx="1773936" cy="777240"/>
          </a:xfrm>
          <a:prstGeom prst="rect">
            <a:avLst/>
          </a:prstGeom>
          <a:noFill/>
          <a:ln/>
        </p:spPr>
        <p:txBody>
          <a:bodyPr wrap="square" lIns="0" tIns="0" rIns="0" bIns="0" rtlCol="0" anchor="t"/>
          <a:lstStyle/>
          <a:p>
            <a:pPr algn="ctr" indent="0" marL="0">
              <a:buNone/>
            </a:pPr>
            <a:r>
              <a:rPr lang="en-US" sz="1350" b="1" dirty="0">
                <a:solidFill>
                  <a:srgbClr val="1B2A6B"/>
                </a:solidFill>
                <a:latin typeface="Calibri" pitchFamily="34" charset="0"/>
                <a:ea typeface="Calibri" pitchFamily="34" charset="-122"/>
                <a:cs typeface="Calibri" pitchFamily="34" charset="-120"/>
              </a:rPr>
              <a:t>Tests du parent</a:t>
            </a:r>
            <a:endParaRPr lang="en-US" sz="1350" dirty="0"/>
          </a:p>
        </p:txBody>
      </p:sp>
      <p:sp>
        <p:nvSpPr>
          <p:cNvPr id="17" name="Text 12"/>
          <p:cNvSpPr/>
          <p:nvPr/>
        </p:nvSpPr>
        <p:spPr>
          <a:xfrm>
            <a:off x="2843784" y="3995928"/>
            <a:ext cx="1719072" cy="731520"/>
          </a:xfrm>
          <a:prstGeom prst="rect">
            <a:avLst/>
          </a:prstGeom>
          <a:noFill/>
          <a:ln/>
        </p:spPr>
        <p:txBody>
          <a:bodyPr wrap="square" lIns="0" tIns="0" rIns="0" bIns="0" rtlCol="0" anchor="t"/>
          <a:lstStyle/>
          <a:p>
            <a:pPr algn="ctr" indent="0" marL="0">
              <a:buNone/>
            </a:pPr>
            <a:r>
              <a:rPr lang="en-US" sz="1050" dirty="0">
                <a:solidFill>
                  <a:srgbClr val="5B6473"/>
                </a:solidFill>
                <a:latin typeface="Calibri" pitchFamily="34" charset="0"/>
                <a:ea typeface="Calibri" pitchFamily="34" charset="-122"/>
                <a:cs typeface="Calibri" pitchFamily="34" charset="-120"/>
              </a:rPr>
              <a:t>Unitaires · intégration · tests auto</a:t>
            </a:r>
            <a:endParaRPr lang="en-US" sz="1050" dirty="0"/>
          </a:p>
        </p:txBody>
      </p:sp>
      <p:sp>
        <p:nvSpPr>
          <p:cNvPr id="18" name="Text 13"/>
          <p:cNvSpPr/>
          <p:nvPr/>
        </p:nvSpPr>
        <p:spPr>
          <a:xfrm>
            <a:off x="4553712" y="3017520"/>
            <a:ext cx="384048" cy="822960"/>
          </a:xfrm>
          <a:prstGeom prst="rect">
            <a:avLst/>
          </a:prstGeom>
          <a:noFill/>
          <a:ln/>
        </p:spPr>
        <p:txBody>
          <a:bodyPr wrap="square" lIns="0" tIns="0" rIns="0" bIns="0" rtlCol="0" anchor="ctr"/>
          <a:lstStyle/>
          <a:p>
            <a:pPr algn="ctr" indent="0" marL="0">
              <a:buNone/>
            </a:pPr>
            <a:r>
              <a:rPr lang="en-US" sz="4000" b="1" dirty="0">
                <a:solidFill>
                  <a:srgbClr val="B9C4D8"/>
                </a:solidFill>
                <a:latin typeface="Arial" pitchFamily="34" charset="0"/>
                <a:ea typeface="Arial" pitchFamily="34" charset="-122"/>
                <a:cs typeface="Arial" pitchFamily="34" charset="-120"/>
              </a:rPr>
              <a:t>›</a:t>
            </a:r>
            <a:endParaRPr lang="en-US" sz="4000" dirty="0"/>
          </a:p>
        </p:txBody>
      </p:sp>
      <p:sp>
        <p:nvSpPr>
          <p:cNvPr id="19" name="Shape 14"/>
          <p:cNvSpPr/>
          <p:nvPr/>
        </p:nvSpPr>
        <p:spPr>
          <a:xfrm>
            <a:off x="5084064" y="2057400"/>
            <a:ext cx="1993392" cy="2743200"/>
          </a:xfrm>
          <a:prstGeom prst="roundRect">
            <a:avLst>
              <a:gd name="adj" fmla="val 3670"/>
            </a:avLst>
          </a:prstGeom>
          <a:solidFill>
            <a:srgbClr val="F4F6FA"/>
          </a:solidFill>
          <a:ln/>
          <a:effectLst>
            <a:outerShdw sx="100000" sy="100000" kx="0" ky="0" algn="bl" rotWithShape="0" blurRad="88900" dist="25400" dir="5400000">
              <a:srgbClr val="000000">
                <a:alpha val="13000"/>
              </a:srgbClr>
            </a:outerShdw>
          </a:effectLst>
        </p:spPr>
      </p:sp>
      <p:sp>
        <p:nvSpPr>
          <p:cNvPr id="20" name="Shape 15"/>
          <p:cNvSpPr/>
          <p:nvPr/>
        </p:nvSpPr>
        <p:spPr>
          <a:xfrm>
            <a:off x="5696712" y="2331720"/>
            <a:ext cx="768096" cy="768096"/>
          </a:xfrm>
          <a:prstGeom prst="ellipse">
            <a:avLst/>
          </a:prstGeom>
          <a:solidFill>
            <a:srgbClr val="2D6BD4"/>
          </a:solidFill>
          <a:ln/>
          <a:effectLst>
            <a:outerShdw sx="100000" sy="100000" kx="0" ky="0" algn="bl" rotWithShape="0" blurRad="88900" dist="25400" dir="16200000">
              <a:srgbClr val="000000">
                <a:alpha val="13000"/>
              </a:srgbClr>
            </a:outerShdw>
          </a:effectLst>
        </p:spPr>
      </p:sp>
      <p:pic>
        <p:nvPicPr>
          <p:cNvPr id="21" name="Image 3" descr="preencoded.png">    </p:cNvPr>
          <p:cNvPicPr>
            <a:picLocks noChangeAspect="1"/>
          </p:cNvPicPr>
          <p:nvPr/>
        </p:nvPicPr>
        <p:blipFill>
          <a:blip r:embed="rId4"/>
          <a:stretch>
            <a:fillRect/>
          </a:stretch>
        </p:blipFill>
        <p:spPr>
          <a:xfrm>
            <a:off x="5870448" y="2505456"/>
            <a:ext cx="420624" cy="420624"/>
          </a:xfrm>
          <a:prstGeom prst="rect">
            <a:avLst/>
          </a:prstGeom>
        </p:spPr>
      </p:pic>
      <p:sp>
        <p:nvSpPr>
          <p:cNvPr id="22" name="Text 16"/>
          <p:cNvSpPr/>
          <p:nvPr/>
        </p:nvSpPr>
        <p:spPr>
          <a:xfrm>
            <a:off x="5248656" y="2221992"/>
            <a:ext cx="365760" cy="365760"/>
          </a:xfrm>
          <a:prstGeom prst="rect">
            <a:avLst/>
          </a:prstGeom>
          <a:noFill/>
          <a:ln/>
        </p:spPr>
        <p:txBody>
          <a:bodyPr wrap="square" lIns="0" tIns="0" rIns="0" bIns="0" rtlCol="0" anchor="ctr"/>
          <a:lstStyle/>
          <a:p>
            <a:pPr algn="l" indent="0" marL="0">
              <a:buNone/>
            </a:pPr>
            <a:r>
              <a:rPr lang="en-US" sz="1500" b="1" dirty="0">
                <a:solidFill>
                  <a:srgbClr val="2D6BD4"/>
                </a:solidFill>
                <a:latin typeface="Calibri" pitchFamily="34" charset="0"/>
                <a:ea typeface="Calibri" pitchFamily="34" charset="-122"/>
                <a:cs typeface="Calibri" pitchFamily="34" charset="-120"/>
              </a:rPr>
              <a:t>3</a:t>
            </a:r>
            <a:endParaRPr lang="en-US" sz="1500" dirty="0"/>
          </a:p>
        </p:txBody>
      </p:sp>
      <p:sp>
        <p:nvSpPr>
          <p:cNvPr id="23" name="Text 17"/>
          <p:cNvSpPr/>
          <p:nvPr/>
        </p:nvSpPr>
        <p:spPr>
          <a:xfrm>
            <a:off x="5193792" y="3246120"/>
            <a:ext cx="1773936" cy="777240"/>
          </a:xfrm>
          <a:prstGeom prst="rect">
            <a:avLst/>
          </a:prstGeom>
          <a:noFill/>
          <a:ln/>
        </p:spPr>
        <p:txBody>
          <a:bodyPr wrap="square" lIns="0" tIns="0" rIns="0" bIns="0" rtlCol="0" anchor="t"/>
          <a:lstStyle/>
          <a:p>
            <a:pPr algn="ctr" indent="0" marL="0">
              <a:buNone/>
            </a:pPr>
            <a:r>
              <a:rPr lang="en-US" sz="1350" b="1" dirty="0">
                <a:solidFill>
                  <a:srgbClr val="1B2A6B"/>
                </a:solidFill>
                <a:latin typeface="Calibri" pitchFamily="34" charset="0"/>
                <a:ea typeface="Calibri" pitchFamily="34" charset="-122"/>
                <a:cs typeface="Calibri" pitchFamily="34" charset="-120"/>
              </a:rPr>
              <a:t>Propagation auto</a:t>
            </a:r>
            <a:endParaRPr lang="en-US" sz="1350" dirty="0"/>
          </a:p>
          <a:p>
            <a:pPr algn="ctr" indent="0" marL="0">
              <a:buNone/>
            </a:pPr>
            <a:r>
              <a:rPr lang="en-US" sz="1350" b="1" dirty="0">
                <a:solidFill>
                  <a:srgbClr val="1B2A6B"/>
                </a:solidFill>
                <a:latin typeface="Calibri" pitchFamily="34" charset="0"/>
                <a:ea typeface="Calibri" pitchFamily="34" charset="-122"/>
                <a:cs typeface="Calibri" pitchFamily="34" charset="-120"/>
              </a:rPr>
              <a:t>vers les MS</a:t>
            </a:r>
            <a:endParaRPr lang="en-US" sz="1350" dirty="0"/>
          </a:p>
        </p:txBody>
      </p:sp>
      <p:sp>
        <p:nvSpPr>
          <p:cNvPr id="24" name="Text 18"/>
          <p:cNvSpPr/>
          <p:nvPr/>
        </p:nvSpPr>
        <p:spPr>
          <a:xfrm>
            <a:off x="5221224" y="3995928"/>
            <a:ext cx="1719072" cy="731520"/>
          </a:xfrm>
          <a:prstGeom prst="rect">
            <a:avLst/>
          </a:prstGeom>
          <a:noFill/>
          <a:ln/>
        </p:spPr>
        <p:txBody>
          <a:bodyPr wrap="square" lIns="0" tIns="0" rIns="0" bIns="0" rtlCol="0" anchor="t"/>
          <a:lstStyle/>
          <a:p>
            <a:pPr algn="ctr" indent="0" marL="0">
              <a:buNone/>
            </a:pPr>
            <a:r>
              <a:rPr lang="en-US" sz="1050" dirty="0">
                <a:solidFill>
                  <a:srgbClr val="5B6473"/>
                </a:solidFill>
                <a:latin typeface="Calibri" pitchFamily="34" charset="0"/>
                <a:ea typeface="Calibri" pitchFamily="34" charset="-122"/>
                <a:cs typeface="Calibri" pitchFamily="34" charset="-120"/>
              </a:rPr>
              <a:t>Mise à jour automatique dans chaque microservice</a:t>
            </a:r>
            <a:endParaRPr lang="en-US" sz="1050" dirty="0"/>
          </a:p>
        </p:txBody>
      </p:sp>
      <p:sp>
        <p:nvSpPr>
          <p:cNvPr id="25" name="Text 19"/>
          <p:cNvSpPr/>
          <p:nvPr/>
        </p:nvSpPr>
        <p:spPr>
          <a:xfrm>
            <a:off x="6931152" y="3017520"/>
            <a:ext cx="384048" cy="822960"/>
          </a:xfrm>
          <a:prstGeom prst="rect">
            <a:avLst/>
          </a:prstGeom>
          <a:noFill/>
          <a:ln/>
        </p:spPr>
        <p:txBody>
          <a:bodyPr wrap="square" lIns="0" tIns="0" rIns="0" bIns="0" rtlCol="0" anchor="ctr"/>
          <a:lstStyle/>
          <a:p>
            <a:pPr algn="ctr" indent="0" marL="0">
              <a:buNone/>
            </a:pPr>
            <a:r>
              <a:rPr lang="en-US" sz="4000" b="1" dirty="0">
                <a:solidFill>
                  <a:srgbClr val="B9C4D8"/>
                </a:solidFill>
                <a:latin typeface="Arial" pitchFamily="34" charset="0"/>
                <a:ea typeface="Arial" pitchFamily="34" charset="-122"/>
                <a:cs typeface="Arial" pitchFamily="34" charset="-120"/>
              </a:rPr>
              <a:t>›</a:t>
            </a:r>
            <a:endParaRPr lang="en-US" sz="4000" dirty="0"/>
          </a:p>
        </p:txBody>
      </p:sp>
      <p:sp>
        <p:nvSpPr>
          <p:cNvPr id="26" name="Shape 20"/>
          <p:cNvSpPr/>
          <p:nvPr/>
        </p:nvSpPr>
        <p:spPr>
          <a:xfrm>
            <a:off x="7461504" y="2057400"/>
            <a:ext cx="1993392" cy="2743200"/>
          </a:xfrm>
          <a:prstGeom prst="roundRect">
            <a:avLst>
              <a:gd name="adj" fmla="val 3670"/>
            </a:avLst>
          </a:prstGeom>
          <a:solidFill>
            <a:srgbClr val="F4F6FA"/>
          </a:solidFill>
          <a:ln/>
          <a:effectLst>
            <a:outerShdw sx="100000" sy="100000" kx="0" ky="0" algn="bl" rotWithShape="0" blurRad="88900" dist="25400" dir="5400000">
              <a:srgbClr val="000000">
                <a:alpha val="13000"/>
              </a:srgbClr>
            </a:outerShdw>
          </a:effectLst>
        </p:spPr>
      </p:sp>
      <p:sp>
        <p:nvSpPr>
          <p:cNvPr id="27" name="Shape 21"/>
          <p:cNvSpPr/>
          <p:nvPr/>
        </p:nvSpPr>
        <p:spPr>
          <a:xfrm>
            <a:off x="8074152" y="2331720"/>
            <a:ext cx="768096" cy="768096"/>
          </a:xfrm>
          <a:prstGeom prst="ellipse">
            <a:avLst/>
          </a:prstGeom>
          <a:solidFill>
            <a:srgbClr val="3FA535"/>
          </a:solidFill>
          <a:ln/>
          <a:effectLst>
            <a:outerShdw sx="100000" sy="100000" kx="0" ky="0" algn="bl" rotWithShape="0" blurRad="88900" dist="25400" dir="16200000">
              <a:srgbClr val="000000">
                <a:alpha val="13000"/>
              </a:srgbClr>
            </a:outerShdw>
          </a:effectLst>
        </p:spPr>
      </p:sp>
      <p:pic>
        <p:nvPicPr>
          <p:cNvPr id="28" name="Image 4" descr="preencoded.png">    </p:cNvPr>
          <p:cNvPicPr>
            <a:picLocks noChangeAspect="1"/>
          </p:cNvPicPr>
          <p:nvPr/>
        </p:nvPicPr>
        <p:blipFill>
          <a:blip r:embed="rId5"/>
          <a:stretch>
            <a:fillRect/>
          </a:stretch>
        </p:blipFill>
        <p:spPr>
          <a:xfrm>
            <a:off x="8247888" y="2505456"/>
            <a:ext cx="420624" cy="420624"/>
          </a:xfrm>
          <a:prstGeom prst="rect">
            <a:avLst/>
          </a:prstGeom>
        </p:spPr>
      </p:pic>
      <p:sp>
        <p:nvSpPr>
          <p:cNvPr id="29" name="Text 22"/>
          <p:cNvSpPr/>
          <p:nvPr/>
        </p:nvSpPr>
        <p:spPr>
          <a:xfrm>
            <a:off x="7626096" y="2221992"/>
            <a:ext cx="365760" cy="365760"/>
          </a:xfrm>
          <a:prstGeom prst="rect">
            <a:avLst/>
          </a:prstGeom>
          <a:noFill/>
          <a:ln/>
        </p:spPr>
        <p:txBody>
          <a:bodyPr wrap="square" lIns="0" tIns="0" rIns="0" bIns="0" rtlCol="0" anchor="ctr"/>
          <a:lstStyle/>
          <a:p>
            <a:pPr algn="l" indent="0" marL="0">
              <a:buNone/>
            </a:pPr>
            <a:r>
              <a:rPr lang="en-US" sz="1500" b="1" dirty="0">
                <a:solidFill>
                  <a:srgbClr val="3FA535"/>
                </a:solidFill>
                <a:latin typeface="Calibri" pitchFamily="34" charset="0"/>
                <a:ea typeface="Calibri" pitchFamily="34" charset="-122"/>
                <a:cs typeface="Calibri" pitchFamily="34" charset="-120"/>
              </a:rPr>
              <a:t>4</a:t>
            </a:r>
            <a:endParaRPr lang="en-US" sz="1500" dirty="0"/>
          </a:p>
        </p:txBody>
      </p:sp>
      <p:sp>
        <p:nvSpPr>
          <p:cNvPr id="30" name="Text 23"/>
          <p:cNvSpPr/>
          <p:nvPr/>
        </p:nvSpPr>
        <p:spPr>
          <a:xfrm>
            <a:off x="7571232" y="3246120"/>
            <a:ext cx="1773936" cy="777240"/>
          </a:xfrm>
          <a:prstGeom prst="rect">
            <a:avLst/>
          </a:prstGeom>
          <a:noFill/>
          <a:ln/>
        </p:spPr>
        <p:txBody>
          <a:bodyPr wrap="square" lIns="0" tIns="0" rIns="0" bIns="0" rtlCol="0" anchor="t"/>
          <a:lstStyle/>
          <a:p>
            <a:pPr algn="ctr" indent="0" marL="0">
              <a:buNone/>
            </a:pPr>
            <a:r>
              <a:rPr lang="en-US" sz="1350" b="1" dirty="0">
                <a:solidFill>
                  <a:srgbClr val="1B2A6B"/>
                </a:solidFill>
                <a:latin typeface="Calibri" pitchFamily="34" charset="0"/>
                <a:ea typeface="Calibri" pitchFamily="34" charset="-122"/>
                <a:cs typeface="Calibri" pitchFamily="34" charset="-120"/>
              </a:rPr>
              <a:t>Release MS</a:t>
            </a:r>
            <a:endParaRPr lang="en-US" sz="1350" dirty="0"/>
          </a:p>
          <a:p>
            <a:pPr algn="ctr" indent="0" marL="0">
              <a:buNone/>
            </a:pPr>
            <a:r>
              <a:rPr lang="en-US" sz="1350" b="1" dirty="0">
                <a:solidFill>
                  <a:srgbClr val="1B2A6B"/>
                </a:solidFill>
                <a:latin typeface="Calibri" pitchFamily="34" charset="0"/>
                <a:ea typeface="Calibri" pitchFamily="34" charset="-122"/>
                <a:cs typeface="Calibri" pitchFamily="34" charset="-120"/>
              </a:rPr>
              <a:t>si tous les tests passent</a:t>
            </a:r>
            <a:endParaRPr lang="en-US" sz="1350" dirty="0"/>
          </a:p>
        </p:txBody>
      </p:sp>
      <p:sp>
        <p:nvSpPr>
          <p:cNvPr id="31" name="Text 24"/>
          <p:cNvSpPr/>
          <p:nvPr/>
        </p:nvSpPr>
        <p:spPr>
          <a:xfrm>
            <a:off x="7598664" y="3995928"/>
            <a:ext cx="1719072" cy="731520"/>
          </a:xfrm>
          <a:prstGeom prst="rect">
            <a:avLst/>
          </a:prstGeom>
          <a:noFill/>
          <a:ln/>
        </p:spPr>
        <p:txBody>
          <a:bodyPr wrap="square" lIns="0" tIns="0" rIns="0" bIns="0" rtlCol="0" anchor="t"/>
          <a:lstStyle/>
          <a:p>
            <a:pPr algn="ctr" indent="0" marL="0">
              <a:buNone/>
            </a:pPr>
            <a:r>
              <a:rPr lang="en-US" sz="1050" dirty="0">
                <a:solidFill>
                  <a:srgbClr val="5B6473"/>
                </a:solidFill>
                <a:latin typeface="Calibri" pitchFamily="34" charset="0"/>
                <a:ea typeface="Calibri" pitchFamily="34" charset="-122"/>
                <a:cs typeface="Calibri" pitchFamily="34" charset="-120"/>
              </a:rPr>
              <a:t>Build relancé avec les nouvelles versions</a:t>
            </a:r>
            <a:endParaRPr lang="en-US" sz="1050" dirty="0"/>
          </a:p>
        </p:txBody>
      </p:sp>
      <p:sp>
        <p:nvSpPr>
          <p:cNvPr id="32" name="Text 25"/>
          <p:cNvSpPr/>
          <p:nvPr/>
        </p:nvSpPr>
        <p:spPr>
          <a:xfrm>
            <a:off x="9308592" y="3017520"/>
            <a:ext cx="384048" cy="822960"/>
          </a:xfrm>
          <a:prstGeom prst="rect">
            <a:avLst/>
          </a:prstGeom>
          <a:noFill/>
          <a:ln/>
        </p:spPr>
        <p:txBody>
          <a:bodyPr wrap="square" lIns="0" tIns="0" rIns="0" bIns="0" rtlCol="0" anchor="ctr"/>
          <a:lstStyle/>
          <a:p>
            <a:pPr algn="ctr" indent="0" marL="0">
              <a:buNone/>
            </a:pPr>
            <a:r>
              <a:rPr lang="en-US" sz="4000" b="1" dirty="0">
                <a:solidFill>
                  <a:srgbClr val="B9C4D8"/>
                </a:solidFill>
                <a:latin typeface="Arial" pitchFamily="34" charset="0"/>
                <a:ea typeface="Arial" pitchFamily="34" charset="-122"/>
                <a:cs typeface="Arial" pitchFamily="34" charset="-120"/>
              </a:rPr>
              <a:t>›</a:t>
            </a:r>
            <a:endParaRPr lang="en-US" sz="4000" dirty="0"/>
          </a:p>
        </p:txBody>
      </p:sp>
      <p:sp>
        <p:nvSpPr>
          <p:cNvPr id="33" name="Shape 26"/>
          <p:cNvSpPr/>
          <p:nvPr/>
        </p:nvSpPr>
        <p:spPr>
          <a:xfrm>
            <a:off x="9838944" y="2057400"/>
            <a:ext cx="1993392" cy="2743200"/>
          </a:xfrm>
          <a:prstGeom prst="roundRect">
            <a:avLst>
              <a:gd name="adj" fmla="val 3670"/>
            </a:avLst>
          </a:prstGeom>
          <a:solidFill>
            <a:srgbClr val="F4F6FA"/>
          </a:solidFill>
          <a:ln/>
          <a:effectLst>
            <a:outerShdw sx="100000" sy="100000" kx="0" ky="0" algn="bl" rotWithShape="0" blurRad="88900" dist="25400" dir="5400000">
              <a:srgbClr val="000000">
                <a:alpha val="13000"/>
              </a:srgbClr>
            </a:outerShdw>
          </a:effectLst>
        </p:spPr>
      </p:sp>
      <p:sp>
        <p:nvSpPr>
          <p:cNvPr id="34" name="Shape 27"/>
          <p:cNvSpPr/>
          <p:nvPr/>
        </p:nvSpPr>
        <p:spPr>
          <a:xfrm>
            <a:off x="10451592" y="2331720"/>
            <a:ext cx="768096" cy="768096"/>
          </a:xfrm>
          <a:prstGeom prst="ellipse">
            <a:avLst/>
          </a:prstGeom>
          <a:solidFill>
            <a:srgbClr val="3FA535"/>
          </a:solidFill>
          <a:ln/>
          <a:effectLst>
            <a:outerShdw sx="100000" sy="100000" kx="0" ky="0" algn="bl" rotWithShape="0" blurRad="88900" dist="25400" dir="16200000">
              <a:srgbClr val="000000">
                <a:alpha val="13000"/>
              </a:srgbClr>
            </a:outerShdw>
          </a:effectLst>
        </p:spPr>
      </p:sp>
      <p:pic>
        <p:nvPicPr>
          <p:cNvPr id="35" name="Image 5" descr="preencoded.png">    </p:cNvPr>
          <p:cNvPicPr>
            <a:picLocks noChangeAspect="1"/>
          </p:cNvPicPr>
          <p:nvPr/>
        </p:nvPicPr>
        <p:blipFill>
          <a:blip r:embed="rId6"/>
          <a:stretch>
            <a:fillRect/>
          </a:stretch>
        </p:blipFill>
        <p:spPr>
          <a:xfrm>
            <a:off x="10625328" y="2505456"/>
            <a:ext cx="420624" cy="420624"/>
          </a:xfrm>
          <a:prstGeom prst="rect">
            <a:avLst/>
          </a:prstGeom>
        </p:spPr>
      </p:pic>
      <p:sp>
        <p:nvSpPr>
          <p:cNvPr id="36" name="Text 28"/>
          <p:cNvSpPr/>
          <p:nvPr/>
        </p:nvSpPr>
        <p:spPr>
          <a:xfrm>
            <a:off x="10003536" y="2221992"/>
            <a:ext cx="365760" cy="365760"/>
          </a:xfrm>
          <a:prstGeom prst="rect">
            <a:avLst/>
          </a:prstGeom>
          <a:noFill/>
          <a:ln/>
        </p:spPr>
        <p:txBody>
          <a:bodyPr wrap="square" lIns="0" tIns="0" rIns="0" bIns="0" rtlCol="0" anchor="ctr"/>
          <a:lstStyle/>
          <a:p>
            <a:pPr algn="l" indent="0" marL="0">
              <a:buNone/>
            </a:pPr>
            <a:r>
              <a:rPr lang="en-US" sz="1500" b="1" dirty="0">
                <a:solidFill>
                  <a:srgbClr val="3FA535"/>
                </a:solidFill>
                <a:latin typeface="Calibri" pitchFamily="34" charset="0"/>
                <a:ea typeface="Calibri" pitchFamily="34" charset="-122"/>
                <a:cs typeface="Calibri" pitchFamily="34" charset="-120"/>
              </a:rPr>
              <a:t>5</a:t>
            </a:r>
            <a:endParaRPr lang="en-US" sz="1500" dirty="0"/>
          </a:p>
        </p:txBody>
      </p:sp>
      <p:sp>
        <p:nvSpPr>
          <p:cNvPr id="37" name="Text 29"/>
          <p:cNvSpPr/>
          <p:nvPr/>
        </p:nvSpPr>
        <p:spPr>
          <a:xfrm>
            <a:off x="9948672" y="3246120"/>
            <a:ext cx="1773936" cy="777240"/>
          </a:xfrm>
          <a:prstGeom prst="rect">
            <a:avLst/>
          </a:prstGeom>
          <a:noFill/>
          <a:ln/>
        </p:spPr>
        <p:txBody>
          <a:bodyPr wrap="square" lIns="0" tIns="0" rIns="0" bIns="0" rtlCol="0" anchor="t"/>
          <a:lstStyle/>
          <a:p>
            <a:pPr algn="ctr" indent="0" marL="0">
              <a:buNone/>
            </a:pPr>
            <a:r>
              <a:rPr lang="en-US" sz="1350" b="1" dirty="0">
                <a:solidFill>
                  <a:srgbClr val="1B2A6B"/>
                </a:solidFill>
                <a:latin typeface="Calibri" pitchFamily="34" charset="0"/>
                <a:ea typeface="Calibri" pitchFamily="34" charset="-122"/>
                <a:cs typeface="Calibri" pitchFamily="34" charset="-120"/>
              </a:rPr>
              <a:t>Nouvelle release</a:t>
            </a:r>
            <a:endParaRPr lang="en-US" sz="1350" dirty="0"/>
          </a:p>
          <a:p>
            <a:pPr algn="ctr" indent="0" marL="0">
              <a:buNone/>
            </a:pPr>
            <a:r>
              <a:rPr lang="en-US" sz="1350" b="1" dirty="0">
                <a:solidFill>
                  <a:srgbClr val="1B2A6B"/>
                </a:solidFill>
                <a:latin typeface="Calibri" pitchFamily="34" charset="0"/>
                <a:ea typeface="Calibri" pitchFamily="34" charset="-122"/>
                <a:cs typeface="Calibri" pitchFamily="34" charset="-120"/>
              </a:rPr>
              <a:t>MS prête</a:t>
            </a:r>
            <a:endParaRPr lang="en-US" sz="1350" dirty="0"/>
          </a:p>
        </p:txBody>
      </p:sp>
      <p:sp>
        <p:nvSpPr>
          <p:cNvPr id="38" name="Text 30"/>
          <p:cNvSpPr/>
          <p:nvPr/>
        </p:nvSpPr>
        <p:spPr>
          <a:xfrm>
            <a:off x="9976104" y="3995928"/>
            <a:ext cx="1719072" cy="731520"/>
          </a:xfrm>
          <a:prstGeom prst="rect">
            <a:avLst/>
          </a:prstGeom>
          <a:noFill/>
          <a:ln/>
        </p:spPr>
        <p:txBody>
          <a:bodyPr wrap="square" lIns="0" tIns="0" rIns="0" bIns="0" rtlCol="0" anchor="t"/>
          <a:lstStyle/>
          <a:p>
            <a:pPr algn="ctr" indent="0" marL="0">
              <a:buNone/>
            </a:pPr>
            <a:r>
              <a:rPr lang="en-US" sz="1050" dirty="0">
                <a:solidFill>
                  <a:srgbClr val="5B6473"/>
                </a:solidFill>
                <a:latin typeface="Calibri" pitchFamily="34" charset="0"/>
                <a:ea typeface="Calibri" pitchFamily="34" charset="-122"/>
                <a:cs typeface="Calibri" pitchFamily="34" charset="-120"/>
              </a:rPr>
              <a:t>Sans CVE, prête à déployer</a:t>
            </a:r>
            <a:endParaRPr lang="en-US" sz="1050" dirty="0"/>
          </a:p>
        </p:txBody>
      </p:sp>
      <p:sp>
        <p:nvSpPr>
          <p:cNvPr id="39" name="Text 31"/>
          <p:cNvSpPr/>
          <p:nvPr/>
        </p:nvSpPr>
        <p:spPr>
          <a:xfrm>
            <a:off x="640080" y="5806440"/>
            <a:ext cx="10881360" cy="457200"/>
          </a:xfrm>
          <a:prstGeom prst="rect">
            <a:avLst/>
          </a:prstGeom>
          <a:noFill/>
          <a:ln/>
        </p:spPr>
        <p:txBody>
          <a:bodyPr wrap="square" lIns="0" tIns="0" rIns="0" bIns="0" rtlCol="0" anchor="ctr"/>
          <a:lstStyle/>
          <a:p>
            <a:pPr algn="ctr" indent="0" marL="0">
              <a:buNone/>
            </a:pPr>
            <a:r>
              <a:rPr lang="en-US" sz="1500" b="1" i="1" dirty="0">
                <a:solidFill>
                  <a:srgbClr val="1B2A6B"/>
                </a:solidFill>
                <a:latin typeface="Calibri" pitchFamily="34" charset="0"/>
                <a:ea typeface="Calibri" pitchFamily="34" charset="-122"/>
                <a:cs typeface="Calibri" pitchFamily="34" charset="-120"/>
              </a:rPr>
              <a:t>Zéro intervention manuelle : </a:t>
            </a:r>
            <a:pPr algn="ctr" indent="0" marL="0">
              <a:buNone/>
            </a:pPr>
            <a:r>
              <a:rPr lang="en-US" sz="1500" i="1" dirty="0">
                <a:solidFill>
                  <a:srgbClr val="5B6473"/>
                </a:solidFill>
                <a:latin typeface="Calibri" pitchFamily="34" charset="0"/>
                <a:ea typeface="Calibri" pitchFamily="34" charset="-122"/>
                <a:cs typeface="Calibri" pitchFamily="34" charset="-120"/>
              </a:rPr>
              <a:t>le parent pousse, les tests valident, les MS se releasent seuls.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6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777240"/>
            <a:ext cx="548640" cy="548640"/>
          </a:xfrm>
          <a:prstGeom prst="rect">
            <a:avLst/>
          </a:prstGeom>
        </p:spPr>
      </p:pic>
      <p:sp>
        <p:nvSpPr>
          <p:cNvPr id="3" name="Text 0"/>
          <p:cNvSpPr/>
          <p:nvPr/>
        </p:nvSpPr>
        <p:spPr>
          <a:xfrm>
            <a:off x="1508760" y="731520"/>
            <a:ext cx="100584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Adoption &amp; prochaines étapes</a:t>
            </a:r>
            <a:endParaRPr lang="en-US" sz="3000" dirty="0"/>
          </a:p>
        </p:txBody>
      </p:sp>
      <p:sp>
        <p:nvSpPr>
          <p:cNvPr id="4" name="Shape 1"/>
          <p:cNvSpPr/>
          <p:nvPr/>
        </p:nvSpPr>
        <p:spPr>
          <a:xfrm>
            <a:off x="662940" y="1783080"/>
            <a:ext cx="3429000" cy="2103120"/>
          </a:xfrm>
          <a:prstGeom prst="roundRect">
            <a:avLst>
              <a:gd name="adj" fmla="val 3478"/>
            </a:avLst>
          </a:prstGeom>
          <a:solidFill>
            <a:srgbClr val="13205A"/>
          </a:solidFill>
          <a:ln/>
          <a:effectLst>
            <a:outerShdw sx="100000" sy="100000" kx="0" ky="0" algn="bl" rotWithShape="0" blurRad="88900" dist="25400" dir="5400000">
              <a:srgbClr val="000000">
                <a:alpha val="13000"/>
              </a:srgbClr>
            </a:outerShdw>
          </a:effectLst>
        </p:spPr>
      </p:sp>
      <p:sp>
        <p:nvSpPr>
          <p:cNvPr id="5" name="Text 2"/>
          <p:cNvSpPr/>
          <p:nvPr/>
        </p:nvSpPr>
        <p:spPr>
          <a:xfrm>
            <a:off x="662940" y="1965960"/>
            <a:ext cx="3429000" cy="1005840"/>
          </a:xfrm>
          <a:prstGeom prst="rect">
            <a:avLst/>
          </a:prstGeom>
          <a:noFill/>
          <a:ln/>
        </p:spPr>
        <p:txBody>
          <a:bodyPr wrap="square" lIns="0" tIns="0" rIns="0" bIns="0" rtlCol="0" anchor="ctr"/>
          <a:lstStyle/>
          <a:p>
            <a:pPr algn="ctr" indent="0" marL="0">
              <a:buNone/>
            </a:pPr>
            <a:r>
              <a:rPr lang="en-US" sz="6000" b="1" dirty="0">
                <a:solidFill>
                  <a:srgbClr val="3FA535"/>
                </a:solidFill>
                <a:latin typeface="Calibri" pitchFamily="34" charset="0"/>
                <a:ea typeface="Calibri" pitchFamily="34" charset="-122"/>
                <a:cs typeface="Calibri" pitchFamily="34" charset="-120"/>
              </a:rPr>
              <a:t>1</a:t>
            </a:r>
            <a:endParaRPr lang="en-US" sz="6000" dirty="0"/>
          </a:p>
        </p:txBody>
      </p:sp>
      <p:sp>
        <p:nvSpPr>
          <p:cNvPr id="6" name="Text 3"/>
          <p:cNvSpPr/>
          <p:nvPr/>
        </p:nvSpPr>
        <p:spPr>
          <a:xfrm>
            <a:off x="937260" y="2971800"/>
            <a:ext cx="288036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socle de gouvernance pour build, sécurité, qualité, versions</a:t>
            </a:r>
            <a:endParaRPr lang="en-US" sz="1300" dirty="0"/>
          </a:p>
        </p:txBody>
      </p:sp>
      <p:sp>
        <p:nvSpPr>
          <p:cNvPr id="7" name="Shape 4"/>
          <p:cNvSpPr/>
          <p:nvPr/>
        </p:nvSpPr>
        <p:spPr>
          <a:xfrm>
            <a:off x="4366260" y="1783080"/>
            <a:ext cx="3429000" cy="2103120"/>
          </a:xfrm>
          <a:prstGeom prst="roundRect">
            <a:avLst>
              <a:gd name="adj" fmla="val 3478"/>
            </a:avLst>
          </a:prstGeom>
          <a:solidFill>
            <a:srgbClr val="13205A"/>
          </a:solidFill>
          <a:ln/>
          <a:effectLst>
            <a:outerShdw sx="100000" sy="100000" kx="0" ky="0" algn="bl" rotWithShape="0" blurRad="88900" dist="25400" dir="5400000">
              <a:srgbClr val="000000">
                <a:alpha val="13000"/>
              </a:srgbClr>
            </a:outerShdw>
          </a:effectLst>
        </p:spPr>
      </p:sp>
      <p:sp>
        <p:nvSpPr>
          <p:cNvPr id="8" name="Text 5"/>
          <p:cNvSpPr/>
          <p:nvPr/>
        </p:nvSpPr>
        <p:spPr>
          <a:xfrm>
            <a:off x="4366260" y="1965960"/>
            <a:ext cx="3429000" cy="1005840"/>
          </a:xfrm>
          <a:prstGeom prst="rect">
            <a:avLst/>
          </a:prstGeom>
          <a:noFill/>
          <a:ln/>
        </p:spPr>
        <p:txBody>
          <a:bodyPr wrap="square" lIns="0" tIns="0" rIns="0" bIns="0" rtlCol="0" anchor="ctr"/>
          <a:lstStyle/>
          <a:p>
            <a:pPr algn="ctr" indent="0" marL="0">
              <a:buNone/>
            </a:pPr>
            <a:r>
              <a:rPr lang="en-US" sz="6000" b="1" dirty="0">
                <a:solidFill>
                  <a:srgbClr val="3FA535"/>
                </a:solidFill>
                <a:latin typeface="Calibri" pitchFamily="34" charset="0"/>
                <a:ea typeface="Calibri" pitchFamily="34" charset="-122"/>
                <a:cs typeface="Calibri" pitchFamily="34" charset="-120"/>
              </a:rPr>
              <a:t>N</a:t>
            </a:r>
            <a:endParaRPr lang="en-US" sz="6000" dirty="0"/>
          </a:p>
        </p:txBody>
      </p:sp>
      <p:sp>
        <p:nvSpPr>
          <p:cNvPr id="9" name="Text 6"/>
          <p:cNvSpPr/>
          <p:nvPr/>
        </p:nvSpPr>
        <p:spPr>
          <a:xfrm>
            <a:off x="4640580" y="2971800"/>
            <a:ext cx="288036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microservices migrés vers le parent — extension en cours sur la fleet</a:t>
            </a:r>
            <a:endParaRPr lang="en-US" sz="1300" dirty="0"/>
          </a:p>
        </p:txBody>
      </p:sp>
      <p:sp>
        <p:nvSpPr>
          <p:cNvPr id="10" name="Shape 7"/>
          <p:cNvSpPr/>
          <p:nvPr/>
        </p:nvSpPr>
        <p:spPr>
          <a:xfrm>
            <a:off x="8069580" y="1783080"/>
            <a:ext cx="3429000" cy="2103120"/>
          </a:xfrm>
          <a:prstGeom prst="roundRect">
            <a:avLst>
              <a:gd name="adj" fmla="val 3478"/>
            </a:avLst>
          </a:prstGeom>
          <a:solidFill>
            <a:srgbClr val="13205A"/>
          </a:solidFill>
          <a:ln/>
          <a:effectLst>
            <a:outerShdw sx="100000" sy="100000" kx="0" ky="0" algn="bl" rotWithShape="0" blurRad="88900" dist="25400" dir="5400000">
              <a:srgbClr val="000000">
                <a:alpha val="13000"/>
              </a:srgbClr>
            </a:outerShdw>
          </a:effectLst>
        </p:spPr>
      </p:sp>
      <p:sp>
        <p:nvSpPr>
          <p:cNvPr id="11" name="Text 8"/>
          <p:cNvSpPr/>
          <p:nvPr/>
        </p:nvSpPr>
        <p:spPr>
          <a:xfrm>
            <a:off x="8069580" y="1965960"/>
            <a:ext cx="3429000" cy="1005840"/>
          </a:xfrm>
          <a:prstGeom prst="rect">
            <a:avLst/>
          </a:prstGeom>
          <a:noFill/>
          <a:ln/>
        </p:spPr>
        <p:txBody>
          <a:bodyPr wrap="square" lIns="0" tIns="0" rIns="0" bIns="0" rtlCol="0" anchor="ctr"/>
          <a:lstStyle/>
          <a:p>
            <a:pPr algn="ctr" indent="0" marL="0">
              <a:buNone/>
            </a:pPr>
            <a:r>
              <a:rPr lang="en-US" sz="6000" b="1" dirty="0">
                <a:solidFill>
                  <a:srgbClr val="3FA535"/>
                </a:solidFill>
                <a:latin typeface="Calibri" pitchFamily="34" charset="0"/>
                <a:ea typeface="Calibri" pitchFamily="34" charset="-122"/>
                <a:cs typeface="Calibri" pitchFamily="34" charset="-120"/>
              </a:rPr>
              <a:t>0</a:t>
            </a:r>
            <a:endParaRPr lang="en-US" sz="6000" dirty="0"/>
          </a:p>
        </p:txBody>
      </p:sp>
      <p:sp>
        <p:nvSpPr>
          <p:cNvPr id="12" name="Text 9"/>
          <p:cNvSpPr/>
          <p:nvPr/>
        </p:nvSpPr>
        <p:spPr>
          <a:xfrm>
            <a:off x="8343900" y="2971800"/>
            <a:ext cx="2880360" cy="8229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CVE bannie laissée passer : blocage au build, pas en prod</a:t>
            </a:r>
            <a:endParaRPr lang="en-US" sz="1300" dirty="0"/>
          </a:p>
        </p:txBody>
      </p:sp>
      <p:sp>
        <p:nvSpPr>
          <p:cNvPr id="13" name="Text 10"/>
          <p:cNvSpPr/>
          <p:nvPr/>
        </p:nvSpPr>
        <p:spPr>
          <a:xfrm>
            <a:off x="822960" y="4251960"/>
            <a:ext cx="4572000" cy="365760"/>
          </a:xfrm>
          <a:prstGeom prst="rect">
            <a:avLst/>
          </a:prstGeom>
          <a:noFill/>
          <a:ln/>
        </p:spPr>
        <p:txBody>
          <a:bodyPr wrap="square" lIns="0" tIns="0" rIns="0" bIns="0" rtlCol="0" anchor="ctr"/>
          <a:lstStyle/>
          <a:p>
            <a:pPr indent="0" marL="0">
              <a:buNone/>
            </a:pPr>
            <a:r>
              <a:rPr lang="en-US" sz="1400" b="1" spc="100" kern="0" dirty="0">
                <a:solidFill>
                  <a:srgbClr val="3FA535"/>
                </a:solidFill>
                <a:latin typeface="Calibri" pitchFamily="34" charset="0"/>
                <a:ea typeface="Calibri" pitchFamily="34" charset="-122"/>
                <a:cs typeface="Calibri" pitchFamily="34" charset="-120"/>
              </a:rPr>
              <a:t>Roadmap</a:t>
            </a:r>
            <a:endParaRPr lang="en-US" sz="1400" dirty="0"/>
          </a:p>
        </p:txBody>
      </p:sp>
      <p:sp>
        <p:nvSpPr>
          <p:cNvPr id="14" name="Text 11"/>
          <p:cNvSpPr/>
          <p:nvPr/>
        </p:nvSpPr>
        <p:spPr>
          <a:xfrm>
            <a:off x="822960" y="4663440"/>
            <a:ext cx="10515600" cy="146304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E6ECF7"/>
                </a:solidFill>
                <a:latin typeface="Calibri" pitchFamily="34" charset="0"/>
                <a:ea typeface="Calibri" pitchFamily="34" charset="-122"/>
                <a:cs typeface="Calibri" pitchFamily="34" charset="-120"/>
              </a:rPr>
              <a:t>Étendre l'adoption à l'ensemble des repos GitLab</a:t>
            </a:r>
            <a:endParaRPr lang="en-US" sz="1500" dirty="0"/>
          </a:p>
          <a:p>
            <a:pPr marL="177800" indent="-177800">
              <a:spcAft>
                <a:spcPts val="900"/>
              </a:spcAft>
              <a:buSzPct val="100000"/>
              <a:buChar char="•"/>
            </a:pPr>
            <a:r>
              <a:rPr lang="en-US" sz="1500" dirty="0">
                <a:solidFill>
                  <a:srgbClr val="E6ECF7"/>
                </a:solidFill>
                <a:latin typeface="Calibri" pitchFamily="34" charset="0"/>
                <a:ea typeface="Calibri" pitchFamily="34" charset="-122"/>
                <a:cs typeface="Calibri" pitchFamily="34" charset="-120"/>
              </a:rPr>
              <a:t>Enrichir bannedDependencies au fil des CVE XRAY</a:t>
            </a:r>
            <a:endParaRPr lang="en-US" sz="1500" dirty="0"/>
          </a:p>
          <a:p>
            <a:pPr marL="177800" indent="-177800">
              <a:buSzPct val="100000"/>
              <a:buChar char="•"/>
            </a:pPr>
            <a:r>
              <a:rPr lang="en-US" sz="1500" dirty="0">
                <a:solidFill>
                  <a:srgbClr val="E6ECF7"/>
                </a:solidFill>
                <a:latin typeface="Calibri" pitchFamily="34" charset="0"/>
                <a:ea typeface="Calibri" pitchFamily="34" charset="-122"/>
                <a:cs typeface="Calibri" pitchFamily="34" charset="-120"/>
              </a:rPr>
              <a:t>Aligner le parent sur la migration Spring Boot 4.0 (EOL 3.5.x au 30/06/2026)</a:t>
            </a:r>
            <a:endParaRPr lang="en-US" sz="1500" dirty="0"/>
          </a:p>
        </p:txBody>
      </p:sp>
      <p:sp>
        <p:nvSpPr>
          <p:cNvPr id="15" name="Text 12"/>
          <p:cNvSpPr/>
          <p:nvPr/>
        </p:nvSpPr>
        <p:spPr>
          <a:xfrm>
            <a:off x="822960" y="6355080"/>
            <a:ext cx="5486400" cy="320040"/>
          </a:xfrm>
          <a:prstGeom prst="rect">
            <a:avLst/>
          </a:prstGeom>
          <a:noFill/>
          <a:ln/>
        </p:spPr>
        <p:txBody>
          <a:bodyPr wrap="square" lIns="0" tIns="0" rIns="0" bIns="0" rtlCol="0" anchor="ctr"/>
          <a:lstStyle/>
          <a:p>
            <a:pPr indent="0" marL="0">
              <a:buNone/>
            </a:pPr>
            <a:r>
              <a:rPr lang="en-US" sz="1100" b="1" dirty="0">
                <a:solidFill>
                  <a:srgbClr val="7E93C8"/>
                </a:solidFill>
                <a:latin typeface="Calibri" pitchFamily="34" charset="0"/>
                <a:ea typeface="Calibri" pitchFamily="34" charset="-122"/>
                <a:cs typeface="Calibri" pitchFamily="34" charset="-120"/>
              </a:rPr>
              <a:t>LCL · Banque et Assurance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POM Parent — lcl-parent</dc:title>
  <dc:subject>PptxGenJS Presentation</dc:subject>
  <dc:creator>Ghaith Khiari</dc:creator>
  <cp:lastModifiedBy>Ghaith Khiari</cp:lastModifiedBy>
  <cp:revision>1</cp:revision>
  <dcterms:created xsi:type="dcterms:W3CDTF">2026-06-24T15:03:41Z</dcterms:created>
  <dcterms:modified xsi:type="dcterms:W3CDTF">2026-06-24T15:03:41Z</dcterms:modified>
</cp:coreProperties>
</file>